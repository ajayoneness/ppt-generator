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rgbClr val="006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1A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F1-Score</c:v>
                  </c:pt>
                  <c:pt idx="3">
                    <c:v>Accuracy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85.12</c:v>
                </c:pt>
                <c:pt idx="1">
                  <c:v>86.34</c:v>
                </c:pt>
                <c:pt idx="2">
                  <c:v>85.67</c:v>
                </c:pt>
                <c:pt idx="3">
                  <c:v>86.71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1A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1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A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DB6A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087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SymptIQ — AI Disease Prediction Using Symptoms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2971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Diseases with Confidence Scores and Precautions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440180" y="3493008"/>
            <a:ext cx="1143000" cy="310896"/>
          </a:xfrm>
          <a:prstGeom prst="rect">
            <a:avLst/>
          </a:prstGeom>
          <a:solidFill>
            <a:srgbClr val="00695C">
              <a:alpha val="80000"/>
            </a:srgbClr>
          </a:solidFill>
          <a:ln w="6350">
            <a:solidFill>
              <a:srgbClr val="4DB6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40180" y="3493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20340" y="3493008"/>
            <a:ext cx="1143000" cy="310896"/>
          </a:xfrm>
          <a:prstGeom prst="rect">
            <a:avLst/>
          </a:prstGeom>
          <a:solidFill>
            <a:srgbClr val="00695C">
              <a:alpha val="80000"/>
            </a:srgbClr>
          </a:solidFill>
          <a:ln w="6350">
            <a:solidFill>
              <a:srgbClr val="4DB6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20340" y="3493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000500" y="3493008"/>
            <a:ext cx="1143000" cy="310896"/>
          </a:xfrm>
          <a:prstGeom prst="rect">
            <a:avLst/>
          </a:prstGeom>
          <a:solidFill>
            <a:srgbClr val="00695C">
              <a:alpha val="80000"/>
            </a:srgbClr>
          </a:solidFill>
          <a:ln w="6350">
            <a:solidFill>
              <a:srgbClr val="4DB6A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0500" y="3493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80660" y="3493008"/>
            <a:ext cx="1143000" cy="310896"/>
          </a:xfrm>
          <a:prstGeom prst="rect">
            <a:avLst/>
          </a:prstGeom>
          <a:solidFill>
            <a:srgbClr val="00695C">
              <a:alpha val="80000"/>
            </a:srgbClr>
          </a:solidFill>
          <a:ln w="6350">
            <a:solidFill>
              <a:srgbClr val="4DB6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80660" y="3493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60820" y="3493008"/>
            <a:ext cx="1143000" cy="310896"/>
          </a:xfrm>
          <a:prstGeom prst="rect">
            <a:avLst/>
          </a:prstGeom>
          <a:solidFill>
            <a:srgbClr val="00695C">
              <a:alpha val="80000"/>
            </a:srgbClr>
          </a:solidFill>
          <a:ln w="6350">
            <a:solidFill>
              <a:srgbClr val="4DB6A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60820" y="3493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" y="4023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|  Roll No: [Roll No]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[Guide Name]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  |  [Academic Year]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SymptIQ is an AI-powered disease prediction web application built with Django and scikit-learn. It analyzes symptoms to predict possible diseases with confidence scores and precautions. The system uses a machine learning model trained on 246,945 real-world medical records to return the top probable diseases. SymptIQ serves as a decision-support tool for academic and educational purposes.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0" y="320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0" y="320040"/>
            <a:ext cx="54864" cy="960120"/>
          </a:xfrm>
          <a:prstGeom prst="rect">
            <a:avLst/>
          </a:prstGeom>
          <a:solidFill>
            <a:srgbClr val="4DB6A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502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393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246,945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37960" y="850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1463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463040"/>
            <a:ext cx="54864" cy="960120"/>
          </a:xfrm>
          <a:prstGeom prst="rect">
            <a:avLst/>
          </a:prstGeom>
          <a:solidFill>
            <a:srgbClr val="4DB6A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45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1536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377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37960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Clinical Features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60720" y="2606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60720" y="2606040"/>
            <a:ext cx="54864" cy="960120"/>
          </a:xfrm>
          <a:prstGeom prst="rect">
            <a:avLst/>
          </a:prstGeom>
          <a:solidFill>
            <a:srgbClr val="4DB6A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7889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679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53796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Disease Classes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760720" y="3749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60720" y="3749040"/>
            <a:ext cx="54864" cy="960120"/>
          </a:xfrm>
          <a:prstGeom prst="rect">
            <a:avLst/>
          </a:prstGeom>
          <a:solidFill>
            <a:srgbClr val="4DB6A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9319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3796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86.71%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537960" y="4279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695C">
              <a:alpha val="9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86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3886200" cy="411480"/>
          </a:xfrm>
          <a:prstGeom prst="rect">
            <a:avLst/>
          </a:prstGeom>
          <a:solidFill>
            <a:srgbClr val="0A1A1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520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healthcare professionals in rural areas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burden on healthcare systems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early disease detection and prevention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39776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AI-powered disease prediction system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user-friendly interface for symptom selection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 probable diseases with confidence scores and precautions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8138160" cy="594360"/>
          </a:xfrm>
          <a:prstGeom prst="rect">
            <a:avLst/>
          </a:prstGeom>
          <a:solidFill>
            <a:srgbClr val="4DB6AC">
              <a:alpha val="15000"/>
            </a:srgbClr>
          </a:solidFill>
          <a:ln w="6350">
            <a:solidFill>
              <a:srgbClr val="4DB6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The scope of this project is to design and develop a full-stack AI-powered disease prediction web application.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695C">
              <a:alpha val="9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3886200" cy="4572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78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Esteva et al. (2019)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to deep learning in healthcare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can be used for disease diagnosis.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984248"/>
            <a:ext cx="3566160" cy="274320"/>
          </a:xfrm>
          <a:prstGeom prst="rect">
            <a:avLst/>
          </a:prstGeom>
          <a:solidFill>
            <a:srgbClr val="FF7043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84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Limited interpretability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3886200" cy="4572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78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Rajpurkar et al. (2020)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207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 in healthcare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improve healthcare outcomes.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1984248"/>
            <a:ext cx="3566160" cy="274320"/>
          </a:xfrm>
          <a:prstGeom prst="rect">
            <a:avLst/>
          </a:prstGeom>
          <a:solidFill>
            <a:srgbClr val="FF7043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984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Need for more research on AI in healthcare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560320"/>
            <a:ext cx="3886200" cy="4572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Krittanawong et al. (2018)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2898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AI in healthcare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help with disease diagnosis and treatment.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3675888"/>
            <a:ext cx="3566160" cy="274320"/>
          </a:xfrm>
          <a:prstGeom prst="rect">
            <a:avLst/>
          </a:prstGeom>
          <a:solidFill>
            <a:srgbClr val="FF7043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Limited data on AI in healthcare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56032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560320"/>
            <a:ext cx="3886200" cy="4572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Soares et al. (2019)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2898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healthcare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be used for disease prediction.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675888"/>
            <a:ext cx="3566160" cy="274320"/>
          </a:xfrm>
          <a:prstGeom prst="rect">
            <a:avLst/>
          </a:prstGeom>
          <a:solidFill>
            <a:srgbClr val="FF7043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Need for more research on machine learning in healthcare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343400"/>
            <a:ext cx="8138160" cy="502920"/>
          </a:xfrm>
          <a:prstGeom prst="rect">
            <a:avLst/>
          </a:prstGeom>
          <a:solidFill>
            <a:srgbClr val="0A1A18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343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There is a need for a full-stack AI-powered disease prediction web application that provides a user-friendly interface and returns top probable diseases with confidence scores and precautions.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SymptIQ — AI-Powered Disease Prediction Web 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3108960"/>
          </a:xfrm>
          <a:prstGeom prst="rect">
            <a:avLst/>
          </a:prstGeom>
          <a:solidFill>
            <a:srgbClr val="0A1A18"/>
          </a:solidFill>
          <a:ln w="3810">
            <a:solidFill>
              <a:srgbClr val="4A7A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645920"/>
            <a:ext cx="731520" cy="73152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83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B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Symptom Checker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user-friendly interface for symptom selection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417320"/>
            <a:ext cx="1920240" cy="3108960"/>
          </a:xfrm>
          <a:prstGeom prst="rect">
            <a:avLst/>
          </a:prstGeom>
          <a:solidFill>
            <a:srgbClr val="0A1A18"/>
          </a:solidFill>
          <a:ln w="3810">
            <a:solidFill>
              <a:srgbClr val="4A7A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645920"/>
            <a:ext cx="731520" cy="73152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830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B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Disease Prediction Engine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69748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model trained on 246,945 real-world medical records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1417320"/>
            <a:ext cx="1920240" cy="3108960"/>
          </a:xfrm>
          <a:prstGeom prst="rect">
            <a:avLst/>
          </a:prstGeom>
          <a:solidFill>
            <a:srgbClr val="0A1A18"/>
          </a:solidFill>
          <a:ln w="3810">
            <a:solidFill>
              <a:srgbClr val="4A7A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49240" y="1645920"/>
            <a:ext cx="731520" cy="73152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830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B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Data Visualisations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84632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insights page with interactive charts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903720" y="1417320"/>
            <a:ext cx="1920240" cy="3108960"/>
          </a:xfrm>
          <a:prstGeom prst="rect">
            <a:avLst/>
          </a:prstGeom>
          <a:solidFill>
            <a:srgbClr val="0A1A18"/>
          </a:solidFill>
          <a:ln w="3810">
            <a:solidFill>
              <a:srgbClr val="4A7A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0" y="1645920"/>
            <a:ext cx="731520" cy="73152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7830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DB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for Programmatic Access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99516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JSON REST API endpoints for disease prediction and symptom search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404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3840480" cy="365760"/>
          </a:xfrm>
          <a:prstGeom prst="rect">
            <a:avLst/>
          </a:prstGeom>
          <a:solidFill>
            <a:srgbClr val="0A1A1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Requirements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processor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GB SSD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Requirements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1.3+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83280"/>
            <a:ext cx="45720" cy="59436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Django 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70048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70048" y="3383280"/>
            <a:ext cx="45720" cy="59436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2807208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 1.3+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07208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Library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91456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91456" y="3383280"/>
            <a:ext cx="45720" cy="59436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23" name="Text 21"/>
          <p:cNvSpPr/>
          <p:nvPr/>
        </p:nvSpPr>
        <p:spPr>
          <a:xfrm>
            <a:off x="4928616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28616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12864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12864" y="3383280"/>
            <a:ext cx="45720" cy="59436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7050024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Chart.js 4.4.0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50024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Library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114800"/>
            <a:ext cx="45720" cy="59436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84248" y="1051560"/>
            <a:ext cx="1143000" cy="1463040"/>
          </a:xfrm>
          <a:prstGeom prst="rect">
            <a:avLst/>
          </a:prstGeom>
          <a:solidFill>
            <a:srgbClr val="4DB6A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868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29968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411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54680" y="1746504"/>
            <a:ext cx="146304" cy="73152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8" name="Shape 5"/>
          <p:cNvSpPr/>
          <p:nvPr/>
        </p:nvSpPr>
        <p:spPr>
          <a:xfrm>
            <a:off x="3328416" y="1051560"/>
            <a:ext cx="1143000" cy="1463040"/>
          </a:xfrm>
          <a:prstGeom prst="rect">
            <a:avLst/>
          </a:prstGeom>
          <a:solidFill>
            <a:srgbClr val="5D40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74136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498848" y="1746504"/>
            <a:ext cx="146304" cy="73152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2" name="Shape 8"/>
          <p:cNvSpPr/>
          <p:nvPr/>
        </p:nvSpPr>
        <p:spPr>
          <a:xfrm>
            <a:off x="4672584" y="1051560"/>
            <a:ext cx="1143000" cy="146304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2344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18304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Layer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843016" y="1746504"/>
            <a:ext cx="146304" cy="73152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6" name="Shape 11"/>
          <p:cNvSpPr/>
          <p:nvPr/>
        </p:nvSpPr>
        <p:spPr>
          <a:xfrm>
            <a:off x="6016752" y="1051560"/>
            <a:ext cx="1143000" cy="1463040"/>
          </a:xfrm>
          <a:prstGeom prst="rect">
            <a:avLst/>
          </a:prstGeom>
          <a:solidFill>
            <a:srgbClr val="0A1A1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72" y="1234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62472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4864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8640" y="2880360"/>
            <a:ext cx="2606040" cy="457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1" name="Text 15"/>
          <p:cNvSpPr/>
          <p:nvPr/>
        </p:nvSpPr>
        <p:spPr>
          <a:xfrm>
            <a:off x="65836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Engine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5836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246,945 real-world medical records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38328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83280" y="2880360"/>
            <a:ext cx="2606040" cy="457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5" name="Text 19"/>
          <p:cNvSpPr/>
          <p:nvPr/>
        </p:nvSpPr>
        <p:spPr>
          <a:xfrm>
            <a:off x="349300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Insights Page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49300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for disease distribution and symptom frequency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21792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217920" y="2880360"/>
            <a:ext cx="2606040" cy="457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9" name="Text 23"/>
          <p:cNvSpPr/>
          <p:nvPr/>
        </p:nvSpPr>
        <p:spPr>
          <a:xfrm>
            <a:off x="632764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32764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JSON REST API endpoints for disease prediction and symptom search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51560"/>
            <a:ext cx="502920" cy="50292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 Checker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user-friendly interface for symptom selection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051560"/>
            <a:ext cx="502920" cy="50292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Prediction Engine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model trained on 246,945 real-world medical records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051560"/>
            <a:ext cx="502920" cy="50292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Insights Page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6364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with interactive charts for disease distribution and symptom frequency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017520"/>
            <a:ext cx="502920" cy="50292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089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9436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JSON REST API endpoints for disease prediction and symptom search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Technology &amp;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138160" cy="685800"/>
          </a:xfrm>
          <a:prstGeom prst="rect">
            <a:avLst/>
          </a:prstGeom>
          <a:solidFill>
            <a:srgbClr val="0A1A1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326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Dataset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170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246,945 patient records with 377 binary symptom columns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26060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DB6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37360"/>
            <a:ext cx="260604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Bayes  ★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86.58%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" y="3108960"/>
            <a:ext cx="2331720" cy="274320"/>
          </a:xfrm>
          <a:prstGeom prst="rect">
            <a:avLst/>
          </a:prstGeom>
          <a:solidFill>
            <a:srgbClr val="4DB6AC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None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and interpretability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83280" y="173736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3280" y="1737360"/>
            <a:ext cx="2606040" cy="45720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2044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86.71%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52044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520440" y="3108960"/>
            <a:ext cx="2331720" cy="274320"/>
          </a:xfrm>
          <a:prstGeom prst="rect">
            <a:avLst/>
          </a:prstGeom>
          <a:solidFill>
            <a:srgbClr val="4DB6AC">
              <a:alpha val="1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61188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None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52044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and efficiency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17920" y="173736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1737360"/>
            <a:ext cx="2606040" cy="45720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26" name="Text 23"/>
          <p:cNvSpPr/>
          <p:nvPr/>
        </p:nvSpPr>
        <p:spPr>
          <a:xfrm>
            <a:off x="630936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5508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53.93%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635508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355080" y="3108960"/>
            <a:ext cx="2331720" cy="274320"/>
          </a:xfrm>
          <a:prstGeom prst="rect">
            <a:avLst/>
          </a:prstGeom>
          <a:solidFill>
            <a:srgbClr val="4DB6AC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44652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None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35508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and recall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Screenshots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14400"/>
            <a:ext cx="3886200" cy="1508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914400"/>
            <a:ext cx="3886200" cy="1508760"/>
          </a:xfrm>
          <a:prstGeom prst="rect">
            <a:avLst/>
          </a:prstGeom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2103120"/>
            <a:ext cx="3886200" cy="320040"/>
          </a:xfrm>
          <a:prstGeom prst="rect">
            <a:avLst/>
          </a:prstGeom>
          <a:solidFill>
            <a:srgbClr val="0A1A18">
              <a:alpha val="7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103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selection interface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914400"/>
            <a:ext cx="3886200" cy="1508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09160" y="914400"/>
            <a:ext cx="3886200" cy="1508760"/>
          </a:xfrm>
          <a:prstGeom prst="rect">
            <a:avLst/>
          </a:prstGeom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09160" y="2103120"/>
            <a:ext cx="3886200" cy="320040"/>
          </a:xfrm>
          <a:prstGeom prst="rect">
            <a:avLst/>
          </a:prstGeom>
          <a:solidFill>
            <a:srgbClr val="0A1A18">
              <a:alpha val="7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4800600" y="2103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results page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2880360"/>
            <a:ext cx="3886200" cy="15087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2880360"/>
            <a:ext cx="3886200" cy="1508760"/>
          </a:xfrm>
          <a:prstGeom prst="rect">
            <a:avLst/>
          </a:prstGeom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48640" y="4069080"/>
            <a:ext cx="3886200" cy="320040"/>
          </a:xfrm>
          <a:prstGeom prst="rect">
            <a:avLst/>
          </a:prstGeom>
          <a:solidFill>
            <a:srgbClr val="0A1A18">
              <a:alpha val="75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4069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 page with interactive charts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09160" y="2880360"/>
            <a:ext cx="3886200" cy="15087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9160" y="2880360"/>
            <a:ext cx="3886200" cy="1508760"/>
          </a:xfrm>
          <a:prstGeom prst="rect">
            <a:avLst/>
          </a:prstGeom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09160" y="4069080"/>
            <a:ext cx="3886200" cy="320040"/>
          </a:xfrm>
          <a:prstGeom prst="rect">
            <a:avLst/>
          </a:prstGeom>
          <a:solidFill>
            <a:srgbClr val="0A1A18">
              <a:alpha val="75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4800600" y="4069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1920240" cy="36576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individual components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868680"/>
            <a:ext cx="1920240" cy="36576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integrated components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1920240" cy="36576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Testing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entire system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92608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1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disease prediction with valid symptoms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probable diseases with confidence scores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disease prediction with invalid symptoms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message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data insights 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charts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Performance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686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868680"/>
            <a:ext cx="54864" cy="56692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85.12%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269480" y="914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1581912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581912"/>
            <a:ext cx="54864" cy="566928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627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0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86.34%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69480" y="1627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2295144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295144"/>
            <a:ext cx="54864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85.67%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69480" y="23408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3008376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3008376"/>
            <a:ext cx="54864" cy="566928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30540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B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86.71%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69480" y="30540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4DB6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achieved high accuracy and efficiency in disease prediction.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3291840"/>
          </a:xfrm>
          <a:prstGeom prst="rect">
            <a:avLst/>
          </a:prstGeom>
          <a:solidFill>
            <a:srgbClr val="0A1A18"/>
          </a:solidFill>
          <a:ln w="3810">
            <a:solidFill>
              <a:srgbClr val="4A7A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006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07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Achievements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554480"/>
            <a:ext cx="3474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full-stack AI-powered disease prediction web application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high accuracy and efficiency in disease prediction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a user-friendly interface for symptom selection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interactive data visualizations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0A1A18"/>
          </a:solidFill>
          <a:ln w="3810">
            <a:solidFill>
              <a:srgbClr val="4A7A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6070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55448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electronic health records (EHRs) systems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predict more diseases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user interface and user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8F0"/>
          </a:solidFill>
          <a:ln w="381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Esteva et al. (2019). A guide to deep learning in healthcare. Nature Medicine, 25(1), 24-29.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B2DF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35608"/>
            <a:ext cx="45720" cy="475488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3560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Rajpurkar et al. (2020). The future of AI in healthcare. Journal of Healthcare Engineering, 2020, 1-13.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475488"/>
          </a:xfrm>
          <a:prstGeom prst="rect">
            <a:avLst/>
          </a:prstGeom>
          <a:solidFill>
            <a:srgbClr val="FFF8F0"/>
          </a:solidFill>
          <a:ln w="3810">
            <a:solidFill>
              <a:srgbClr val="B2DF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02536"/>
            <a:ext cx="45720" cy="475488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0253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Krittanawong et al. (2018). The role of AI in healthcare. Journal of Medical Systems, 42(10), 193.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B2DF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69464"/>
            <a:ext cx="45720" cy="475488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6946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Soares et al. (2019). Machine learning for healthcare. Journal of Healthcare Informatics, 19(2), 1-15.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DB6A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SymptIQ — AI Disease Prediction Using Symptoms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hope that SymptIQ will contribute to the development of AI-powered disease prediction systems.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3977640"/>
            <a:ext cx="2743200" cy="27432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SymptIQ — AI Disease Prediction Using Symptoms</dc:title>
  <dc:subject>PptxGenJS Presentation</dc:subject>
  <dc:creator>AI PPT Generator</dc:creator>
  <cp:lastModifiedBy>AI PPT Generator</cp:lastModifiedBy>
  <cp:revision>1</cp:revision>
  <dcterms:created xsi:type="dcterms:W3CDTF">2026-03-30T00:49:49Z</dcterms:created>
  <dcterms:modified xsi:type="dcterms:W3CDTF">2026-03-30T00:49:49Z</dcterms:modified>
</cp:coreProperties>
</file>