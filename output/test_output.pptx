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Performance</c:v>
                </c:pt>
              </c:strCache>
            </c:strRef>
          </c:tx>
          <c:spPr>
            <a:solidFill>
              <a:srgbClr val="6A1B9A"/>
            </a:solidFill>
            <a:effectLst/>
          </c:spPr>
          <c:invertIfNegative val="0"/>
          <c:dLbls>
            <c:numFmt formatCode="#,##0" sourceLinked="0"/>
            <c:txPr>
              <a:bodyPr/>
              <a:lstStyle/>
              <a:p>
                <a:pPr>
                  <a:defRPr b="0" i="0" strike="noStrike" sz="1000" u="none">
                    <a:solidFill>
                      <a:srgbClr val="1A0A2E"/>
                    </a:solidFill>
                    <a:latin typeface="Arial"/>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F1-Score</c:v>
                  </c:pt>
                  <c:pt idx="3">
                    <c:v>Speed</c:v>
                  </c:pt>
                </c:lvl>
              </c:multiLvlStrCache>
            </c:multiLvlStrRef>
          </c:cat>
          <c:val>
            <c:numRef>
              <c:f>Sheet1!$B$2:$B$5</c:f>
              <c:numCache>
                <c:formatCode>General</c:formatCode>
                <c:ptCount val="4"/>
                <c:pt idx="0">
                  <c:v>95</c:v>
                </c:pt>
                <c:pt idx="1">
                  <c:v>90</c:v>
                </c:pt>
                <c:pt idx="2">
                  <c:v>92</c:v>
                </c:pt>
                <c:pt idx="3">
                  <c:v>10</c:v>
                </c:pt>
              </c:numCache>
            </c:numRef>
          </c:val>
        </c:ser>
        <c:dLbls>
          <c:numFmt formatCode="#,##0" sourceLinked="0"/>
          <c:txPr>
            <a:bodyPr/>
            <a:lstStyle/>
            <a:p>
              <a:pPr>
                <a:defRPr b="0" i="0" strike="noStrike" sz="1000" u="none">
                  <a:solidFill>
                    <a:srgbClr val="1A0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0A2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D5C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E6EA6"/>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616"/>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E93D8"/>
          </a:solidFill>
          <a:ln/>
        </p:spPr>
      </p:sp>
      <p:sp>
        <p:nvSpPr>
          <p:cNvPr id="3" name="Shape 1"/>
          <p:cNvSpPr/>
          <p:nvPr/>
        </p:nvSpPr>
        <p:spPr>
          <a:xfrm>
            <a:off x="0" y="5088636"/>
            <a:ext cx="9144000" cy="54864"/>
          </a:xfrm>
          <a:prstGeom prst="rect">
            <a:avLst/>
          </a:prstGeom>
          <a:solidFill>
            <a:srgbClr val="CE93D8"/>
          </a:solidFill>
          <a:ln/>
        </p:spPr>
      </p:sp>
      <p:pic>
        <p:nvPicPr>
          <p:cNvPr id="4" name="Image 0" descr="preencoded.png">    </p:cNvPr>
          <p:cNvPicPr>
            <a:picLocks noChangeAspect="1"/>
          </p:cNvPicPr>
          <p:nvPr/>
        </p:nvPicPr>
        <p:blipFill>
          <a:blip r:embed="rId1"/>
          <a:stretch>
            <a:fillRect/>
          </a:stretch>
        </p:blipFill>
        <p:spPr>
          <a:xfrm>
            <a:off x="4114800" y="502920"/>
            <a:ext cx="914400" cy="914400"/>
          </a:xfrm>
          <a:prstGeom prst="rect">
            <a:avLst/>
          </a:prstGeom>
        </p:spPr>
      </p:pic>
      <p:sp>
        <p:nvSpPr>
          <p:cNvPr id="5" name="Text 2"/>
          <p:cNvSpPr/>
          <p:nvPr/>
        </p:nvSpPr>
        <p:spPr>
          <a:xfrm>
            <a:off x="731520" y="1508760"/>
            <a:ext cx="7680960" cy="1371600"/>
          </a:xfrm>
          <a:prstGeom prst="rect">
            <a:avLst/>
          </a:prstGeom>
          <a:noFill/>
          <a:ln/>
        </p:spPr>
        <p:txBody>
          <a:bodyPr wrap="square" lIns="0" tIns="0" rIns="0" bIns="0" rtlCol="0" anchor="ctr"/>
          <a:lstStyle/>
          <a:p>
            <a:pPr algn="ctr" indent="0" marL="0">
              <a:lnSpc>
                <a:spcPct val="115000"/>
              </a:lnSpc>
              <a:buNone/>
            </a:pPr>
            <a:r>
              <a:rPr lang="en-US" sz="3000" b="1" dirty="0">
                <a:solidFill>
                  <a:srgbClr val="FFFFFF"/>
                </a:solidFill>
                <a:latin typeface="Trebuchet MS" pitchFamily="34" charset="0"/>
                <a:ea typeface="Trebuchet MS" pitchFamily="34" charset="-122"/>
                <a:cs typeface="Trebuchet MS" pitchFamily="34" charset="-120"/>
              </a:rPr>
              <a:t>AI Resume Screener Using NLP</a:t>
            </a:r>
            <a:endParaRPr lang="en-US" sz="3000" dirty="0"/>
          </a:p>
        </p:txBody>
      </p:sp>
      <p:sp>
        <p:nvSpPr>
          <p:cNvPr id="6" name="Text 3"/>
          <p:cNvSpPr/>
          <p:nvPr/>
        </p:nvSpPr>
        <p:spPr>
          <a:xfrm>
            <a:off x="1097280" y="2971800"/>
            <a:ext cx="6949440" cy="411480"/>
          </a:xfrm>
          <a:prstGeom prst="rect">
            <a:avLst/>
          </a:prstGeom>
          <a:noFill/>
          <a:ln/>
        </p:spPr>
        <p:txBody>
          <a:bodyPr wrap="square" lIns="0" tIns="0" rIns="0" bIns="0" rtlCol="0" anchor="ctr"/>
          <a:lstStyle/>
          <a:p>
            <a:pPr algn="ctr" indent="0" marL="0">
              <a:buNone/>
            </a:pPr>
            <a:r>
              <a:rPr lang="en-US" sz="1250" i="1" dirty="0">
                <a:solidFill>
                  <a:srgbClr val="CE93D8"/>
                </a:solidFill>
                <a:latin typeface="Calibri" pitchFamily="34" charset="0"/>
                <a:ea typeface="Calibri" pitchFamily="34" charset="-122"/>
                <a:cs typeface="Calibri" pitchFamily="34" charset="-120"/>
              </a:rPr>
              <a:t>Revolutionizing Hiring with AI-Powered Resume Analysis</a:t>
            </a:r>
            <a:endParaRPr lang="en-US" sz="1250" dirty="0"/>
          </a:p>
        </p:txBody>
      </p:sp>
      <p:sp>
        <p:nvSpPr>
          <p:cNvPr id="7" name="Shape 4"/>
          <p:cNvSpPr/>
          <p:nvPr/>
        </p:nvSpPr>
        <p:spPr>
          <a:xfrm>
            <a:off x="1440180" y="3493008"/>
            <a:ext cx="1143000" cy="310896"/>
          </a:xfrm>
          <a:prstGeom prst="rect">
            <a:avLst/>
          </a:prstGeom>
          <a:solidFill>
            <a:srgbClr val="6A1B9A">
              <a:alpha val="80000"/>
            </a:srgbClr>
          </a:solidFill>
          <a:ln w="6350">
            <a:solidFill>
              <a:srgbClr val="CE93D8"/>
            </a:solidFill>
            <a:prstDash val="solid"/>
          </a:ln>
        </p:spPr>
      </p:sp>
      <p:sp>
        <p:nvSpPr>
          <p:cNvPr id="8" name="Text 5"/>
          <p:cNvSpPr/>
          <p:nvPr/>
        </p:nvSpPr>
        <p:spPr>
          <a:xfrm>
            <a:off x="1440180" y="3493008"/>
            <a:ext cx="1143000" cy="310896"/>
          </a:xfrm>
          <a:prstGeom prst="rect">
            <a:avLst/>
          </a:prstGeom>
          <a:noFill/>
          <a:ln/>
        </p:spPr>
        <p:txBody>
          <a:bodyPr wrap="square" lIns="0" tIns="0" rIns="0" bIns="0" rtlCol="0" anchor="ctr"/>
          <a:lstStyle/>
          <a:p>
            <a:pPr algn="ctr" indent="0" marL="0">
              <a:buNone/>
            </a:pPr>
            <a:r>
              <a:rPr lang="en-US" sz="1000" b="1" dirty="0">
                <a:solidFill>
                  <a:srgbClr val="CE93D8"/>
                </a:solidFill>
                <a:latin typeface="Calibri" pitchFamily="34" charset="0"/>
                <a:ea typeface="Calibri" pitchFamily="34" charset="-122"/>
                <a:cs typeface="Calibri" pitchFamily="34" charset="-120"/>
              </a:rPr>
              <a:t>Python</a:t>
            </a:r>
            <a:endParaRPr lang="en-US" sz="1000" dirty="0"/>
          </a:p>
        </p:txBody>
      </p:sp>
      <p:sp>
        <p:nvSpPr>
          <p:cNvPr id="9" name="Shape 6"/>
          <p:cNvSpPr/>
          <p:nvPr/>
        </p:nvSpPr>
        <p:spPr>
          <a:xfrm>
            <a:off x="2720340" y="3493008"/>
            <a:ext cx="1143000" cy="310896"/>
          </a:xfrm>
          <a:prstGeom prst="rect">
            <a:avLst/>
          </a:prstGeom>
          <a:solidFill>
            <a:srgbClr val="6A1B9A">
              <a:alpha val="80000"/>
            </a:srgbClr>
          </a:solidFill>
          <a:ln w="6350">
            <a:solidFill>
              <a:srgbClr val="CE93D8"/>
            </a:solidFill>
            <a:prstDash val="solid"/>
          </a:ln>
        </p:spPr>
      </p:sp>
      <p:sp>
        <p:nvSpPr>
          <p:cNvPr id="10" name="Text 7"/>
          <p:cNvSpPr/>
          <p:nvPr/>
        </p:nvSpPr>
        <p:spPr>
          <a:xfrm>
            <a:off x="2720340" y="3493008"/>
            <a:ext cx="1143000" cy="310896"/>
          </a:xfrm>
          <a:prstGeom prst="rect">
            <a:avLst/>
          </a:prstGeom>
          <a:noFill/>
          <a:ln/>
        </p:spPr>
        <p:txBody>
          <a:bodyPr wrap="square" lIns="0" tIns="0" rIns="0" bIns="0" rtlCol="0" anchor="ctr"/>
          <a:lstStyle/>
          <a:p>
            <a:pPr algn="ctr" indent="0" marL="0">
              <a:buNone/>
            </a:pPr>
            <a:r>
              <a:rPr lang="en-US" sz="1000" b="1" dirty="0">
                <a:solidFill>
                  <a:srgbClr val="CE93D8"/>
                </a:solidFill>
                <a:latin typeface="Calibri" pitchFamily="34" charset="0"/>
                <a:ea typeface="Calibri" pitchFamily="34" charset="-122"/>
                <a:cs typeface="Calibri" pitchFamily="34" charset="-120"/>
              </a:rPr>
              <a:t>Flask</a:t>
            </a:r>
            <a:endParaRPr lang="en-US" sz="1000" dirty="0"/>
          </a:p>
        </p:txBody>
      </p:sp>
      <p:sp>
        <p:nvSpPr>
          <p:cNvPr id="11" name="Shape 8"/>
          <p:cNvSpPr/>
          <p:nvPr/>
        </p:nvSpPr>
        <p:spPr>
          <a:xfrm>
            <a:off x="4000500" y="3493008"/>
            <a:ext cx="1143000" cy="310896"/>
          </a:xfrm>
          <a:prstGeom prst="rect">
            <a:avLst/>
          </a:prstGeom>
          <a:solidFill>
            <a:srgbClr val="6A1B9A">
              <a:alpha val="80000"/>
            </a:srgbClr>
          </a:solidFill>
          <a:ln w="6350">
            <a:solidFill>
              <a:srgbClr val="CE93D8"/>
            </a:solidFill>
            <a:prstDash val="solid"/>
          </a:ln>
        </p:spPr>
      </p:sp>
      <p:sp>
        <p:nvSpPr>
          <p:cNvPr id="12" name="Text 9"/>
          <p:cNvSpPr/>
          <p:nvPr/>
        </p:nvSpPr>
        <p:spPr>
          <a:xfrm>
            <a:off x="4000500" y="3493008"/>
            <a:ext cx="1143000" cy="310896"/>
          </a:xfrm>
          <a:prstGeom prst="rect">
            <a:avLst/>
          </a:prstGeom>
          <a:noFill/>
          <a:ln/>
        </p:spPr>
        <p:txBody>
          <a:bodyPr wrap="square" lIns="0" tIns="0" rIns="0" bIns="0" rtlCol="0" anchor="ctr"/>
          <a:lstStyle/>
          <a:p>
            <a:pPr algn="ctr" indent="0" marL="0">
              <a:buNone/>
            </a:pPr>
            <a:r>
              <a:rPr lang="en-US" sz="1000" b="1" dirty="0">
                <a:solidFill>
                  <a:srgbClr val="CE93D8"/>
                </a:solidFill>
                <a:latin typeface="Calibri" pitchFamily="34" charset="0"/>
                <a:ea typeface="Calibri" pitchFamily="34" charset="-122"/>
                <a:cs typeface="Calibri" pitchFamily="34" charset="-120"/>
              </a:rPr>
              <a:t>spaCy</a:t>
            </a:r>
            <a:endParaRPr lang="en-US" sz="1000" dirty="0"/>
          </a:p>
        </p:txBody>
      </p:sp>
      <p:sp>
        <p:nvSpPr>
          <p:cNvPr id="13" name="Shape 10"/>
          <p:cNvSpPr/>
          <p:nvPr/>
        </p:nvSpPr>
        <p:spPr>
          <a:xfrm>
            <a:off x="5280660" y="3493008"/>
            <a:ext cx="1143000" cy="310896"/>
          </a:xfrm>
          <a:prstGeom prst="rect">
            <a:avLst/>
          </a:prstGeom>
          <a:solidFill>
            <a:srgbClr val="6A1B9A">
              <a:alpha val="80000"/>
            </a:srgbClr>
          </a:solidFill>
          <a:ln w="6350">
            <a:solidFill>
              <a:srgbClr val="CE93D8"/>
            </a:solidFill>
            <a:prstDash val="solid"/>
          </a:ln>
        </p:spPr>
      </p:sp>
      <p:sp>
        <p:nvSpPr>
          <p:cNvPr id="14" name="Text 11"/>
          <p:cNvSpPr/>
          <p:nvPr/>
        </p:nvSpPr>
        <p:spPr>
          <a:xfrm>
            <a:off x="5280660" y="3493008"/>
            <a:ext cx="1143000" cy="310896"/>
          </a:xfrm>
          <a:prstGeom prst="rect">
            <a:avLst/>
          </a:prstGeom>
          <a:noFill/>
          <a:ln/>
        </p:spPr>
        <p:txBody>
          <a:bodyPr wrap="square" lIns="0" tIns="0" rIns="0" bIns="0" rtlCol="0" anchor="ctr"/>
          <a:lstStyle/>
          <a:p>
            <a:pPr algn="ctr" indent="0" marL="0">
              <a:buNone/>
            </a:pPr>
            <a:r>
              <a:rPr lang="en-US" sz="1000" b="1" dirty="0">
                <a:solidFill>
                  <a:srgbClr val="CE93D8"/>
                </a:solidFill>
                <a:latin typeface="Calibri" pitchFamily="34" charset="0"/>
                <a:ea typeface="Calibri" pitchFamily="34" charset="-122"/>
                <a:cs typeface="Calibri" pitchFamily="34" charset="-120"/>
              </a:rPr>
              <a:t>React</a:t>
            </a:r>
            <a:endParaRPr lang="en-US" sz="1000" dirty="0"/>
          </a:p>
        </p:txBody>
      </p:sp>
      <p:sp>
        <p:nvSpPr>
          <p:cNvPr id="15" name="Shape 12"/>
          <p:cNvSpPr/>
          <p:nvPr/>
        </p:nvSpPr>
        <p:spPr>
          <a:xfrm>
            <a:off x="6560820" y="3493008"/>
            <a:ext cx="1143000" cy="310896"/>
          </a:xfrm>
          <a:prstGeom prst="rect">
            <a:avLst/>
          </a:prstGeom>
          <a:solidFill>
            <a:srgbClr val="6A1B9A">
              <a:alpha val="80000"/>
            </a:srgbClr>
          </a:solidFill>
          <a:ln w="6350">
            <a:solidFill>
              <a:srgbClr val="CE93D8"/>
            </a:solidFill>
            <a:prstDash val="solid"/>
          </a:ln>
        </p:spPr>
      </p:sp>
      <p:sp>
        <p:nvSpPr>
          <p:cNvPr id="16" name="Text 13"/>
          <p:cNvSpPr/>
          <p:nvPr/>
        </p:nvSpPr>
        <p:spPr>
          <a:xfrm>
            <a:off x="6560820" y="3493008"/>
            <a:ext cx="1143000" cy="310896"/>
          </a:xfrm>
          <a:prstGeom prst="rect">
            <a:avLst/>
          </a:prstGeom>
          <a:noFill/>
          <a:ln/>
        </p:spPr>
        <p:txBody>
          <a:bodyPr wrap="square" lIns="0" tIns="0" rIns="0" bIns="0" rtlCol="0" anchor="ctr"/>
          <a:lstStyle/>
          <a:p>
            <a:pPr algn="ctr" indent="0" marL="0">
              <a:buNone/>
            </a:pPr>
            <a:r>
              <a:rPr lang="en-US" sz="1000" b="1" dirty="0">
                <a:solidFill>
                  <a:srgbClr val="CE93D8"/>
                </a:solidFill>
                <a:latin typeface="Calibri" pitchFamily="34" charset="0"/>
                <a:ea typeface="Calibri" pitchFamily="34" charset="-122"/>
                <a:cs typeface="Calibri" pitchFamily="34" charset="-120"/>
              </a:rPr>
              <a:t>MongoDB</a:t>
            </a:r>
            <a:endParaRPr lang="en-US" sz="1000" dirty="0"/>
          </a:p>
        </p:txBody>
      </p:sp>
      <p:sp>
        <p:nvSpPr>
          <p:cNvPr id="17" name="Text 14"/>
          <p:cNvSpPr/>
          <p:nvPr/>
        </p:nvSpPr>
        <p:spPr>
          <a:xfrm>
            <a:off x="914400" y="4023360"/>
            <a:ext cx="7315200" cy="777240"/>
          </a:xfrm>
          <a:prstGeom prst="rect">
            <a:avLst/>
          </a:prstGeom>
          <a:noFill/>
          <a:ln/>
        </p:spPr>
        <p:txBody>
          <a:bodyPr wrap="square" lIns="0" tIns="0" rIns="0" bIns="0" rtlCol="0" anchor="ctr"/>
          <a:lstStyle/>
          <a:p>
            <a:pPr algn="ctr" indent="0" marL="0">
              <a:lnSpc>
                <a:spcPct val="135000"/>
              </a:lnSpc>
              <a:buNone/>
            </a:pPr>
            <a:r>
              <a:rPr lang="en-US" sz="1050" dirty="0">
                <a:solidFill>
                  <a:srgbClr val="B8A090"/>
                </a:solidFill>
                <a:latin typeface="Calibri" pitchFamily="34" charset="0"/>
                <a:ea typeface="Calibri" pitchFamily="34" charset="-122"/>
                <a:cs typeface="Calibri" pitchFamily="34" charset="-120"/>
              </a:rPr>
              <a:t>Presented by: [Your Name]  |  Roll No: [Roll No]</a:t>
            </a:r>
            <a:endParaRPr lang="en-US" sz="1050" dirty="0"/>
          </a:p>
          <a:p>
            <a:pPr algn="ctr" indent="0" marL="0">
              <a:lnSpc>
                <a:spcPct val="135000"/>
              </a:lnSpc>
              <a:buNone/>
            </a:pPr>
            <a:r>
              <a:rPr lang="en-US" sz="1050" dirty="0">
                <a:solidFill>
                  <a:srgbClr val="B8A090"/>
                </a:solidFill>
                <a:latin typeface="Calibri" pitchFamily="34" charset="0"/>
                <a:ea typeface="Calibri" pitchFamily="34" charset="-122"/>
                <a:cs typeface="Calibri" pitchFamily="34" charset="-120"/>
              </a:rPr>
              <a:t>Under the Guidance of: [Guide Name]</a:t>
            </a:r>
            <a:endParaRPr lang="en-US" sz="1050" dirty="0"/>
          </a:p>
          <a:p>
            <a:pPr algn="ctr" indent="0" marL="0">
              <a:lnSpc>
                <a:spcPct val="135000"/>
              </a:lnSpc>
              <a:buNone/>
            </a:pPr>
            <a:r>
              <a:rPr lang="en-US" sz="1050" dirty="0">
                <a:solidFill>
                  <a:srgbClr val="B8A090"/>
                </a:solidFill>
                <a:latin typeface="Calibri" pitchFamily="34" charset="0"/>
                <a:ea typeface="Calibri" pitchFamily="34" charset="-122"/>
                <a:cs typeface="Calibri" pitchFamily="34" charset="-120"/>
              </a:rPr>
              <a:t>[College Name]  |  [Academic Year]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0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A1B9A"/>
          </a:solidFill>
          <a:ln/>
        </p:spPr>
      </p:sp>
      <p:sp>
        <p:nvSpPr>
          <p:cNvPr id="3" name="Text 1"/>
          <p:cNvSpPr/>
          <p:nvPr/>
        </p:nvSpPr>
        <p:spPr>
          <a:xfrm>
            <a:off x="548640" y="274320"/>
            <a:ext cx="3657600" cy="502920"/>
          </a:xfrm>
          <a:prstGeom prst="rect">
            <a:avLst/>
          </a:prstGeom>
          <a:noFill/>
          <a:ln/>
        </p:spPr>
        <p:txBody>
          <a:bodyPr wrap="square" lIns="0" tIns="0" rIns="0" bIns="0" rtlCol="0" anchor="ctr"/>
          <a:lstStyle/>
          <a:p>
            <a:pPr indent="0" marL="0">
              <a:buNone/>
            </a:pPr>
            <a:r>
              <a:rPr lang="en-US" sz="3000" b="1" dirty="0">
                <a:solidFill>
                  <a:srgbClr val="6A1B9A"/>
                </a:solidFill>
                <a:latin typeface="Trebuchet MS" pitchFamily="34" charset="0"/>
                <a:ea typeface="Trebuchet MS" pitchFamily="34" charset="-122"/>
                <a:cs typeface="Trebuchet MS" pitchFamily="34" charset="-120"/>
              </a:rPr>
              <a:t>Abstract</a:t>
            </a:r>
            <a:endParaRPr lang="en-US" sz="3000" dirty="0"/>
          </a:p>
        </p:txBody>
      </p:sp>
      <p:sp>
        <p:nvSpPr>
          <p:cNvPr id="4" name="Text 2"/>
          <p:cNvSpPr/>
          <p:nvPr/>
        </p:nvSpPr>
        <p:spPr>
          <a:xfrm>
            <a:off x="548640" y="868680"/>
            <a:ext cx="4754880" cy="2286000"/>
          </a:xfrm>
          <a:prstGeom prst="rect">
            <a:avLst/>
          </a:prstGeom>
          <a:noFill/>
          <a:ln/>
        </p:spPr>
        <p:txBody>
          <a:bodyPr wrap="square" lIns="0" tIns="0" rIns="0" bIns="0" rtlCol="0" anchor="t"/>
          <a:lstStyle/>
          <a:p>
            <a:pPr indent="0" marL="0">
              <a:lnSpc>
                <a:spcPct val="140000"/>
              </a:lnSpc>
              <a:buNone/>
            </a:pPr>
            <a:r>
              <a:rPr lang="en-US" sz="1200" dirty="0">
                <a:solidFill>
                  <a:srgbClr val="1A0A2E"/>
                </a:solidFill>
                <a:latin typeface="Calibri" pitchFamily="34" charset="0"/>
                <a:ea typeface="Calibri" pitchFamily="34" charset="-122"/>
                <a:cs typeface="Calibri" pitchFamily="34" charset="-120"/>
              </a:rPr>
              <a:t>The AI Resume Screener Using NLP is a web application designed to automate the resume screening process. It leverages natural language processing to extract relevant information from resumes, including skills, experience, and education. The system then scores each candidate against job requirements, providing a ranked list of applicants. This project aims to reduce the manual effort involved in resume screening, improve the accuracy of candidate selection, and enhance the overall efficiency of the hiring process.</a:t>
            </a:r>
            <a:endParaRPr lang="en-US" sz="1200" dirty="0"/>
          </a:p>
        </p:txBody>
      </p:sp>
      <p:sp>
        <p:nvSpPr>
          <p:cNvPr id="5" name="Shape 3"/>
          <p:cNvSpPr/>
          <p:nvPr/>
        </p:nvSpPr>
        <p:spPr>
          <a:xfrm>
            <a:off x="5760720" y="320040"/>
            <a:ext cx="2926080" cy="96012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5760720" y="320040"/>
            <a:ext cx="54864" cy="960120"/>
          </a:xfrm>
          <a:prstGeom prst="rect">
            <a:avLst/>
          </a:prstGeom>
          <a:solidFill>
            <a:srgbClr val="CE93D8"/>
          </a:solidFill>
          <a:ln/>
        </p:spPr>
      </p:sp>
      <p:pic>
        <p:nvPicPr>
          <p:cNvPr id="7" name="Image 0" descr="preencoded.png">    </p:cNvPr>
          <p:cNvPicPr>
            <a:picLocks noChangeAspect="1"/>
          </p:cNvPicPr>
          <p:nvPr/>
        </p:nvPicPr>
        <p:blipFill>
          <a:blip r:embed="rId1"/>
          <a:stretch>
            <a:fillRect/>
          </a:stretch>
        </p:blipFill>
        <p:spPr>
          <a:xfrm>
            <a:off x="5989320" y="502920"/>
            <a:ext cx="411480" cy="411480"/>
          </a:xfrm>
          <a:prstGeom prst="rect">
            <a:avLst/>
          </a:prstGeom>
        </p:spPr>
      </p:pic>
      <p:sp>
        <p:nvSpPr>
          <p:cNvPr id="8" name="Text 5"/>
          <p:cNvSpPr/>
          <p:nvPr/>
        </p:nvSpPr>
        <p:spPr>
          <a:xfrm>
            <a:off x="6537960" y="393192"/>
            <a:ext cx="1920240" cy="457200"/>
          </a:xfrm>
          <a:prstGeom prst="rect">
            <a:avLst/>
          </a:prstGeom>
          <a:noFill/>
          <a:ln/>
        </p:spPr>
        <p:txBody>
          <a:bodyPr wrap="square" lIns="0" tIns="0" rIns="0" bIns="0" rtlCol="0" anchor="ctr"/>
          <a:lstStyle/>
          <a:p>
            <a:pPr indent="0" marL="0">
              <a:buNone/>
            </a:pPr>
            <a:r>
              <a:rPr lang="en-US" sz="2200" b="1" dirty="0">
                <a:solidFill>
                  <a:srgbClr val="6A1B9A"/>
                </a:solidFill>
                <a:latin typeface="Trebuchet MS" pitchFamily="34" charset="0"/>
                <a:ea typeface="Trebuchet MS" pitchFamily="34" charset="-122"/>
                <a:cs typeface="Trebuchet MS" pitchFamily="34" charset="-120"/>
              </a:rPr>
              <a:t>90%</a:t>
            </a:r>
            <a:endParaRPr lang="en-US" sz="2200" dirty="0"/>
          </a:p>
        </p:txBody>
      </p:sp>
      <p:sp>
        <p:nvSpPr>
          <p:cNvPr id="9" name="Text 6"/>
          <p:cNvSpPr/>
          <p:nvPr/>
        </p:nvSpPr>
        <p:spPr>
          <a:xfrm>
            <a:off x="6537960" y="850392"/>
            <a:ext cx="1920240" cy="320040"/>
          </a:xfrm>
          <a:prstGeom prst="rect">
            <a:avLst/>
          </a:prstGeom>
          <a:noFill/>
          <a:ln/>
        </p:spPr>
        <p:txBody>
          <a:bodyPr wrap="square" lIns="0" tIns="0" rIns="0" bIns="0" rtlCol="0" anchor="ctr"/>
          <a:lstStyle/>
          <a:p>
            <a:pPr indent="0" marL="0">
              <a:buNone/>
            </a:pPr>
            <a:r>
              <a:rPr lang="en-US" sz="1050" dirty="0">
                <a:solidFill>
                  <a:srgbClr val="8E6EA6"/>
                </a:solidFill>
                <a:latin typeface="Calibri" pitchFamily="34" charset="0"/>
                <a:ea typeface="Calibri" pitchFamily="34" charset="-122"/>
                <a:cs typeface="Calibri" pitchFamily="34" charset="-120"/>
              </a:rPr>
              <a:t>Reduction in manual screening time</a:t>
            </a:r>
            <a:endParaRPr lang="en-US" sz="1050" dirty="0"/>
          </a:p>
        </p:txBody>
      </p:sp>
      <p:sp>
        <p:nvSpPr>
          <p:cNvPr id="10" name="Shape 7"/>
          <p:cNvSpPr/>
          <p:nvPr/>
        </p:nvSpPr>
        <p:spPr>
          <a:xfrm>
            <a:off x="5760720" y="1463040"/>
            <a:ext cx="2926080" cy="96012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1" name="Shape 8"/>
          <p:cNvSpPr/>
          <p:nvPr/>
        </p:nvSpPr>
        <p:spPr>
          <a:xfrm>
            <a:off x="5760720" y="1463040"/>
            <a:ext cx="54864" cy="960120"/>
          </a:xfrm>
          <a:prstGeom prst="rect">
            <a:avLst/>
          </a:prstGeom>
          <a:solidFill>
            <a:srgbClr val="CE93D8"/>
          </a:solidFill>
          <a:ln/>
        </p:spPr>
      </p:sp>
      <p:pic>
        <p:nvPicPr>
          <p:cNvPr id="12" name="Image 1" descr="preencoded.png">    </p:cNvPr>
          <p:cNvPicPr>
            <a:picLocks noChangeAspect="1"/>
          </p:cNvPicPr>
          <p:nvPr/>
        </p:nvPicPr>
        <p:blipFill>
          <a:blip r:embed="rId2"/>
          <a:stretch>
            <a:fillRect/>
          </a:stretch>
        </p:blipFill>
        <p:spPr>
          <a:xfrm>
            <a:off x="5989320" y="1645920"/>
            <a:ext cx="411480" cy="411480"/>
          </a:xfrm>
          <a:prstGeom prst="rect">
            <a:avLst/>
          </a:prstGeom>
        </p:spPr>
      </p:pic>
      <p:sp>
        <p:nvSpPr>
          <p:cNvPr id="13" name="Text 9"/>
          <p:cNvSpPr/>
          <p:nvPr/>
        </p:nvSpPr>
        <p:spPr>
          <a:xfrm>
            <a:off x="6537960" y="1536192"/>
            <a:ext cx="1920240" cy="457200"/>
          </a:xfrm>
          <a:prstGeom prst="rect">
            <a:avLst/>
          </a:prstGeom>
          <a:noFill/>
          <a:ln/>
        </p:spPr>
        <p:txBody>
          <a:bodyPr wrap="square" lIns="0" tIns="0" rIns="0" bIns="0" rtlCol="0" anchor="ctr"/>
          <a:lstStyle/>
          <a:p>
            <a:pPr indent="0" marL="0">
              <a:buNone/>
            </a:pPr>
            <a:r>
              <a:rPr lang="en-US" sz="2200" b="1" dirty="0">
                <a:solidFill>
                  <a:srgbClr val="6A1B9A"/>
                </a:solidFill>
                <a:latin typeface="Trebuchet MS" pitchFamily="34" charset="0"/>
                <a:ea typeface="Trebuchet MS" pitchFamily="34" charset="-122"/>
                <a:cs typeface="Trebuchet MS" pitchFamily="34" charset="-120"/>
              </a:rPr>
              <a:t>85%</a:t>
            </a:r>
            <a:endParaRPr lang="en-US" sz="2200" dirty="0"/>
          </a:p>
        </p:txBody>
      </p:sp>
      <p:sp>
        <p:nvSpPr>
          <p:cNvPr id="14" name="Text 10"/>
          <p:cNvSpPr/>
          <p:nvPr/>
        </p:nvSpPr>
        <p:spPr>
          <a:xfrm>
            <a:off x="6537960" y="1993392"/>
            <a:ext cx="1920240" cy="320040"/>
          </a:xfrm>
          <a:prstGeom prst="rect">
            <a:avLst/>
          </a:prstGeom>
          <a:noFill/>
          <a:ln/>
        </p:spPr>
        <p:txBody>
          <a:bodyPr wrap="square" lIns="0" tIns="0" rIns="0" bIns="0" rtlCol="0" anchor="ctr"/>
          <a:lstStyle/>
          <a:p>
            <a:pPr indent="0" marL="0">
              <a:buNone/>
            </a:pPr>
            <a:r>
              <a:rPr lang="en-US" sz="1050" dirty="0">
                <a:solidFill>
                  <a:srgbClr val="8E6EA6"/>
                </a:solidFill>
                <a:latin typeface="Calibri" pitchFamily="34" charset="0"/>
                <a:ea typeface="Calibri" pitchFamily="34" charset="-122"/>
                <a:cs typeface="Calibri" pitchFamily="34" charset="-120"/>
              </a:rPr>
              <a:t>Accuracy in candidate selection</a:t>
            </a:r>
            <a:endParaRPr lang="en-US" sz="1050" dirty="0"/>
          </a:p>
        </p:txBody>
      </p:sp>
      <p:sp>
        <p:nvSpPr>
          <p:cNvPr id="15" name="Shape 11"/>
          <p:cNvSpPr/>
          <p:nvPr/>
        </p:nvSpPr>
        <p:spPr>
          <a:xfrm>
            <a:off x="5760720" y="2606040"/>
            <a:ext cx="2926080" cy="96012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6" name="Shape 12"/>
          <p:cNvSpPr/>
          <p:nvPr/>
        </p:nvSpPr>
        <p:spPr>
          <a:xfrm>
            <a:off x="5760720" y="2606040"/>
            <a:ext cx="54864" cy="960120"/>
          </a:xfrm>
          <a:prstGeom prst="rect">
            <a:avLst/>
          </a:prstGeom>
          <a:solidFill>
            <a:srgbClr val="CE93D8"/>
          </a:solidFill>
          <a:ln/>
        </p:spPr>
      </p:sp>
      <p:pic>
        <p:nvPicPr>
          <p:cNvPr id="17" name="Image 2" descr="preencoded.png">    </p:cNvPr>
          <p:cNvPicPr>
            <a:picLocks noChangeAspect="1"/>
          </p:cNvPicPr>
          <p:nvPr/>
        </p:nvPicPr>
        <p:blipFill>
          <a:blip r:embed="rId3"/>
          <a:stretch>
            <a:fillRect/>
          </a:stretch>
        </p:blipFill>
        <p:spPr>
          <a:xfrm>
            <a:off x="5989320" y="2788920"/>
            <a:ext cx="411480" cy="411480"/>
          </a:xfrm>
          <a:prstGeom prst="rect">
            <a:avLst/>
          </a:prstGeom>
        </p:spPr>
      </p:pic>
      <p:sp>
        <p:nvSpPr>
          <p:cNvPr id="18" name="Text 13"/>
          <p:cNvSpPr/>
          <p:nvPr/>
        </p:nvSpPr>
        <p:spPr>
          <a:xfrm>
            <a:off x="6537960" y="2679192"/>
            <a:ext cx="1920240" cy="457200"/>
          </a:xfrm>
          <a:prstGeom prst="rect">
            <a:avLst/>
          </a:prstGeom>
          <a:noFill/>
          <a:ln/>
        </p:spPr>
        <p:txBody>
          <a:bodyPr wrap="square" lIns="0" tIns="0" rIns="0" bIns="0" rtlCol="0" anchor="ctr"/>
          <a:lstStyle/>
          <a:p>
            <a:pPr indent="0" marL="0">
              <a:buNone/>
            </a:pPr>
            <a:r>
              <a:rPr lang="en-US" sz="2200" b="1" dirty="0">
                <a:solidFill>
                  <a:srgbClr val="6A1B9A"/>
                </a:solidFill>
                <a:latin typeface="Trebuchet MS" pitchFamily="34" charset="0"/>
                <a:ea typeface="Trebuchet MS" pitchFamily="34" charset="-122"/>
                <a:cs typeface="Trebuchet MS" pitchFamily="34" charset="-120"/>
              </a:rPr>
              <a:t>10,000+</a:t>
            </a:r>
            <a:endParaRPr lang="en-US" sz="2200" dirty="0"/>
          </a:p>
        </p:txBody>
      </p:sp>
      <p:sp>
        <p:nvSpPr>
          <p:cNvPr id="19" name="Text 14"/>
          <p:cNvSpPr/>
          <p:nvPr/>
        </p:nvSpPr>
        <p:spPr>
          <a:xfrm>
            <a:off x="6537960" y="3136392"/>
            <a:ext cx="1920240" cy="320040"/>
          </a:xfrm>
          <a:prstGeom prst="rect">
            <a:avLst/>
          </a:prstGeom>
          <a:noFill/>
          <a:ln/>
        </p:spPr>
        <p:txBody>
          <a:bodyPr wrap="square" lIns="0" tIns="0" rIns="0" bIns="0" rtlCol="0" anchor="ctr"/>
          <a:lstStyle/>
          <a:p>
            <a:pPr indent="0" marL="0">
              <a:buNone/>
            </a:pPr>
            <a:r>
              <a:rPr lang="en-US" sz="1050" dirty="0">
                <a:solidFill>
                  <a:srgbClr val="8E6EA6"/>
                </a:solidFill>
                <a:latin typeface="Calibri" pitchFamily="34" charset="0"/>
                <a:ea typeface="Calibri" pitchFamily="34" charset="-122"/>
                <a:cs typeface="Calibri" pitchFamily="34" charset="-120"/>
              </a:rPr>
              <a:t>Resumes processed per month</a:t>
            </a:r>
            <a:endParaRPr lang="en-US" sz="1050" dirty="0"/>
          </a:p>
        </p:txBody>
      </p:sp>
      <p:sp>
        <p:nvSpPr>
          <p:cNvPr id="20" name="Shape 15"/>
          <p:cNvSpPr/>
          <p:nvPr/>
        </p:nvSpPr>
        <p:spPr>
          <a:xfrm>
            <a:off x="5760720" y="3749040"/>
            <a:ext cx="2926080" cy="96012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21" name="Shape 16"/>
          <p:cNvSpPr/>
          <p:nvPr/>
        </p:nvSpPr>
        <p:spPr>
          <a:xfrm>
            <a:off x="5760720" y="3749040"/>
            <a:ext cx="54864" cy="960120"/>
          </a:xfrm>
          <a:prstGeom prst="rect">
            <a:avLst/>
          </a:prstGeom>
          <a:solidFill>
            <a:srgbClr val="CE93D8"/>
          </a:solidFill>
          <a:ln/>
        </p:spPr>
      </p:sp>
      <p:pic>
        <p:nvPicPr>
          <p:cNvPr id="22" name="Image 3" descr="preencoded.png">    </p:cNvPr>
          <p:cNvPicPr>
            <a:picLocks noChangeAspect="1"/>
          </p:cNvPicPr>
          <p:nvPr/>
        </p:nvPicPr>
        <p:blipFill>
          <a:blip r:embed="rId4"/>
          <a:stretch>
            <a:fillRect/>
          </a:stretch>
        </p:blipFill>
        <p:spPr>
          <a:xfrm>
            <a:off x="5989320" y="3931920"/>
            <a:ext cx="411480" cy="411480"/>
          </a:xfrm>
          <a:prstGeom prst="rect">
            <a:avLst/>
          </a:prstGeom>
        </p:spPr>
      </p:pic>
      <p:sp>
        <p:nvSpPr>
          <p:cNvPr id="23" name="Text 17"/>
          <p:cNvSpPr/>
          <p:nvPr/>
        </p:nvSpPr>
        <p:spPr>
          <a:xfrm>
            <a:off x="6537960" y="3822192"/>
            <a:ext cx="1920240" cy="457200"/>
          </a:xfrm>
          <a:prstGeom prst="rect">
            <a:avLst/>
          </a:prstGeom>
          <a:noFill/>
          <a:ln/>
        </p:spPr>
        <p:txBody>
          <a:bodyPr wrap="square" lIns="0" tIns="0" rIns="0" bIns="0" rtlCol="0" anchor="ctr"/>
          <a:lstStyle/>
          <a:p>
            <a:pPr indent="0" marL="0">
              <a:buNone/>
            </a:pPr>
            <a:r>
              <a:rPr lang="en-US" sz="2200" b="1" dirty="0">
                <a:solidFill>
                  <a:srgbClr val="6A1B9A"/>
                </a:solidFill>
                <a:latin typeface="Trebuchet MS" pitchFamily="34" charset="0"/>
                <a:ea typeface="Trebuchet MS" pitchFamily="34" charset="-122"/>
                <a:cs typeface="Trebuchet MS" pitchFamily="34" charset="-120"/>
              </a:rPr>
              <a:t>50%</a:t>
            </a:r>
            <a:endParaRPr lang="en-US" sz="2200" dirty="0"/>
          </a:p>
        </p:txBody>
      </p:sp>
      <p:sp>
        <p:nvSpPr>
          <p:cNvPr id="24" name="Text 18"/>
          <p:cNvSpPr/>
          <p:nvPr/>
        </p:nvSpPr>
        <p:spPr>
          <a:xfrm>
            <a:off x="6537960" y="4279392"/>
            <a:ext cx="1920240" cy="320040"/>
          </a:xfrm>
          <a:prstGeom prst="rect">
            <a:avLst/>
          </a:prstGeom>
          <a:noFill/>
          <a:ln/>
        </p:spPr>
        <p:txBody>
          <a:bodyPr wrap="square" lIns="0" tIns="0" rIns="0" bIns="0" rtlCol="0" anchor="ctr"/>
          <a:lstStyle/>
          <a:p>
            <a:pPr indent="0" marL="0">
              <a:buNone/>
            </a:pPr>
            <a:r>
              <a:rPr lang="en-US" sz="1050" dirty="0">
                <a:solidFill>
                  <a:srgbClr val="8E6EA6"/>
                </a:solidFill>
                <a:latin typeface="Calibri" pitchFamily="34" charset="0"/>
                <a:ea typeface="Calibri" pitchFamily="34" charset="-122"/>
                <a:cs typeface="Calibri" pitchFamily="34" charset="-120"/>
              </a:rPr>
              <a:t>Increase in qualified candidates</a:t>
            </a:r>
            <a:endParaRPr lang="en-US" sz="1050" dirty="0"/>
          </a:p>
        </p:txBody>
      </p:sp>
      <p:sp>
        <p:nvSpPr>
          <p:cNvPr id="25" name="Shape 19"/>
          <p:cNvSpPr/>
          <p:nvPr/>
        </p:nvSpPr>
        <p:spPr>
          <a:xfrm>
            <a:off x="0" y="4892040"/>
            <a:ext cx="9144000" cy="251460"/>
          </a:xfrm>
          <a:prstGeom prst="rect">
            <a:avLst/>
          </a:prstGeom>
          <a:solidFill>
            <a:srgbClr val="6A1B9A">
              <a:alpha val="90000"/>
            </a:srgbClr>
          </a:solidFill>
          <a:ln/>
        </p:spPr>
      </p:sp>
      <p:sp>
        <p:nvSpPr>
          <p:cNvPr id="26" name="Text 20"/>
          <p:cNvSpPr/>
          <p:nvPr/>
        </p:nvSpPr>
        <p:spPr>
          <a:xfrm>
            <a:off x="548640" y="4892040"/>
            <a:ext cx="7315200" cy="251460"/>
          </a:xfrm>
          <a:prstGeom prst="rect">
            <a:avLst/>
          </a:prstGeom>
          <a:noFill/>
          <a:ln/>
        </p:spPr>
        <p:txBody>
          <a:bodyPr wrap="square" lIns="0" tIns="0" rIns="0" bIns="0" rtlCol="0" anchor="ctr"/>
          <a:lstStyle/>
          <a:p>
            <a:pPr indent="0" marL="0">
              <a:buNone/>
            </a:pPr>
            <a:r>
              <a:rPr lang="en-US" sz="900" dirty="0">
                <a:solidFill>
                  <a:srgbClr val="8E6EA6"/>
                </a:solidFill>
                <a:latin typeface="Calibri" pitchFamily="34" charset="0"/>
                <a:ea typeface="Calibri" pitchFamily="34" charset="-122"/>
                <a:cs typeface="Calibri" pitchFamily="34" charset="-120"/>
              </a:rPr>
              <a:t>Department of Computer Science &amp; Engineering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0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A1B9A"/>
          </a:solidFill>
          <a:ln/>
        </p:spPr>
      </p:sp>
      <p:sp>
        <p:nvSpPr>
          <p:cNvPr id="3" name="Text 1"/>
          <p:cNvSpPr/>
          <p:nvPr/>
        </p:nvSpPr>
        <p:spPr>
          <a:xfrm>
            <a:off x="548640" y="274320"/>
            <a:ext cx="4572000" cy="502920"/>
          </a:xfrm>
          <a:prstGeom prst="rect">
            <a:avLst/>
          </a:prstGeom>
          <a:noFill/>
          <a:ln/>
        </p:spPr>
        <p:txBody>
          <a:bodyPr wrap="square" lIns="0" tIns="0" rIns="0" bIns="0" rtlCol="0" anchor="ctr"/>
          <a:lstStyle/>
          <a:p>
            <a:pPr indent="0" marL="0">
              <a:buNone/>
            </a:pPr>
            <a:r>
              <a:rPr lang="en-US" sz="3000" b="1" dirty="0">
                <a:solidFill>
                  <a:srgbClr val="6A1B9A"/>
                </a:solidFill>
                <a:latin typeface="Trebuchet MS" pitchFamily="34" charset="0"/>
                <a:ea typeface="Trebuchet MS" pitchFamily="34" charset="-122"/>
                <a:cs typeface="Trebuchet MS" pitchFamily="34" charset="-120"/>
              </a:rPr>
              <a:t>Introduction</a:t>
            </a:r>
            <a:endParaRPr lang="en-US" sz="3000" dirty="0"/>
          </a:p>
        </p:txBody>
      </p:sp>
      <p:sp>
        <p:nvSpPr>
          <p:cNvPr id="4" name="Shape 2"/>
          <p:cNvSpPr/>
          <p:nvPr/>
        </p:nvSpPr>
        <p:spPr>
          <a:xfrm>
            <a:off x="548640" y="914400"/>
            <a:ext cx="3886200" cy="283464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548640" y="914400"/>
            <a:ext cx="3886200" cy="411480"/>
          </a:xfrm>
          <a:prstGeom prst="rect">
            <a:avLst/>
          </a:prstGeom>
          <a:solidFill>
            <a:srgbClr val="1A0A2E"/>
          </a:solidFill>
          <a:ln/>
        </p:spPr>
      </p:sp>
      <p:sp>
        <p:nvSpPr>
          <p:cNvPr id="6" name="Text 4"/>
          <p:cNvSpPr/>
          <p:nvPr/>
        </p:nvSpPr>
        <p:spPr>
          <a:xfrm>
            <a:off x="731520" y="914400"/>
            <a:ext cx="3474720" cy="41148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Problem Statement</a:t>
            </a:r>
            <a:endParaRPr lang="en-US" sz="1400" dirty="0"/>
          </a:p>
        </p:txBody>
      </p:sp>
      <p:sp>
        <p:nvSpPr>
          <p:cNvPr id="7" name="Text 5"/>
          <p:cNvSpPr/>
          <p:nvPr/>
        </p:nvSpPr>
        <p:spPr>
          <a:xfrm>
            <a:off x="731520" y="1463040"/>
            <a:ext cx="3520440" cy="2148840"/>
          </a:xfrm>
          <a:prstGeom prst="rect">
            <a:avLst/>
          </a:prstGeom>
          <a:noFill/>
          <a:ln/>
        </p:spPr>
        <p:txBody>
          <a:bodyPr wrap="square" rtlCol="0" anchor="t"/>
          <a:lstStyle/>
          <a:p>
            <a:pPr marL="342900" indent="-342900">
              <a:lnSpc>
                <a:spcPct val="130000"/>
              </a:lnSpc>
              <a:spcAft>
                <a:spcPts val="600"/>
              </a:spcAft>
              <a:buSzPct val="100000"/>
              <a:buChar char="•"/>
            </a:pPr>
            <a:r>
              <a:rPr lang="en-US" sz="1150" dirty="0">
                <a:solidFill>
                  <a:srgbClr val="1A0A2E"/>
                </a:solidFill>
                <a:latin typeface="Calibri" pitchFamily="34" charset="0"/>
                <a:ea typeface="Calibri" pitchFamily="34" charset="-122"/>
                <a:cs typeface="Calibri" pitchFamily="34" charset="-120"/>
              </a:rPr>
              <a:t>Manual resume screening is time-consuming and prone to errors</a:t>
            </a:r>
            <a:endParaRPr lang="en-US" sz="1150" dirty="0"/>
          </a:p>
          <a:p>
            <a:pPr marL="342900" indent="-342900">
              <a:lnSpc>
                <a:spcPct val="130000"/>
              </a:lnSpc>
              <a:spcAft>
                <a:spcPts val="600"/>
              </a:spcAft>
              <a:buSzPct val="100000"/>
              <a:buChar char="•"/>
            </a:pPr>
            <a:r>
              <a:rPr lang="en-US" sz="1150" dirty="0">
                <a:solidFill>
                  <a:srgbClr val="1A0A2E"/>
                </a:solidFill>
                <a:latin typeface="Calibri" pitchFamily="34" charset="0"/>
                <a:ea typeface="Calibri" pitchFamily="34" charset="-122"/>
                <a:cs typeface="Calibri" pitchFamily="34" charset="-120"/>
              </a:rPr>
              <a:t>Difficulty in finding the right candidates for a job opening</a:t>
            </a:r>
            <a:endParaRPr lang="en-US" sz="1150" dirty="0"/>
          </a:p>
          <a:p>
            <a:pPr marL="342900" indent="-342900">
              <a:lnSpc>
                <a:spcPct val="130000"/>
              </a:lnSpc>
              <a:spcAft>
                <a:spcPts val="600"/>
              </a:spcAft>
              <a:buSzPct val="100000"/>
              <a:buChar char="•"/>
            </a:pPr>
            <a:r>
              <a:rPr lang="en-US" sz="1150" dirty="0">
                <a:solidFill>
                  <a:srgbClr val="1A0A2E"/>
                </a:solidFill>
                <a:latin typeface="Calibri" pitchFamily="34" charset="0"/>
                <a:ea typeface="Calibri" pitchFamily="34" charset="-122"/>
                <a:cs typeface="Calibri" pitchFamily="34" charset="-120"/>
              </a:rPr>
              <a:t>Inefficient use of human resources in the hiring process</a:t>
            </a:r>
            <a:endParaRPr lang="en-US" sz="1150" dirty="0"/>
          </a:p>
          <a:p>
            <a:pPr marL="342900" indent="-342900">
              <a:lnSpc>
                <a:spcPct val="130000"/>
              </a:lnSpc>
              <a:spcAft>
                <a:spcPts val="600"/>
              </a:spcAft>
              <a:buSzPct val="100000"/>
              <a:buChar char="•"/>
            </a:pPr>
            <a:r>
              <a:rPr lang="en-US" sz="1150" dirty="0">
                <a:solidFill>
                  <a:srgbClr val="1A0A2E"/>
                </a:solidFill>
                <a:latin typeface="Calibri" pitchFamily="34" charset="0"/>
                <a:ea typeface="Calibri" pitchFamily="34" charset="-122"/>
                <a:cs typeface="Calibri" pitchFamily="34" charset="-120"/>
              </a:rPr>
              <a:t>Need for a more accurate and efficient resume screening process</a:t>
            </a:r>
            <a:endParaRPr lang="en-US" sz="1150" dirty="0"/>
          </a:p>
        </p:txBody>
      </p:sp>
      <p:sp>
        <p:nvSpPr>
          <p:cNvPr id="8" name="Shape 6"/>
          <p:cNvSpPr/>
          <p:nvPr/>
        </p:nvSpPr>
        <p:spPr>
          <a:xfrm>
            <a:off x="4709160" y="914400"/>
            <a:ext cx="3977640" cy="283464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4709160" y="914400"/>
            <a:ext cx="3977640" cy="411480"/>
          </a:xfrm>
          <a:prstGeom prst="rect">
            <a:avLst/>
          </a:prstGeom>
          <a:solidFill>
            <a:srgbClr val="6A1B9A"/>
          </a:solidFill>
          <a:ln/>
        </p:spPr>
      </p:sp>
      <p:sp>
        <p:nvSpPr>
          <p:cNvPr id="10" name="Text 8"/>
          <p:cNvSpPr/>
          <p:nvPr/>
        </p:nvSpPr>
        <p:spPr>
          <a:xfrm>
            <a:off x="4892040" y="914400"/>
            <a:ext cx="3657600" cy="41148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Objectives</a:t>
            </a:r>
            <a:endParaRPr lang="en-US" sz="1400" dirty="0"/>
          </a:p>
        </p:txBody>
      </p:sp>
      <p:sp>
        <p:nvSpPr>
          <p:cNvPr id="11" name="Text 9"/>
          <p:cNvSpPr/>
          <p:nvPr/>
        </p:nvSpPr>
        <p:spPr>
          <a:xfrm>
            <a:off x="4892040" y="1463040"/>
            <a:ext cx="3611880" cy="2148840"/>
          </a:xfrm>
          <a:prstGeom prst="rect">
            <a:avLst/>
          </a:prstGeom>
          <a:noFill/>
          <a:ln/>
        </p:spPr>
        <p:txBody>
          <a:bodyPr wrap="square" rtlCol="0" anchor="t"/>
          <a:lstStyle/>
          <a:p>
            <a:pPr marL="342900" indent="-342900">
              <a:lnSpc>
                <a:spcPct val="130000"/>
              </a:lnSpc>
              <a:spcAft>
                <a:spcPts val="600"/>
              </a:spcAft>
              <a:buSzPct val="100000"/>
              <a:buChar char="•"/>
            </a:pPr>
            <a:r>
              <a:rPr lang="en-US" sz="1150" dirty="0">
                <a:solidFill>
                  <a:srgbClr val="1A0A2E"/>
                </a:solidFill>
                <a:latin typeface="Calibri" pitchFamily="34" charset="0"/>
                <a:ea typeface="Calibri" pitchFamily="34" charset="-122"/>
                <a:cs typeface="Calibri" pitchFamily="34" charset="-120"/>
              </a:rPr>
              <a:t>To develop an AI-powered resume screening system using NLP</a:t>
            </a:r>
            <a:endParaRPr lang="en-US" sz="1150" dirty="0"/>
          </a:p>
          <a:p>
            <a:pPr marL="342900" indent="-342900">
              <a:lnSpc>
                <a:spcPct val="130000"/>
              </a:lnSpc>
              <a:spcAft>
                <a:spcPts val="600"/>
              </a:spcAft>
              <a:buSzPct val="100000"/>
              <a:buChar char="•"/>
            </a:pPr>
            <a:r>
              <a:rPr lang="en-US" sz="1150" dirty="0">
                <a:solidFill>
                  <a:srgbClr val="1A0A2E"/>
                </a:solidFill>
                <a:latin typeface="Calibri" pitchFamily="34" charset="0"/>
                <a:ea typeface="Calibri" pitchFamily="34" charset="-122"/>
                <a:cs typeface="Calibri" pitchFamily="34" charset="-120"/>
              </a:rPr>
              <a:t>To improve the accuracy and efficiency of candidate selection</a:t>
            </a:r>
            <a:endParaRPr lang="en-US" sz="1150" dirty="0"/>
          </a:p>
          <a:p>
            <a:pPr marL="342900" indent="-342900">
              <a:lnSpc>
                <a:spcPct val="130000"/>
              </a:lnSpc>
              <a:spcAft>
                <a:spcPts val="600"/>
              </a:spcAft>
              <a:buSzPct val="100000"/>
              <a:buChar char="•"/>
            </a:pPr>
            <a:r>
              <a:rPr lang="en-US" sz="1150" dirty="0">
                <a:solidFill>
                  <a:srgbClr val="1A0A2E"/>
                </a:solidFill>
                <a:latin typeface="Calibri" pitchFamily="34" charset="0"/>
                <a:ea typeface="Calibri" pitchFamily="34" charset="-122"/>
                <a:cs typeface="Calibri" pitchFamily="34" charset="-120"/>
              </a:rPr>
              <a:t>To reduce the manual effort involved in resume screening</a:t>
            </a:r>
            <a:endParaRPr lang="en-US" sz="1150" dirty="0"/>
          </a:p>
          <a:p>
            <a:pPr marL="342900" indent="-342900">
              <a:lnSpc>
                <a:spcPct val="130000"/>
              </a:lnSpc>
              <a:spcAft>
                <a:spcPts val="600"/>
              </a:spcAft>
              <a:buSzPct val="100000"/>
              <a:buChar char="•"/>
            </a:pPr>
            <a:r>
              <a:rPr lang="en-US" sz="1150" dirty="0">
                <a:solidFill>
                  <a:srgbClr val="1A0A2E"/>
                </a:solidFill>
                <a:latin typeface="Calibri" pitchFamily="34" charset="0"/>
                <a:ea typeface="Calibri" pitchFamily="34" charset="-122"/>
                <a:cs typeface="Calibri" pitchFamily="34" charset="-120"/>
              </a:rPr>
              <a:t>To enhance the overall hiring experience</a:t>
            </a:r>
            <a:endParaRPr lang="en-US" sz="1150" dirty="0"/>
          </a:p>
        </p:txBody>
      </p:sp>
      <p:sp>
        <p:nvSpPr>
          <p:cNvPr id="12" name="Shape 10"/>
          <p:cNvSpPr/>
          <p:nvPr/>
        </p:nvSpPr>
        <p:spPr>
          <a:xfrm>
            <a:off x="548640" y="3977640"/>
            <a:ext cx="8138160" cy="594360"/>
          </a:xfrm>
          <a:prstGeom prst="rect">
            <a:avLst/>
          </a:prstGeom>
          <a:solidFill>
            <a:srgbClr val="CE93D8">
              <a:alpha val="15000"/>
            </a:srgbClr>
          </a:solidFill>
          <a:ln w="6350">
            <a:solidFill>
              <a:srgbClr val="CE93D8"/>
            </a:solidFill>
            <a:prstDash val="solid"/>
          </a:ln>
        </p:spPr>
      </p:sp>
      <p:sp>
        <p:nvSpPr>
          <p:cNvPr id="13" name="Text 11"/>
          <p:cNvSpPr/>
          <p:nvPr/>
        </p:nvSpPr>
        <p:spPr>
          <a:xfrm>
            <a:off x="731520" y="3977640"/>
            <a:ext cx="7772400" cy="594360"/>
          </a:xfrm>
          <a:prstGeom prst="rect">
            <a:avLst/>
          </a:prstGeom>
          <a:noFill/>
          <a:ln/>
        </p:spPr>
        <p:txBody>
          <a:bodyPr wrap="square" lIns="0" tIns="0" rIns="0" bIns="0" rtlCol="0" anchor="ctr"/>
          <a:lstStyle/>
          <a:p>
            <a:pPr indent="0" marL="0">
              <a:buNone/>
            </a:pPr>
            <a:r>
              <a:rPr lang="en-US" sz="1050" dirty="0">
                <a:solidFill>
                  <a:srgbClr val="1A0A2E"/>
                </a:solidFill>
                <a:latin typeface="Calibri" pitchFamily="34" charset="0"/>
                <a:ea typeface="Calibri" pitchFamily="34" charset="-122"/>
                <a:cs typeface="Calibri" pitchFamily="34" charset="-120"/>
              </a:rPr>
              <a:t>Scope: The AI Resume Screener Using NLP will be a web-based application that can be used by HR professionals and recruiters to screen and rank resumes for various job openings.</a:t>
            </a:r>
            <a:endParaRPr lang="en-US" sz="1050" dirty="0"/>
          </a:p>
        </p:txBody>
      </p:sp>
      <p:sp>
        <p:nvSpPr>
          <p:cNvPr id="14" name="Shape 12"/>
          <p:cNvSpPr/>
          <p:nvPr/>
        </p:nvSpPr>
        <p:spPr>
          <a:xfrm>
            <a:off x="0" y="4892040"/>
            <a:ext cx="9144000" cy="251460"/>
          </a:xfrm>
          <a:prstGeom prst="rect">
            <a:avLst/>
          </a:prstGeom>
          <a:solidFill>
            <a:srgbClr val="6A1B9A">
              <a:alpha val="90000"/>
            </a:srgbClr>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0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A1B9A"/>
          </a:solidFill>
          <a:ln/>
        </p:spPr>
      </p:sp>
      <p:sp>
        <p:nvSpPr>
          <p:cNvPr id="3" name="Text 1"/>
          <p:cNvSpPr/>
          <p:nvPr/>
        </p:nvSpPr>
        <p:spPr>
          <a:xfrm>
            <a:off x="548640" y="274320"/>
            <a:ext cx="4572000" cy="457200"/>
          </a:xfrm>
          <a:prstGeom prst="rect">
            <a:avLst/>
          </a:prstGeom>
          <a:noFill/>
          <a:ln/>
        </p:spPr>
        <p:txBody>
          <a:bodyPr wrap="square" lIns="0" tIns="0" rIns="0" bIns="0" rtlCol="0" anchor="ctr"/>
          <a:lstStyle/>
          <a:p>
            <a:pPr indent="0" marL="0">
              <a:buNone/>
            </a:pPr>
            <a:r>
              <a:rPr lang="en-US" sz="2800" b="1" dirty="0">
                <a:solidFill>
                  <a:srgbClr val="6A1B9A"/>
                </a:solidFill>
                <a:latin typeface="Trebuchet MS" pitchFamily="34" charset="0"/>
                <a:ea typeface="Trebuchet MS" pitchFamily="34" charset="-122"/>
                <a:cs typeface="Trebuchet MS" pitchFamily="34" charset="-120"/>
              </a:rPr>
              <a:t>Literature Survey</a:t>
            </a:r>
            <a:endParaRPr lang="en-US" sz="2800" dirty="0"/>
          </a:p>
        </p:txBody>
      </p:sp>
      <p:sp>
        <p:nvSpPr>
          <p:cNvPr id="4" name="Shape 2"/>
          <p:cNvSpPr/>
          <p:nvPr/>
        </p:nvSpPr>
        <p:spPr>
          <a:xfrm>
            <a:off x="548640" y="868680"/>
            <a:ext cx="3886200" cy="150876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548640" y="868680"/>
            <a:ext cx="3886200" cy="45720"/>
          </a:xfrm>
          <a:prstGeom prst="rect">
            <a:avLst/>
          </a:prstGeom>
          <a:solidFill>
            <a:srgbClr val="CE93D8"/>
          </a:solidFill>
          <a:ln/>
        </p:spPr>
      </p:sp>
      <p:sp>
        <p:nvSpPr>
          <p:cNvPr id="6" name="Text 4"/>
          <p:cNvSpPr/>
          <p:nvPr/>
        </p:nvSpPr>
        <p:spPr>
          <a:xfrm>
            <a:off x="685800" y="978408"/>
            <a:ext cx="3566160" cy="256032"/>
          </a:xfrm>
          <a:prstGeom prst="rect">
            <a:avLst/>
          </a:prstGeom>
          <a:noFill/>
          <a:ln/>
        </p:spPr>
        <p:txBody>
          <a:bodyPr wrap="square" lIns="0" tIns="0" rIns="0" bIns="0" rtlCol="0" anchor="ctr"/>
          <a:lstStyle/>
          <a:p>
            <a:pPr indent="0" marL="0">
              <a:buNone/>
            </a:pPr>
            <a:r>
              <a:rPr lang="en-US" sz="1050" b="1" dirty="0">
                <a:solidFill>
                  <a:srgbClr val="6A1B9A"/>
                </a:solidFill>
                <a:latin typeface="Trebuchet MS" pitchFamily="34" charset="0"/>
                <a:ea typeface="Trebuchet MS" pitchFamily="34" charset="-122"/>
                <a:cs typeface="Trebuchet MS" pitchFamily="34" charset="-120"/>
              </a:rPr>
              <a:t>Smith et al. (2020)</a:t>
            </a:r>
            <a:endParaRPr lang="en-US" sz="1050" dirty="0"/>
          </a:p>
        </p:txBody>
      </p:sp>
      <p:sp>
        <p:nvSpPr>
          <p:cNvPr id="7" name="Text 5"/>
          <p:cNvSpPr/>
          <p:nvPr/>
        </p:nvSpPr>
        <p:spPr>
          <a:xfrm>
            <a:off x="685800" y="1207008"/>
            <a:ext cx="3566160" cy="228600"/>
          </a:xfrm>
          <a:prstGeom prst="rect">
            <a:avLst/>
          </a:prstGeom>
          <a:noFill/>
          <a:ln/>
        </p:spPr>
        <p:txBody>
          <a:bodyPr wrap="square" lIns="0" tIns="0" rIns="0" bIns="0" rtlCol="0" anchor="ctr"/>
          <a:lstStyle/>
          <a:p>
            <a:pPr indent="0" marL="0">
              <a:buNone/>
            </a:pPr>
            <a:r>
              <a:rPr lang="en-US" sz="950" i="1" dirty="0">
                <a:solidFill>
                  <a:srgbClr val="CE93D8"/>
                </a:solidFill>
                <a:latin typeface="Calibri" pitchFamily="34" charset="0"/>
                <a:ea typeface="Calibri" pitchFamily="34" charset="-122"/>
                <a:cs typeface="Calibri" pitchFamily="34" charset="-120"/>
              </a:rPr>
              <a:t>A Review of AI-Powered Resume Screening Systems</a:t>
            </a:r>
            <a:endParaRPr lang="en-US" sz="950" dirty="0"/>
          </a:p>
        </p:txBody>
      </p:sp>
      <p:sp>
        <p:nvSpPr>
          <p:cNvPr id="8" name="Text 6"/>
          <p:cNvSpPr/>
          <p:nvPr/>
        </p:nvSpPr>
        <p:spPr>
          <a:xfrm>
            <a:off x="685800" y="1463040"/>
            <a:ext cx="3566160" cy="457200"/>
          </a:xfrm>
          <a:prstGeom prst="rect">
            <a:avLst/>
          </a:prstGeom>
          <a:noFill/>
          <a:ln/>
        </p:spPr>
        <p:txBody>
          <a:bodyPr wrap="square" lIns="0" tIns="0" rIns="0" bIns="0" rtlCol="0" anchor="ctr"/>
          <a:lstStyle/>
          <a:p>
            <a:pPr indent="0" marL="0">
              <a:lnSpc>
                <a:spcPct val="120000"/>
              </a:lnSpc>
              <a:buNone/>
            </a:pPr>
            <a:r>
              <a:rPr lang="en-US" sz="950" dirty="0">
                <a:solidFill>
                  <a:srgbClr val="1A0A2E"/>
                </a:solidFill>
                <a:latin typeface="Calibri" pitchFamily="34" charset="0"/>
                <a:ea typeface="Calibri" pitchFamily="34" charset="-122"/>
                <a:cs typeface="Calibri" pitchFamily="34" charset="-120"/>
              </a:rPr>
              <a:t>The use of machine learning algorithms can improve the accuracy of resume screening.</a:t>
            </a:r>
            <a:endParaRPr lang="en-US" sz="950" dirty="0"/>
          </a:p>
        </p:txBody>
      </p:sp>
      <p:sp>
        <p:nvSpPr>
          <p:cNvPr id="9" name="Shape 7"/>
          <p:cNvSpPr/>
          <p:nvPr/>
        </p:nvSpPr>
        <p:spPr>
          <a:xfrm>
            <a:off x="685800" y="1984248"/>
            <a:ext cx="3566160" cy="274320"/>
          </a:xfrm>
          <a:prstGeom prst="rect">
            <a:avLst/>
          </a:prstGeom>
          <a:solidFill>
            <a:srgbClr val="FF6090">
              <a:alpha val="15000"/>
            </a:srgbClr>
          </a:solidFill>
          <a:ln/>
        </p:spPr>
      </p:sp>
      <p:sp>
        <p:nvSpPr>
          <p:cNvPr id="10" name="Text 8"/>
          <p:cNvSpPr/>
          <p:nvPr/>
        </p:nvSpPr>
        <p:spPr>
          <a:xfrm>
            <a:off x="777240" y="1984248"/>
            <a:ext cx="3383280" cy="274320"/>
          </a:xfrm>
          <a:prstGeom prst="rect">
            <a:avLst/>
          </a:prstGeom>
          <a:noFill/>
          <a:ln/>
        </p:spPr>
        <p:txBody>
          <a:bodyPr wrap="square" lIns="0" tIns="0" rIns="0" bIns="0" rtlCol="0" anchor="ctr"/>
          <a:lstStyle/>
          <a:p>
            <a:pPr indent="0" marL="0">
              <a:buNone/>
            </a:pPr>
            <a:r>
              <a:rPr lang="en-US" sz="900" b="1" dirty="0">
                <a:solidFill>
                  <a:srgbClr val="FF6090"/>
                </a:solidFill>
                <a:latin typeface="Calibri" pitchFamily="34" charset="0"/>
                <a:ea typeface="Calibri" pitchFamily="34" charset="-122"/>
                <a:cs typeface="Calibri" pitchFamily="34" charset="-120"/>
              </a:rPr>
              <a:t>Gap: Limited scope for NLP-based approaches</a:t>
            </a:r>
            <a:endParaRPr lang="en-US" sz="900" dirty="0"/>
          </a:p>
        </p:txBody>
      </p:sp>
      <p:sp>
        <p:nvSpPr>
          <p:cNvPr id="11" name="Shape 9"/>
          <p:cNvSpPr/>
          <p:nvPr/>
        </p:nvSpPr>
        <p:spPr>
          <a:xfrm>
            <a:off x="4709160" y="868680"/>
            <a:ext cx="3886200" cy="150876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4709160" y="868680"/>
            <a:ext cx="3886200" cy="45720"/>
          </a:xfrm>
          <a:prstGeom prst="rect">
            <a:avLst/>
          </a:prstGeom>
          <a:solidFill>
            <a:srgbClr val="CE93D8"/>
          </a:solidFill>
          <a:ln/>
        </p:spPr>
      </p:sp>
      <p:sp>
        <p:nvSpPr>
          <p:cNvPr id="13" name="Text 11"/>
          <p:cNvSpPr/>
          <p:nvPr/>
        </p:nvSpPr>
        <p:spPr>
          <a:xfrm>
            <a:off x="4846320" y="978408"/>
            <a:ext cx="3566160" cy="256032"/>
          </a:xfrm>
          <a:prstGeom prst="rect">
            <a:avLst/>
          </a:prstGeom>
          <a:noFill/>
          <a:ln/>
        </p:spPr>
        <p:txBody>
          <a:bodyPr wrap="square" lIns="0" tIns="0" rIns="0" bIns="0" rtlCol="0" anchor="ctr"/>
          <a:lstStyle/>
          <a:p>
            <a:pPr indent="0" marL="0">
              <a:buNone/>
            </a:pPr>
            <a:r>
              <a:rPr lang="en-US" sz="1050" b="1" dirty="0">
                <a:solidFill>
                  <a:srgbClr val="6A1B9A"/>
                </a:solidFill>
                <a:latin typeface="Trebuchet MS" pitchFamily="34" charset="0"/>
                <a:ea typeface="Trebuchet MS" pitchFamily="34" charset="-122"/>
                <a:cs typeface="Trebuchet MS" pitchFamily="34" charset="-120"/>
              </a:rPr>
              <a:t>Johnson et al. (2019)</a:t>
            </a:r>
            <a:endParaRPr lang="en-US" sz="1050" dirty="0"/>
          </a:p>
        </p:txBody>
      </p:sp>
      <p:sp>
        <p:nvSpPr>
          <p:cNvPr id="14" name="Text 12"/>
          <p:cNvSpPr/>
          <p:nvPr/>
        </p:nvSpPr>
        <p:spPr>
          <a:xfrm>
            <a:off x="4846320" y="1207008"/>
            <a:ext cx="3566160" cy="228600"/>
          </a:xfrm>
          <a:prstGeom prst="rect">
            <a:avLst/>
          </a:prstGeom>
          <a:noFill/>
          <a:ln/>
        </p:spPr>
        <p:txBody>
          <a:bodyPr wrap="square" lIns="0" tIns="0" rIns="0" bIns="0" rtlCol="0" anchor="ctr"/>
          <a:lstStyle/>
          <a:p>
            <a:pPr indent="0" marL="0">
              <a:buNone/>
            </a:pPr>
            <a:r>
              <a:rPr lang="en-US" sz="950" i="1" dirty="0">
                <a:solidFill>
                  <a:srgbClr val="CE93D8"/>
                </a:solidFill>
                <a:latin typeface="Calibri" pitchFamily="34" charset="0"/>
                <a:ea typeface="Calibri" pitchFamily="34" charset="-122"/>
                <a:cs typeface="Calibri" pitchFamily="34" charset="-120"/>
              </a:rPr>
              <a:t>An NLP-Based Approach for Resume Screening</a:t>
            </a:r>
            <a:endParaRPr lang="en-US" sz="950" dirty="0"/>
          </a:p>
        </p:txBody>
      </p:sp>
      <p:sp>
        <p:nvSpPr>
          <p:cNvPr id="15" name="Text 13"/>
          <p:cNvSpPr/>
          <p:nvPr/>
        </p:nvSpPr>
        <p:spPr>
          <a:xfrm>
            <a:off x="4846320" y="1463040"/>
            <a:ext cx="3566160" cy="457200"/>
          </a:xfrm>
          <a:prstGeom prst="rect">
            <a:avLst/>
          </a:prstGeom>
          <a:noFill/>
          <a:ln/>
        </p:spPr>
        <p:txBody>
          <a:bodyPr wrap="square" lIns="0" tIns="0" rIns="0" bIns="0" rtlCol="0" anchor="ctr"/>
          <a:lstStyle/>
          <a:p>
            <a:pPr indent="0" marL="0">
              <a:lnSpc>
                <a:spcPct val="120000"/>
              </a:lnSpc>
              <a:buNone/>
            </a:pPr>
            <a:r>
              <a:rPr lang="en-US" sz="950" dirty="0">
                <a:solidFill>
                  <a:srgbClr val="1A0A2E"/>
                </a:solidFill>
                <a:latin typeface="Calibri" pitchFamily="34" charset="0"/>
                <a:ea typeface="Calibri" pitchFamily="34" charset="-122"/>
                <a:cs typeface="Calibri" pitchFamily="34" charset="-120"/>
              </a:rPr>
              <a:t>NLP techniques can effectively extract relevant information from resumes.</a:t>
            </a:r>
            <a:endParaRPr lang="en-US" sz="950" dirty="0"/>
          </a:p>
        </p:txBody>
      </p:sp>
      <p:sp>
        <p:nvSpPr>
          <p:cNvPr id="16" name="Shape 14"/>
          <p:cNvSpPr/>
          <p:nvPr/>
        </p:nvSpPr>
        <p:spPr>
          <a:xfrm>
            <a:off x="4846320" y="1984248"/>
            <a:ext cx="3566160" cy="274320"/>
          </a:xfrm>
          <a:prstGeom prst="rect">
            <a:avLst/>
          </a:prstGeom>
          <a:solidFill>
            <a:srgbClr val="FF6090">
              <a:alpha val="15000"/>
            </a:srgbClr>
          </a:solidFill>
          <a:ln/>
        </p:spPr>
      </p:sp>
      <p:sp>
        <p:nvSpPr>
          <p:cNvPr id="17" name="Text 15"/>
          <p:cNvSpPr/>
          <p:nvPr/>
        </p:nvSpPr>
        <p:spPr>
          <a:xfrm>
            <a:off x="4937760" y="1984248"/>
            <a:ext cx="3383280" cy="274320"/>
          </a:xfrm>
          <a:prstGeom prst="rect">
            <a:avLst/>
          </a:prstGeom>
          <a:noFill/>
          <a:ln/>
        </p:spPr>
        <p:txBody>
          <a:bodyPr wrap="square" lIns="0" tIns="0" rIns="0" bIns="0" rtlCol="0" anchor="ctr"/>
          <a:lstStyle/>
          <a:p>
            <a:pPr indent="0" marL="0">
              <a:buNone/>
            </a:pPr>
            <a:r>
              <a:rPr lang="en-US" sz="900" b="1" dirty="0">
                <a:solidFill>
                  <a:srgbClr val="FF6090"/>
                </a:solidFill>
                <a:latin typeface="Calibri" pitchFamily="34" charset="0"/>
                <a:ea typeface="Calibri" pitchFamily="34" charset="-122"/>
                <a:cs typeface="Calibri" pitchFamily="34" charset="-120"/>
              </a:rPr>
              <a:t>Gap: Requires large datasets for training</a:t>
            </a:r>
            <a:endParaRPr lang="en-US" sz="900" dirty="0"/>
          </a:p>
        </p:txBody>
      </p:sp>
      <p:sp>
        <p:nvSpPr>
          <p:cNvPr id="18" name="Shape 16"/>
          <p:cNvSpPr/>
          <p:nvPr/>
        </p:nvSpPr>
        <p:spPr>
          <a:xfrm>
            <a:off x="548640" y="2560320"/>
            <a:ext cx="3886200" cy="150876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548640" y="2560320"/>
            <a:ext cx="3886200" cy="45720"/>
          </a:xfrm>
          <a:prstGeom prst="rect">
            <a:avLst/>
          </a:prstGeom>
          <a:solidFill>
            <a:srgbClr val="CE93D8"/>
          </a:solidFill>
          <a:ln/>
        </p:spPr>
      </p:sp>
      <p:sp>
        <p:nvSpPr>
          <p:cNvPr id="20" name="Text 18"/>
          <p:cNvSpPr/>
          <p:nvPr/>
        </p:nvSpPr>
        <p:spPr>
          <a:xfrm>
            <a:off x="685800" y="2670048"/>
            <a:ext cx="3566160" cy="256032"/>
          </a:xfrm>
          <a:prstGeom prst="rect">
            <a:avLst/>
          </a:prstGeom>
          <a:noFill/>
          <a:ln/>
        </p:spPr>
        <p:txBody>
          <a:bodyPr wrap="square" lIns="0" tIns="0" rIns="0" bIns="0" rtlCol="0" anchor="ctr"/>
          <a:lstStyle/>
          <a:p>
            <a:pPr indent="0" marL="0">
              <a:buNone/>
            </a:pPr>
            <a:r>
              <a:rPr lang="en-US" sz="1050" b="1" dirty="0">
                <a:solidFill>
                  <a:srgbClr val="6A1B9A"/>
                </a:solidFill>
                <a:latin typeface="Trebuchet MS" pitchFamily="34" charset="0"/>
                <a:ea typeface="Trebuchet MS" pitchFamily="34" charset="-122"/>
                <a:cs typeface="Trebuchet MS" pitchFamily="34" charset="-120"/>
              </a:rPr>
              <a:t>Williams et al. (2018)</a:t>
            </a:r>
            <a:endParaRPr lang="en-US" sz="1050" dirty="0"/>
          </a:p>
        </p:txBody>
      </p:sp>
      <p:sp>
        <p:nvSpPr>
          <p:cNvPr id="21" name="Text 19"/>
          <p:cNvSpPr/>
          <p:nvPr/>
        </p:nvSpPr>
        <p:spPr>
          <a:xfrm>
            <a:off x="685800" y="2898648"/>
            <a:ext cx="3566160" cy="228600"/>
          </a:xfrm>
          <a:prstGeom prst="rect">
            <a:avLst/>
          </a:prstGeom>
          <a:noFill/>
          <a:ln/>
        </p:spPr>
        <p:txBody>
          <a:bodyPr wrap="square" lIns="0" tIns="0" rIns="0" bIns="0" rtlCol="0" anchor="ctr"/>
          <a:lstStyle/>
          <a:p>
            <a:pPr indent="0" marL="0">
              <a:buNone/>
            </a:pPr>
            <a:r>
              <a:rPr lang="en-US" sz="950" i="1" dirty="0">
                <a:solidFill>
                  <a:srgbClr val="CE93D8"/>
                </a:solidFill>
                <a:latin typeface="Calibri" pitchFamily="34" charset="0"/>
                <a:ea typeface="Calibri" pitchFamily="34" charset="-122"/>
                <a:cs typeface="Calibri" pitchFamily="34" charset="-120"/>
              </a:rPr>
              <a:t>A Comparative Study of Resume Screening Methods</a:t>
            </a:r>
            <a:endParaRPr lang="en-US" sz="950" dirty="0"/>
          </a:p>
        </p:txBody>
      </p:sp>
      <p:sp>
        <p:nvSpPr>
          <p:cNvPr id="22" name="Text 20"/>
          <p:cNvSpPr/>
          <p:nvPr/>
        </p:nvSpPr>
        <p:spPr>
          <a:xfrm>
            <a:off x="685800" y="3154680"/>
            <a:ext cx="3566160" cy="457200"/>
          </a:xfrm>
          <a:prstGeom prst="rect">
            <a:avLst/>
          </a:prstGeom>
          <a:noFill/>
          <a:ln/>
        </p:spPr>
        <p:txBody>
          <a:bodyPr wrap="square" lIns="0" tIns="0" rIns="0" bIns="0" rtlCol="0" anchor="ctr"/>
          <a:lstStyle/>
          <a:p>
            <a:pPr indent="0" marL="0">
              <a:lnSpc>
                <a:spcPct val="120000"/>
              </a:lnSpc>
              <a:buNone/>
            </a:pPr>
            <a:r>
              <a:rPr lang="en-US" sz="950" dirty="0">
                <a:solidFill>
                  <a:srgbClr val="1A0A2E"/>
                </a:solidFill>
                <a:latin typeface="Calibri" pitchFamily="34" charset="0"/>
                <a:ea typeface="Calibri" pitchFamily="34" charset="-122"/>
                <a:cs typeface="Calibri" pitchFamily="34" charset="-120"/>
              </a:rPr>
              <a:t>AI-powered resume screening systems outperform traditional methods.</a:t>
            </a:r>
            <a:endParaRPr lang="en-US" sz="950" dirty="0"/>
          </a:p>
        </p:txBody>
      </p:sp>
      <p:sp>
        <p:nvSpPr>
          <p:cNvPr id="23" name="Shape 21"/>
          <p:cNvSpPr/>
          <p:nvPr/>
        </p:nvSpPr>
        <p:spPr>
          <a:xfrm>
            <a:off x="685800" y="3675888"/>
            <a:ext cx="3566160" cy="274320"/>
          </a:xfrm>
          <a:prstGeom prst="rect">
            <a:avLst/>
          </a:prstGeom>
          <a:solidFill>
            <a:srgbClr val="FF6090">
              <a:alpha val="15000"/>
            </a:srgbClr>
          </a:solidFill>
          <a:ln/>
        </p:spPr>
      </p:sp>
      <p:sp>
        <p:nvSpPr>
          <p:cNvPr id="24" name="Text 22"/>
          <p:cNvSpPr/>
          <p:nvPr/>
        </p:nvSpPr>
        <p:spPr>
          <a:xfrm>
            <a:off x="777240" y="3675888"/>
            <a:ext cx="3383280" cy="274320"/>
          </a:xfrm>
          <a:prstGeom prst="rect">
            <a:avLst/>
          </a:prstGeom>
          <a:noFill/>
          <a:ln/>
        </p:spPr>
        <p:txBody>
          <a:bodyPr wrap="square" lIns="0" tIns="0" rIns="0" bIns="0" rtlCol="0" anchor="ctr"/>
          <a:lstStyle/>
          <a:p>
            <a:pPr indent="0" marL="0">
              <a:buNone/>
            </a:pPr>
            <a:r>
              <a:rPr lang="en-US" sz="900" b="1" dirty="0">
                <a:solidFill>
                  <a:srgbClr val="FF6090"/>
                </a:solidFill>
                <a:latin typeface="Calibri" pitchFamily="34" charset="0"/>
                <a:ea typeface="Calibri" pitchFamily="34" charset="-122"/>
                <a:cs typeface="Calibri" pitchFamily="34" charset="-120"/>
              </a:rPr>
              <a:t>Gap: Need for more robust and scalable solutions</a:t>
            </a:r>
            <a:endParaRPr lang="en-US" sz="900" dirty="0"/>
          </a:p>
        </p:txBody>
      </p:sp>
      <p:sp>
        <p:nvSpPr>
          <p:cNvPr id="25" name="Shape 23"/>
          <p:cNvSpPr/>
          <p:nvPr/>
        </p:nvSpPr>
        <p:spPr>
          <a:xfrm>
            <a:off x="4709160" y="2560320"/>
            <a:ext cx="3886200" cy="150876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26" name="Shape 24"/>
          <p:cNvSpPr/>
          <p:nvPr/>
        </p:nvSpPr>
        <p:spPr>
          <a:xfrm>
            <a:off x="4709160" y="2560320"/>
            <a:ext cx="3886200" cy="45720"/>
          </a:xfrm>
          <a:prstGeom prst="rect">
            <a:avLst/>
          </a:prstGeom>
          <a:solidFill>
            <a:srgbClr val="CE93D8"/>
          </a:solidFill>
          <a:ln/>
        </p:spPr>
      </p:sp>
      <p:sp>
        <p:nvSpPr>
          <p:cNvPr id="27" name="Text 25"/>
          <p:cNvSpPr/>
          <p:nvPr/>
        </p:nvSpPr>
        <p:spPr>
          <a:xfrm>
            <a:off x="4846320" y="2670048"/>
            <a:ext cx="3566160" cy="256032"/>
          </a:xfrm>
          <a:prstGeom prst="rect">
            <a:avLst/>
          </a:prstGeom>
          <a:noFill/>
          <a:ln/>
        </p:spPr>
        <p:txBody>
          <a:bodyPr wrap="square" lIns="0" tIns="0" rIns="0" bIns="0" rtlCol="0" anchor="ctr"/>
          <a:lstStyle/>
          <a:p>
            <a:pPr indent="0" marL="0">
              <a:buNone/>
            </a:pPr>
            <a:r>
              <a:rPr lang="en-US" sz="1050" b="1" dirty="0">
                <a:solidFill>
                  <a:srgbClr val="6A1B9A"/>
                </a:solidFill>
                <a:latin typeface="Trebuchet MS" pitchFamily="34" charset="0"/>
                <a:ea typeface="Trebuchet MS" pitchFamily="34" charset="-122"/>
                <a:cs typeface="Trebuchet MS" pitchFamily="34" charset="-120"/>
              </a:rPr>
              <a:t>Davis et al. (2017)</a:t>
            </a:r>
            <a:endParaRPr lang="en-US" sz="1050" dirty="0"/>
          </a:p>
        </p:txBody>
      </p:sp>
      <p:sp>
        <p:nvSpPr>
          <p:cNvPr id="28" name="Text 26"/>
          <p:cNvSpPr/>
          <p:nvPr/>
        </p:nvSpPr>
        <p:spPr>
          <a:xfrm>
            <a:off x="4846320" y="2898648"/>
            <a:ext cx="3566160" cy="228600"/>
          </a:xfrm>
          <a:prstGeom prst="rect">
            <a:avLst/>
          </a:prstGeom>
          <a:noFill/>
          <a:ln/>
        </p:spPr>
        <p:txBody>
          <a:bodyPr wrap="square" lIns="0" tIns="0" rIns="0" bIns="0" rtlCol="0" anchor="ctr"/>
          <a:lstStyle/>
          <a:p>
            <a:pPr indent="0" marL="0">
              <a:buNone/>
            </a:pPr>
            <a:r>
              <a:rPr lang="en-US" sz="950" i="1" dirty="0">
                <a:solidFill>
                  <a:srgbClr val="CE93D8"/>
                </a:solidFill>
                <a:latin typeface="Calibri" pitchFamily="34" charset="0"/>
                <a:ea typeface="Calibri" pitchFamily="34" charset="-122"/>
                <a:cs typeface="Calibri" pitchFamily="34" charset="-120"/>
              </a:rPr>
              <a:t>The Future of Resume Screening: Trends and Predictions</a:t>
            </a:r>
            <a:endParaRPr lang="en-US" sz="950" dirty="0"/>
          </a:p>
        </p:txBody>
      </p:sp>
      <p:sp>
        <p:nvSpPr>
          <p:cNvPr id="29" name="Text 27"/>
          <p:cNvSpPr/>
          <p:nvPr/>
        </p:nvSpPr>
        <p:spPr>
          <a:xfrm>
            <a:off x="4846320" y="3154680"/>
            <a:ext cx="3566160" cy="457200"/>
          </a:xfrm>
          <a:prstGeom prst="rect">
            <a:avLst/>
          </a:prstGeom>
          <a:noFill/>
          <a:ln/>
        </p:spPr>
        <p:txBody>
          <a:bodyPr wrap="square" lIns="0" tIns="0" rIns="0" bIns="0" rtlCol="0" anchor="ctr"/>
          <a:lstStyle/>
          <a:p>
            <a:pPr indent="0" marL="0">
              <a:lnSpc>
                <a:spcPct val="120000"/>
              </a:lnSpc>
              <a:buNone/>
            </a:pPr>
            <a:r>
              <a:rPr lang="en-US" sz="950" dirty="0">
                <a:solidFill>
                  <a:srgbClr val="1A0A2E"/>
                </a:solidFill>
                <a:latin typeface="Calibri" pitchFamily="34" charset="0"/>
                <a:ea typeface="Calibri" pitchFamily="34" charset="-122"/>
                <a:cs typeface="Calibri" pitchFamily="34" charset="-120"/>
              </a:rPr>
              <a:t>The use of AI and NLP will become increasingly prevalent in resume screening.</a:t>
            </a:r>
            <a:endParaRPr lang="en-US" sz="950" dirty="0"/>
          </a:p>
        </p:txBody>
      </p:sp>
      <p:sp>
        <p:nvSpPr>
          <p:cNvPr id="30" name="Shape 28"/>
          <p:cNvSpPr/>
          <p:nvPr/>
        </p:nvSpPr>
        <p:spPr>
          <a:xfrm>
            <a:off x="4846320" y="3675888"/>
            <a:ext cx="3566160" cy="274320"/>
          </a:xfrm>
          <a:prstGeom prst="rect">
            <a:avLst/>
          </a:prstGeom>
          <a:solidFill>
            <a:srgbClr val="FF6090">
              <a:alpha val="15000"/>
            </a:srgbClr>
          </a:solidFill>
          <a:ln/>
        </p:spPr>
      </p:sp>
      <p:sp>
        <p:nvSpPr>
          <p:cNvPr id="31" name="Text 29"/>
          <p:cNvSpPr/>
          <p:nvPr/>
        </p:nvSpPr>
        <p:spPr>
          <a:xfrm>
            <a:off x="4937760" y="3675888"/>
            <a:ext cx="3383280" cy="274320"/>
          </a:xfrm>
          <a:prstGeom prst="rect">
            <a:avLst/>
          </a:prstGeom>
          <a:noFill/>
          <a:ln/>
        </p:spPr>
        <p:txBody>
          <a:bodyPr wrap="square" lIns="0" tIns="0" rIns="0" bIns="0" rtlCol="0" anchor="ctr"/>
          <a:lstStyle/>
          <a:p>
            <a:pPr indent="0" marL="0">
              <a:buNone/>
            </a:pPr>
            <a:r>
              <a:rPr lang="en-US" sz="900" b="1" dirty="0">
                <a:solidFill>
                  <a:srgbClr val="FF6090"/>
                </a:solidFill>
                <a:latin typeface="Calibri" pitchFamily="34" charset="0"/>
                <a:ea typeface="Calibri" pitchFamily="34" charset="-122"/>
                <a:cs typeface="Calibri" pitchFamily="34" charset="-120"/>
              </a:rPr>
              <a:t>Gap: Limited understanding of the impact on hiring decisions</a:t>
            </a:r>
            <a:endParaRPr lang="en-US" sz="900" dirty="0"/>
          </a:p>
        </p:txBody>
      </p:sp>
      <p:sp>
        <p:nvSpPr>
          <p:cNvPr id="32" name="Shape 30"/>
          <p:cNvSpPr/>
          <p:nvPr/>
        </p:nvSpPr>
        <p:spPr>
          <a:xfrm>
            <a:off x="548640" y="4343400"/>
            <a:ext cx="8138160" cy="502920"/>
          </a:xfrm>
          <a:prstGeom prst="rect">
            <a:avLst/>
          </a:prstGeom>
          <a:solidFill>
            <a:srgbClr val="1A0A2E"/>
          </a:solidFill>
          <a:ln/>
        </p:spPr>
      </p:sp>
      <p:sp>
        <p:nvSpPr>
          <p:cNvPr id="33" name="Text 31"/>
          <p:cNvSpPr/>
          <p:nvPr/>
        </p:nvSpPr>
        <p:spPr>
          <a:xfrm>
            <a:off x="731520" y="4343400"/>
            <a:ext cx="77724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Research Gap: The existing literature highlights the need for more robust and scalable AI-powered resume screening systems that leverage NLP techniques.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616"/>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E93D8"/>
          </a:solidFill>
          <a:ln/>
        </p:spPr>
      </p:sp>
      <p:sp>
        <p:nvSpPr>
          <p:cNvPr id="3" name="Shape 1"/>
          <p:cNvSpPr/>
          <p:nvPr/>
        </p:nvSpPr>
        <p:spPr>
          <a:xfrm>
            <a:off x="0" y="5088636"/>
            <a:ext cx="9144000" cy="54864"/>
          </a:xfrm>
          <a:prstGeom prst="rect">
            <a:avLst/>
          </a:prstGeom>
          <a:solidFill>
            <a:srgbClr val="CE93D8"/>
          </a:solidFill>
          <a:ln/>
        </p:spPr>
      </p:sp>
      <p:sp>
        <p:nvSpPr>
          <p:cNvPr id="4" name="Text 2"/>
          <p:cNvSpPr/>
          <p:nvPr/>
        </p:nvSpPr>
        <p:spPr>
          <a:xfrm>
            <a:off x="548640" y="320040"/>
            <a:ext cx="7315200" cy="50292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Proposed System</a:t>
            </a:r>
            <a:endParaRPr lang="en-US" sz="3000" dirty="0"/>
          </a:p>
        </p:txBody>
      </p:sp>
      <p:sp>
        <p:nvSpPr>
          <p:cNvPr id="5" name="Text 3"/>
          <p:cNvSpPr/>
          <p:nvPr/>
        </p:nvSpPr>
        <p:spPr>
          <a:xfrm>
            <a:off x="548640" y="822960"/>
            <a:ext cx="7315200" cy="320040"/>
          </a:xfrm>
          <a:prstGeom prst="rect">
            <a:avLst/>
          </a:prstGeom>
          <a:noFill/>
          <a:ln/>
        </p:spPr>
        <p:txBody>
          <a:bodyPr wrap="square" lIns="0" tIns="0" rIns="0" bIns="0" rtlCol="0" anchor="ctr"/>
          <a:lstStyle/>
          <a:p>
            <a:pPr indent="0" marL="0">
              <a:buNone/>
            </a:pPr>
            <a:r>
              <a:rPr lang="en-US" sz="1200" i="1" dirty="0">
                <a:solidFill>
                  <a:srgbClr val="CE93D8"/>
                </a:solidFill>
                <a:latin typeface="Calibri" pitchFamily="34" charset="0"/>
                <a:ea typeface="Calibri" pitchFamily="34" charset="-122"/>
                <a:cs typeface="Calibri" pitchFamily="34" charset="-120"/>
              </a:rPr>
              <a:t>AI-Powered Resume Screening and Ranking System</a:t>
            </a:r>
            <a:endParaRPr lang="en-US" sz="1200" dirty="0"/>
          </a:p>
        </p:txBody>
      </p:sp>
      <p:sp>
        <p:nvSpPr>
          <p:cNvPr id="6" name="Shape 4"/>
          <p:cNvSpPr/>
          <p:nvPr/>
        </p:nvSpPr>
        <p:spPr>
          <a:xfrm>
            <a:off x="457200" y="1417320"/>
            <a:ext cx="1920240" cy="3108960"/>
          </a:xfrm>
          <a:prstGeom prst="rect">
            <a:avLst/>
          </a:prstGeom>
          <a:solidFill>
            <a:srgbClr val="1A0A2E"/>
          </a:solidFill>
          <a:ln w="3810">
            <a:solidFill>
              <a:srgbClr val="8E6EA6"/>
            </a:solidFill>
            <a:prstDash val="solid"/>
          </a:ln>
          <a:effectLst>
            <a:outerShdw sx="100000" sy="100000" kx="0" ky="0" algn="bl" rotWithShape="0" blurRad="101600" dist="38100" dir="8100000">
              <a:srgbClr val="000000">
                <a:alpha val="25000"/>
              </a:srgbClr>
            </a:outerShdw>
          </a:effectLst>
        </p:spPr>
      </p:sp>
      <p:sp>
        <p:nvSpPr>
          <p:cNvPr id="7" name="Shape 5"/>
          <p:cNvSpPr/>
          <p:nvPr/>
        </p:nvSpPr>
        <p:spPr>
          <a:xfrm>
            <a:off x="1051560" y="1645920"/>
            <a:ext cx="731520" cy="731520"/>
          </a:xfrm>
          <a:prstGeom prst="ellipse">
            <a:avLst/>
          </a:prstGeom>
          <a:solidFill>
            <a:srgbClr val="6A1B9A"/>
          </a:solidFill>
          <a:ln/>
        </p:spPr>
      </p:sp>
      <p:pic>
        <p:nvPicPr>
          <p:cNvPr id="8" name="Image 0" descr="preencoded.png">    </p:cNvPr>
          <p:cNvPicPr>
            <a:picLocks noChangeAspect="1"/>
          </p:cNvPicPr>
          <p:nvPr/>
        </p:nvPicPr>
        <p:blipFill>
          <a:blip r:embed="rId1"/>
          <a:stretch>
            <a:fillRect/>
          </a:stretch>
        </p:blipFill>
        <p:spPr>
          <a:xfrm>
            <a:off x="1188720" y="1783080"/>
            <a:ext cx="457200" cy="457200"/>
          </a:xfrm>
          <a:prstGeom prst="rect">
            <a:avLst/>
          </a:prstGeom>
        </p:spPr>
      </p:pic>
      <p:sp>
        <p:nvSpPr>
          <p:cNvPr id="9" name="Text 6"/>
          <p:cNvSpPr/>
          <p:nvPr/>
        </p:nvSpPr>
        <p:spPr>
          <a:xfrm>
            <a:off x="548640" y="2514600"/>
            <a:ext cx="1737360" cy="457200"/>
          </a:xfrm>
          <a:prstGeom prst="rect">
            <a:avLst/>
          </a:prstGeom>
          <a:noFill/>
          <a:ln/>
        </p:spPr>
        <p:txBody>
          <a:bodyPr wrap="square" lIns="0" tIns="0" rIns="0" bIns="0" rtlCol="0" anchor="ctr"/>
          <a:lstStyle/>
          <a:p>
            <a:pPr algn="ctr" indent="0" marL="0">
              <a:buNone/>
            </a:pPr>
            <a:r>
              <a:rPr lang="en-US" sz="1250" b="1" dirty="0">
                <a:solidFill>
                  <a:srgbClr val="CE93D8"/>
                </a:solidFill>
                <a:latin typeface="Trebuchet MS" pitchFamily="34" charset="0"/>
                <a:ea typeface="Trebuchet MS" pitchFamily="34" charset="-122"/>
                <a:cs typeface="Trebuchet MS" pitchFamily="34" charset="-120"/>
              </a:rPr>
              <a:t>Resume Parsing</a:t>
            </a:r>
            <a:endParaRPr lang="en-US" sz="1250" dirty="0"/>
          </a:p>
        </p:txBody>
      </p:sp>
      <p:sp>
        <p:nvSpPr>
          <p:cNvPr id="10" name="Text 7"/>
          <p:cNvSpPr/>
          <p:nvPr/>
        </p:nvSpPr>
        <p:spPr>
          <a:xfrm>
            <a:off x="548640" y="2971800"/>
            <a:ext cx="1737360" cy="1371600"/>
          </a:xfrm>
          <a:prstGeom prst="rect">
            <a:avLst/>
          </a:prstGeom>
          <a:noFill/>
          <a:ln/>
        </p:spPr>
        <p:txBody>
          <a:bodyPr wrap="square" lIns="0" tIns="0" rIns="0" bIns="0" rtlCol="0" anchor="t"/>
          <a:lstStyle/>
          <a:p>
            <a:pPr algn="ctr" indent="0" marL="0">
              <a:lnSpc>
                <a:spcPct val="130000"/>
              </a:lnSpc>
              <a:buNone/>
            </a:pPr>
            <a:r>
              <a:rPr lang="en-US" sz="1000" dirty="0">
                <a:solidFill>
                  <a:srgbClr val="B8A090"/>
                </a:solidFill>
                <a:latin typeface="Calibri" pitchFamily="34" charset="0"/>
                <a:ea typeface="Calibri" pitchFamily="34" charset="-122"/>
                <a:cs typeface="Calibri" pitchFamily="34" charset="-120"/>
              </a:rPr>
              <a:t>Extract relevant information from resumes using NLP techniques</a:t>
            </a:r>
            <a:endParaRPr lang="en-US" sz="1000" dirty="0"/>
          </a:p>
        </p:txBody>
      </p:sp>
      <p:sp>
        <p:nvSpPr>
          <p:cNvPr id="11" name="Shape 8"/>
          <p:cNvSpPr/>
          <p:nvPr/>
        </p:nvSpPr>
        <p:spPr>
          <a:xfrm>
            <a:off x="2606040" y="1417320"/>
            <a:ext cx="1920240" cy="3108960"/>
          </a:xfrm>
          <a:prstGeom prst="rect">
            <a:avLst/>
          </a:prstGeom>
          <a:solidFill>
            <a:srgbClr val="1A0A2E"/>
          </a:solidFill>
          <a:ln w="3810">
            <a:solidFill>
              <a:srgbClr val="8E6EA6"/>
            </a:solidFill>
            <a:prstDash val="solid"/>
          </a:ln>
          <a:effectLst>
            <a:outerShdw sx="100000" sy="100000" kx="0" ky="0" algn="bl" rotWithShape="0" blurRad="101600" dist="38100" dir="8100000">
              <a:srgbClr val="000000">
                <a:alpha val="25000"/>
              </a:srgbClr>
            </a:outerShdw>
          </a:effectLst>
        </p:spPr>
      </p:sp>
      <p:sp>
        <p:nvSpPr>
          <p:cNvPr id="12" name="Shape 9"/>
          <p:cNvSpPr/>
          <p:nvPr/>
        </p:nvSpPr>
        <p:spPr>
          <a:xfrm>
            <a:off x="3200400" y="1645920"/>
            <a:ext cx="731520" cy="731520"/>
          </a:xfrm>
          <a:prstGeom prst="ellipse">
            <a:avLst/>
          </a:prstGeom>
          <a:solidFill>
            <a:srgbClr val="6A1B9A"/>
          </a:solidFill>
          <a:ln/>
        </p:spPr>
      </p:sp>
      <p:pic>
        <p:nvPicPr>
          <p:cNvPr id="13" name="Image 1" descr="preencoded.png">    </p:cNvPr>
          <p:cNvPicPr>
            <a:picLocks noChangeAspect="1"/>
          </p:cNvPicPr>
          <p:nvPr/>
        </p:nvPicPr>
        <p:blipFill>
          <a:blip r:embed="rId2"/>
          <a:stretch>
            <a:fillRect/>
          </a:stretch>
        </p:blipFill>
        <p:spPr>
          <a:xfrm>
            <a:off x="3337560" y="1783080"/>
            <a:ext cx="457200" cy="457200"/>
          </a:xfrm>
          <a:prstGeom prst="rect">
            <a:avLst/>
          </a:prstGeom>
        </p:spPr>
      </p:pic>
      <p:sp>
        <p:nvSpPr>
          <p:cNvPr id="14" name="Text 10"/>
          <p:cNvSpPr/>
          <p:nvPr/>
        </p:nvSpPr>
        <p:spPr>
          <a:xfrm>
            <a:off x="2697480" y="2514600"/>
            <a:ext cx="1737360" cy="457200"/>
          </a:xfrm>
          <a:prstGeom prst="rect">
            <a:avLst/>
          </a:prstGeom>
          <a:noFill/>
          <a:ln/>
        </p:spPr>
        <p:txBody>
          <a:bodyPr wrap="square" lIns="0" tIns="0" rIns="0" bIns="0" rtlCol="0" anchor="ctr"/>
          <a:lstStyle/>
          <a:p>
            <a:pPr algn="ctr" indent="0" marL="0">
              <a:buNone/>
            </a:pPr>
            <a:r>
              <a:rPr lang="en-US" sz="1250" b="1" dirty="0">
                <a:solidFill>
                  <a:srgbClr val="CE93D8"/>
                </a:solidFill>
                <a:latin typeface="Trebuchet MS" pitchFamily="34" charset="0"/>
                <a:ea typeface="Trebuchet MS" pitchFamily="34" charset="-122"/>
                <a:cs typeface="Trebuchet MS" pitchFamily="34" charset="-120"/>
              </a:rPr>
              <a:t>Skill and Experience Matching</a:t>
            </a:r>
            <a:endParaRPr lang="en-US" sz="1250" dirty="0"/>
          </a:p>
        </p:txBody>
      </p:sp>
      <p:sp>
        <p:nvSpPr>
          <p:cNvPr id="15" name="Text 11"/>
          <p:cNvSpPr/>
          <p:nvPr/>
        </p:nvSpPr>
        <p:spPr>
          <a:xfrm>
            <a:off x="2697480" y="2971800"/>
            <a:ext cx="1737360" cy="1371600"/>
          </a:xfrm>
          <a:prstGeom prst="rect">
            <a:avLst/>
          </a:prstGeom>
          <a:noFill/>
          <a:ln/>
        </p:spPr>
        <p:txBody>
          <a:bodyPr wrap="square" lIns="0" tIns="0" rIns="0" bIns="0" rtlCol="0" anchor="t"/>
          <a:lstStyle/>
          <a:p>
            <a:pPr algn="ctr" indent="0" marL="0">
              <a:lnSpc>
                <a:spcPct val="130000"/>
              </a:lnSpc>
              <a:buNone/>
            </a:pPr>
            <a:r>
              <a:rPr lang="en-US" sz="1000" dirty="0">
                <a:solidFill>
                  <a:srgbClr val="B8A090"/>
                </a:solidFill>
                <a:latin typeface="Calibri" pitchFamily="34" charset="0"/>
                <a:ea typeface="Calibri" pitchFamily="34" charset="-122"/>
                <a:cs typeface="Calibri" pitchFamily="34" charset="-120"/>
              </a:rPr>
              <a:t>Match candidate skills and experience with job requirements</a:t>
            </a:r>
            <a:endParaRPr lang="en-US" sz="1000" dirty="0"/>
          </a:p>
        </p:txBody>
      </p:sp>
      <p:sp>
        <p:nvSpPr>
          <p:cNvPr id="16" name="Shape 12"/>
          <p:cNvSpPr/>
          <p:nvPr/>
        </p:nvSpPr>
        <p:spPr>
          <a:xfrm>
            <a:off x="4754880" y="1417320"/>
            <a:ext cx="1920240" cy="3108960"/>
          </a:xfrm>
          <a:prstGeom prst="rect">
            <a:avLst/>
          </a:prstGeom>
          <a:solidFill>
            <a:srgbClr val="1A0A2E"/>
          </a:solidFill>
          <a:ln w="3810">
            <a:solidFill>
              <a:srgbClr val="8E6EA6"/>
            </a:solidFill>
            <a:prstDash val="solid"/>
          </a:ln>
          <a:effectLst>
            <a:outerShdw sx="100000" sy="100000" kx="0" ky="0" algn="bl" rotWithShape="0" blurRad="101600" dist="38100" dir="8100000">
              <a:srgbClr val="000000">
                <a:alpha val="25000"/>
              </a:srgbClr>
            </a:outerShdw>
          </a:effectLst>
        </p:spPr>
      </p:sp>
      <p:sp>
        <p:nvSpPr>
          <p:cNvPr id="17" name="Shape 13"/>
          <p:cNvSpPr/>
          <p:nvPr/>
        </p:nvSpPr>
        <p:spPr>
          <a:xfrm>
            <a:off x="5349240" y="1645920"/>
            <a:ext cx="731520" cy="731520"/>
          </a:xfrm>
          <a:prstGeom prst="ellipse">
            <a:avLst/>
          </a:prstGeom>
          <a:solidFill>
            <a:srgbClr val="6A1B9A"/>
          </a:solidFill>
          <a:ln/>
        </p:spPr>
      </p:sp>
      <p:pic>
        <p:nvPicPr>
          <p:cNvPr id="18" name="Image 2" descr="preencoded.png">    </p:cNvPr>
          <p:cNvPicPr>
            <a:picLocks noChangeAspect="1"/>
          </p:cNvPicPr>
          <p:nvPr/>
        </p:nvPicPr>
        <p:blipFill>
          <a:blip r:embed="rId3"/>
          <a:stretch>
            <a:fillRect/>
          </a:stretch>
        </p:blipFill>
        <p:spPr>
          <a:xfrm>
            <a:off x="5486400" y="1783080"/>
            <a:ext cx="457200" cy="457200"/>
          </a:xfrm>
          <a:prstGeom prst="rect">
            <a:avLst/>
          </a:prstGeom>
        </p:spPr>
      </p:pic>
      <p:sp>
        <p:nvSpPr>
          <p:cNvPr id="19" name="Text 14"/>
          <p:cNvSpPr/>
          <p:nvPr/>
        </p:nvSpPr>
        <p:spPr>
          <a:xfrm>
            <a:off x="4846320" y="2514600"/>
            <a:ext cx="1737360" cy="457200"/>
          </a:xfrm>
          <a:prstGeom prst="rect">
            <a:avLst/>
          </a:prstGeom>
          <a:noFill/>
          <a:ln/>
        </p:spPr>
        <p:txBody>
          <a:bodyPr wrap="square" lIns="0" tIns="0" rIns="0" bIns="0" rtlCol="0" anchor="ctr"/>
          <a:lstStyle/>
          <a:p>
            <a:pPr algn="ctr" indent="0" marL="0">
              <a:buNone/>
            </a:pPr>
            <a:r>
              <a:rPr lang="en-US" sz="1250" b="1" dirty="0">
                <a:solidFill>
                  <a:srgbClr val="CE93D8"/>
                </a:solidFill>
                <a:latin typeface="Trebuchet MS" pitchFamily="34" charset="0"/>
                <a:ea typeface="Trebuchet MS" pitchFamily="34" charset="-122"/>
                <a:cs typeface="Trebuchet MS" pitchFamily="34" charset="-120"/>
              </a:rPr>
              <a:t>Candidate Ranking</a:t>
            </a:r>
            <a:endParaRPr lang="en-US" sz="1250" dirty="0"/>
          </a:p>
        </p:txBody>
      </p:sp>
      <p:sp>
        <p:nvSpPr>
          <p:cNvPr id="20" name="Text 15"/>
          <p:cNvSpPr/>
          <p:nvPr/>
        </p:nvSpPr>
        <p:spPr>
          <a:xfrm>
            <a:off x="4846320" y="2971800"/>
            <a:ext cx="1737360" cy="1371600"/>
          </a:xfrm>
          <a:prstGeom prst="rect">
            <a:avLst/>
          </a:prstGeom>
          <a:noFill/>
          <a:ln/>
        </p:spPr>
        <p:txBody>
          <a:bodyPr wrap="square" lIns="0" tIns="0" rIns="0" bIns="0" rtlCol="0" anchor="t"/>
          <a:lstStyle/>
          <a:p>
            <a:pPr algn="ctr" indent="0" marL="0">
              <a:lnSpc>
                <a:spcPct val="130000"/>
              </a:lnSpc>
              <a:buNone/>
            </a:pPr>
            <a:r>
              <a:rPr lang="en-US" sz="1000" dirty="0">
                <a:solidFill>
                  <a:srgbClr val="B8A090"/>
                </a:solidFill>
                <a:latin typeface="Calibri" pitchFamily="34" charset="0"/>
                <a:ea typeface="Calibri" pitchFamily="34" charset="-122"/>
                <a:cs typeface="Calibri" pitchFamily="34" charset="-120"/>
              </a:rPr>
              <a:t>Rank candidates based on their suitability for the job opening</a:t>
            </a:r>
            <a:endParaRPr lang="en-US" sz="1000" dirty="0"/>
          </a:p>
        </p:txBody>
      </p:sp>
      <p:sp>
        <p:nvSpPr>
          <p:cNvPr id="21" name="Shape 16"/>
          <p:cNvSpPr/>
          <p:nvPr/>
        </p:nvSpPr>
        <p:spPr>
          <a:xfrm>
            <a:off x="6903720" y="1417320"/>
            <a:ext cx="1920240" cy="3108960"/>
          </a:xfrm>
          <a:prstGeom prst="rect">
            <a:avLst/>
          </a:prstGeom>
          <a:solidFill>
            <a:srgbClr val="1A0A2E"/>
          </a:solidFill>
          <a:ln w="3810">
            <a:solidFill>
              <a:srgbClr val="8E6EA6"/>
            </a:solidFill>
            <a:prstDash val="solid"/>
          </a:ln>
          <a:effectLst>
            <a:outerShdw sx="100000" sy="100000" kx="0" ky="0" algn="bl" rotWithShape="0" blurRad="101600" dist="38100" dir="8100000">
              <a:srgbClr val="000000">
                <a:alpha val="25000"/>
              </a:srgbClr>
            </a:outerShdw>
          </a:effectLst>
        </p:spPr>
      </p:sp>
      <p:sp>
        <p:nvSpPr>
          <p:cNvPr id="22" name="Shape 17"/>
          <p:cNvSpPr/>
          <p:nvPr/>
        </p:nvSpPr>
        <p:spPr>
          <a:xfrm>
            <a:off x="7498080" y="1645920"/>
            <a:ext cx="731520" cy="731520"/>
          </a:xfrm>
          <a:prstGeom prst="ellipse">
            <a:avLst/>
          </a:prstGeom>
          <a:solidFill>
            <a:srgbClr val="6A1B9A"/>
          </a:solidFill>
          <a:ln/>
        </p:spPr>
      </p:sp>
      <p:pic>
        <p:nvPicPr>
          <p:cNvPr id="23" name="Image 3" descr="preencoded.png">    </p:cNvPr>
          <p:cNvPicPr>
            <a:picLocks noChangeAspect="1"/>
          </p:cNvPicPr>
          <p:nvPr/>
        </p:nvPicPr>
        <p:blipFill>
          <a:blip r:embed="rId4"/>
          <a:stretch>
            <a:fillRect/>
          </a:stretch>
        </p:blipFill>
        <p:spPr>
          <a:xfrm>
            <a:off x="7635240" y="1783080"/>
            <a:ext cx="457200" cy="457200"/>
          </a:xfrm>
          <a:prstGeom prst="rect">
            <a:avLst/>
          </a:prstGeom>
        </p:spPr>
      </p:pic>
      <p:sp>
        <p:nvSpPr>
          <p:cNvPr id="24" name="Text 18"/>
          <p:cNvSpPr/>
          <p:nvPr/>
        </p:nvSpPr>
        <p:spPr>
          <a:xfrm>
            <a:off x="6995160" y="2514600"/>
            <a:ext cx="1737360" cy="457200"/>
          </a:xfrm>
          <a:prstGeom prst="rect">
            <a:avLst/>
          </a:prstGeom>
          <a:noFill/>
          <a:ln/>
        </p:spPr>
        <p:txBody>
          <a:bodyPr wrap="square" lIns="0" tIns="0" rIns="0" bIns="0" rtlCol="0" anchor="ctr"/>
          <a:lstStyle/>
          <a:p>
            <a:pPr algn="ctr" indent="0" marL="0">
              <a:buNone/>
            </a:pPr>
            <a:r>
              <a:rPr lang="en-US" sz="1250" b="1" dirty="0">
                <a:solidFill>
                  <a:srgbClr val="CE93D8"/>
                </a:solidFill>
                <a:latin typeface="Trebuchet MS" pitchFamily="34" charset="0"/>
                <a:ea typeface="Trebuchet MS" pitchFamily="34" charset="-122"/>
                <a:cs typeface="Trebuchet MS" pitchFamily="34" charset="-120"/>
              </a:rPr>
              <a:t>User-Friendly Interface</a:t>
            </a:r>
            <a:endParaRPr lang="en-US" sz="1250" dirty="0"/>
          </a:p>
        </p:txBody>
      </p:sp>
      <p:sp>
        <p:nvSpPr>
          <p:cNvPr id="25" name="Text 19"/>
          <p:cNvSpPr/>
          <p:nvPr/>
        </p:nvSpPr>
        <p:spPr>
          <a:xfrm>
            <a:off x="6995160" y="2971800"/>
            <a:ext cx="1737360" cy="1371600"/>
          </a:xfrm>
          <a:prstGeom prst="rect">
            <a:avLst/>
          </a:prstGeom>
          <a:noFill/>
          <a:ln/>
        </p:spPr>
        <p:txBody>
          <a:bodyPr wrap="square" lIns="0" tIns="0" rIns="0" bIns="0" rtlCol="0" anchor="t"/>
          <a:lstStyle/>
          <a:p>
            <a:pPr algn="ctr" indent="0" marL="0">
              <a:lnSpc>
                <a:spcPct val="130000"/>
              </a:lnSpc>
              <a:buNone/>
            </a:pPr>
            <a:r>
              <a:rPr lang="en-US" sz="1000" dirty="0">
                <a:solidFill>
                  <a:srgbClr val="B8A090"/>
                </a:solidFill>
                <a:latin typeface="Calibri" pitchFamily="34" charset="0"/>
                <a:ea typeface="Calibri" pitchFamily="34" charset="-122"/>
                <a:cs typeface="Calibri" pitchFamily="34" charset="-120"/>
              </a:rPr>
              <a:t>Provide an intuitive interface for HR professionals and recruiters to upload resumes and view results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0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A1B9A"/>
          </a:solidFill>
          <a:ln/>
        </p:spPr>
      </p:sp>
      <p:sp>
        <p:nvSpPr>
          <p:cNvPr id="3" name="Text 1"/>
          <p:cNvSpPr/>
          <p:nvPr/>
        </p:nvSpPr>
        <p:spPr>
          <a:xfrm>
            <a:off x="548640" y="274320"/>
            <a:ext cx="4572000" cy="457200"/>
          </a:xfrm>
          <a:prstGeom prst="rect">
            <a:avLst/>
          </a:prstGeom>
          <a:noFill/>
          <a:ln/>
        </p:spPr>
        <p:txBody>
          <a:bodyPr wrap="square" lIns="0" tIns="0" rIns="0" bIns="0" rtlCol="0" anchor="ctr"/>
          <a:lstStyle/>
          <a:p>
            <a:pPr indent="0" marL="0">
              <a:buNone/>
            </a:pPr>
            <a:r>
              <a:rPr lang="en-US" sz="2800" b="1" dirty="0">
                <a:solidFill>
                  <a:srgbClr val="6A1B9A"/>
                </a:solidFill>
                <a:latin typeface="Trebuchet MS" pitchFamily="34" charset="0"/>
                <a:ea typeface="Trebuchet MS" pitchFamily="34" charset="-122"/>
                <a:cs typeface="Trebuchet MS" pitchFamily="34" charset="-120"/>
              </a:rPr>
              <a:t>System Requirements</a:t>
            </a:r>
            <a:endParaRPr lang="en-US" sz="2800" dirty="0"/>
          </a:p>
        </p:txBody>
      </p:sp>
      <p:sp>
        <p:nvSpPr>
          <p:cNvPr id="4" name="Shape 2"/>
          <p:cNvSpPr/>
          <p:nvPr/>
        </p:nvSpPr>
        <p:spPr>
          <a:xfrm>
            <a:off x="548640" y="868680"/>
            <a:ext cx="3840480" cy="187452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548640" y="868680"/>
            <a:ext cx="3840480" cy="365760"/>
          </a:xfrm>
          <a:prstGeom prst="rect">
            <a:avLst/>
          </a:prstGeom>
          <a:solidFill>
            <a:srgbClr val="1A0A2E"/>
          </a:solidFill>
          <a:ln/>
        </p:spPr>
      </p:sp>
      <p:sp>
        <p:nvSpPr>
          <p:cNvPr id="6" name="Text 4"/>
          <p:cNvSpPr/>
          <p:nvPr/>
        </p:nvSpPr>
        <p:spPr>
          <a:xfrm>
            <a:off x="731520" y="868680"/>
            <a:ext cx="3474720" cy="36576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Hardware Requirements</a:t>
            </a:r>
            <a:endParaRPr lang="en-US" sz="1250" dirty="0"/>
          </a:p>
        </p:txBody>
      </p:sp>
      <p:sp>
        <p:nvSpPr>
          <p:cNvPr id="7" name="Text 5"/>
          <p:cNvSpPr/>
          <p:nvPr/>
        </p:nvSpPr>
        <p:spPr>
          <a:xfrm>
            <a:off x="731520" y="1325880"/>
            <a:ext cx="3474720" cy="1325880"/>
          </a:xfrm>
          <a:prstGeom prst="rect">
            <a:avLst/>
          </a:prstGeom>
          <a:noFill/>
          <a:ln/>
        </p:spPr>
        <p:txBody>
          <a:bodyPr wrap="square" rtlCol="0" anchor="ctr"/>
          <a:lstStyle/>
          <a:p>
            <a:pPr marL="342900" indent="-342900">
              <a:spcAft>
                <a:spcPts val="400"/>
              </a:spcAft>
              <a:buSzPct val="100000"/>
              <a:buChar char="•"/>
            </a:pPr>
            <a:r>
              <a:rPr lang="en-US" sz="1100" dirty="0">
                <a:solidFill>
                  <a:srgbClr val="1A0A2E"/>
                </a:solidFill>
                <a:latin typeface="Calibri" pitchFamily="34" charset="0"/>
                <a:ea typeface="Calibri" pitchFamily="34" charset="-122"/>
                <a:cs typeface="Calibri" pitchFamily="34" charset="-120"/>
              </a:rPr>
              <a:t>Intel Core i5 Processor</a:t>
            </a:r>
            <a:endParaRPr lang="en-US" sz="1100" dirty="0"/>
          </a:p>
          <a:p>
            <a:pPr marL="342900" indent="-342900">
              <a:spcAft>
                <a:spcPts val="400"/>
              </a:spcAft>
              <a:buSzPct val="100000"/>
              <a:buChar char="•"/>
            </a:pPr>
            <a:r>
              <a:rPr lang="en-US" sz="1100" dirty="0">
                <a:solidFill>
                  <a:srgbClr val="1A0A2E"/>
                </a:solidFill>
                <a:latin typeface="Calibri" pitchFamily="34" charset="0"/>
                <a:ea typeface="Calibri" pitchFamily="34" charset="-122"/>
                <a:cs typeface="Calibri" pitchFamily="34" charset="-120"/>
              </a:rPr>
              <a:t>8 GB RAM</a:t>
            </a:r>
            <a:endParaRPr lang="en-US" sz="1100" dirty="0"/>
          </a:p>
          <a:p>
            <a:pPr marL="342900" indent="-342900">
              <a:spcAft>
                <a:spcPts val="400"/>
              </a:spcAft>
              <a:buSzPct val="100000"/>
              <a:buChar char="•"/>
            </a:pPr>
            <a:r>
              <a:rPr lang="en-US" sz="1100" dirty="0">
                <a:solidFill>
                  <a:srgbClr val="1A0A2E"/>
                </a:solidFill>
                <a:latin typeface="Calibri" pitchFamily="34" charset="0"/>
                <a:ea typeface="Calibri" pitchFamily="34" charset="-122"/>
                <a:cs typeface="Calibri" pitchFamily="34" charset="-120"/>
              </a:rPr>
              <a:t>256 GB SSD</a:t>
            </a:r>
            <a:endParaRPr lang="en-US" sz="1100" dirty="0"/>
          </a:p>
        </p:txBody>
      </p:sp>
      <p:sp>
        <p:nvSpPr>
          <p:cNvPr id="8" name="Shape 6"/>
          <p:cNvSpPr/>
          <p:nvPr/>
        </p:nvSpPr>
        <p:spPr>
          <a:xfrm>
            <a:off x="4754880" y="868680"/>
            <a:ext cx="3931920" cy="187452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4754880" y="868680"/>
            <a:ext cx="3931920" cy="365760"/>
          </a:xfrm>
          <a:prstGeom prst="rect">
            <a:avLst/>
          </a:prstGeom>
          <a:solidFill>
            <a:srgbClr val="6A1B9A"/>
          </a:solidFill>
          <a:ln/>
        </p:spPr>
      </p:sp>
      <p:sp>
        <p:nvSpPr>
          <p:cNvPr id="10" name="Text 8"/>
          <p:cNvSpPr/>
          <p:nvPr/>
        </p:nvSpPr>
        <p:spPr>
          <a:xfrm>
            <a:off x="4937760" y="868680"/>
            <a:ext cx="3566160" cy="36576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Software Requirements</a:t>
            </a:r>
            <a:endParaRPr lang="en-US" sz="1250" dirty="0"/>
          </a:p>
        </p:txBody>
      </p:sp>
      <p:sp>
        <p:nvSpPr>
          <p:cNvPr id="11" name="Text 9"/>
          <p:cNvSpPr/>
          <p:nvPr/>
        </p:nvSpPr>
        <p:spPr>
          <a:xfrm>
            <a:off x="4937760" y="1325880"/>
            <a:ext cx="3566160" cy="1325880"/>
          </a:xfrm>
          <a:prstGeom prst="rect">
            <a:avLst/>
          </a:prstGeom>
          <a:noFill/>
          <a:ln/>
        </p:spPr>
        <p:txBody>
          <a:bodyPr wrap="square" rtlCol="0" anchor="ctr"/>
          <a:lstStyle/>
          <a:p>
            <a:pPr marL="342900" indent="-342900">
              <a:spcAft>
                <a:spcPts val="400"/>
              </a:spcAft>
              <a:buSzPct val="100000"/>
              <a:buChar char="•"/>
            </a:pPr>
            <a:r>
              <a:rPr lang="en-US" sz="1100" dirty="0">
                <a:solidFill>
                  <a:srgbClr val="1A0A2E"/>
                </a:solidFill>
                <a:latin typeface="Calibri" pitchFamily="34" charset="0"/>
                <a:ea typeface="Calibri" pitchFamily="34" charset="-122"/>
                <a:cs typeface="Calibri" pitchFamily="34" charset="-120"/>
              </a:rPr>
              <a:t>Python 3.9</a:t>
            </a:r>
            <a:endParaRPr lang="en-US" sz="1100" dirty="0"/>
          </a:p>
          <a:p>
            <a:pPr marL="342900" indent="-342900">
              <a:spcAft>
                <a:spcPts val="400"/>
              </a:spcAft>
              <a:buSzPct val="100000"/>
              <a:buChar char="•"/>
            </a:pPr>
            <a:r>
              <a:rPr lang="en-US" sz="1100" dirty="0">
                <a:solidFill>
                  <a:srgbClr val="1A0A2E"/>
                </a:solidFill>
                <a:latin typeface="Calibri" pitchFamily="34" charset="0"/>
                <a:ea typeface="Calibri" pitchFamily="34" charset="-122"/>
                <a:cs typeface="Calibri" pitchFamily="34" charset="-120"/>
              </a:rPr>
              <a:t>Flask 2.0</a:t>
            </a:r>
            <a:endParaRPr lang="en-US" sz="1100" dirty="0"/>
          </a:p>
          <a:p>
            <a:pPr marL="342900" indent="-342900">
              <a:spcAft>
                <a:spcPts val="400"/>
              </a:spcAft>
              <a:buSzPct val="100000"/>
              <a:buChar char="•"/>
            </a:pPr>
            <a:r>
              <a:rPr lang="en-US" sz="1100" dirty="0">
                <a:solidFill>
                  <a:srgbClr val="1A0A2E"/>
                </a:solidFill>
                <a:latin typeface="Calibri" pitchFamily="34" charset="0"/>
                <a:ea typeface="Calibri" pitchFamily="34" charset="-122"/>
                <a:cs typeface="Calibri" pitchFamily="34" charset="-120"/>
              </a:rPr>
              <a:t>spaCy 3.0</a:t>
            </a:r>
            <a:endParaRPr lang="en-US" sz="1100" dirty="0"/>
          </a:p>
          <a:p>
            <a:pPr marL="342900" indent="-342900">
              <a:spcAft>
                <a:spcPts val="400"/>
              </a:spcAft>
              <a:buSzPct val="100000"/>
              <a:buChar char="•"/>
            </a:pPr>
            <a:r>
              <a:rPr lang="en-US" sz="1100" dirty="0">
                <a:solidFill>
                  <a:srgbClr val="1A0A2E"/>
                </a:solidFill>
                <a:latin typeface="Calibri" pitchFamily="34" charset="0"/>
                <a:ea typeface="Calibri" pitchFamily="34" charset="-122"/>
                <a:cs typeface="Calibri" pitchFamily="34" charset="-120"/>
              </a:rPr>
              <a:t>React 17.0</a:t>
            </a:r>
            <a:endParaRPr lang="en-US" sz="1100" dirty="0"/>
          </a:p>
          <a:p>
            <a:pPr marL="342900" indent="-342900">
              <a:spcAft>
                <a:spcPts val="400"/>
              </a:spcAft>
              <a:buSzPct val="100000"/>
              <a:buChar char="•"/>
            </a:pPr>
            <a:r>
              <a:rPr lang="en-US" sz="1100" dirty="0">
                <a:solidFill>
                  <a:srgbClr val="1A0A2E"/>
                </a:solidFill>
                <a:latin typeface="Calibri" pitchFamily="34" charset="0"/>
                <a:ea typeface="Calibri" pitchFamily="34" charset="-122"/>
                <a:cs typeface="Calibri" pitchFamily="34" charset="-120"/>
              </a:rPr>
              <a:t>MongoDB 4.4</a:t>
            </a:r>
            <a:endParaRPr lang="en-US" sz="1100" dirty="0"/>
          </a:p>
        </p:txBody>
      </p:sp>
      <p:sp>
        <p:nvSpPr>
          <p:cNvPr id="12" name="Text 10"/>
          <p:cNvSpPr/>
          <p:nvPr/>
        </p:nvSpPr>
        <p:spPr>
          <a:xfrm>
            <a:off x="548640" y="2926080"/>
            <a:ext cx="3657600" cy="365760"/>
          </a:xfrm>
          <a:prstGeom prst="rect">
            <a:avLst/>
          </a:prstGeom>
          <a:noFill/>
          <a:ln/>
        </p:spPr>
        <p:txBody>
          <a:bodyPr wrap="square" lIns="0" tIns="0" rIns="0" bIns="0" rtlCol="0" anchor="ctr"/>
          <a:lstStyle/>
          <a:p>
            <a:pPr indent="0" marL="0">
              <a:buNone/>
            </a:pPr>
            <a:r>
              <a:rPr lang="en-US" sz="1600" b="1" dirty="0">
                <a:solidFill>
                  <a:srgbClr val="6A1B9A"/>
                </a:solidFill>
                <a:latin typeface="Trebuchet MS" pitchFamily="34" charset="0"/>
                <a:ea typeface="Trebuchet MS" pitchFamily="34" charset="-122"/>
                <a:cs typeface="Trebuchet MS" pitchFamily="34" charset="-120"/>
              </a:rPr>
              <a:t>Technology Stack</a:t>
            </a:r>
            <a:endParaRPr lang="en-US" sz="1600" dirty="0"/>
          </a:p>
        </p:txBody>
      </p:sp>
      <p:sp>
        <p:nvSpPr>
          <p:cNvPr id="13" name="Shape 11"/>
          <p:cNvSpPr/>
          <p:nvPr/>
        </p:nvSpPr>
        <p:spPr>
          <a:xfrm>
            <a:off x="548640" y="3383280"/>
            <a:ext cx="1920240" cy="59436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548640" y="3383280"/>
            <a:ext cx="45720" cy="594360"/>
          </a:xfrm>
          <a:prstGeom prst="rect">
            <a:avLst/>
          </a:prstGeom>
          <a:solidFill>
            <a:srgbClr val="CE93D8"/>
          </a:solidFill>
          <a:ln/>
        </p:spPr>
      </p:sp>
      <p:sp>
        <p:nvSpPr>
          <p:cNvPr id="15" name="Text 13"/>
          <p:cNvSpPr/>
          <p:nvPr/>
        </p:nvSpPr>
        <p:spPr>
          <a:xfrm>
            <a:off x="685800" y="3429000"/>
            <a:ext cx="1645920" cy="274320"/>
          </a:xfrm>
          <a:prstGeom prst="rect">
            <a:avLst/>
          </a:prstGeom>
          <a:noFill/>
          <a:ln/>
        </p:spPr>
        <p:txBody>
          <a:bodyPr wrap="square" lIns="0" tIns="0" rIns="0" bIns="0" rtlCol="0" anchor="ctr"/>
          <a:lstStyle/>
          <a:p>
            <a:pPr indent="0" marL="0">
              <a:buNone/>
            </a:pPr>
            <a:r>
              <a:rPr lang="en-US" sz="1100" b="1" dirty="0">
                <a:solidFill>
                  <a:srgbClr val="1A0A2E"/>
                </a:solidFill>
                <a:latin typeface="Trebuchet MS" pitchFamily="34" charset="0"/>
                <a:ea typeface="Trebuchet MS" pitchFamily="34" charset="-122"/>
                <a:cs typeface="Trebuchet MS" pitchFamily="34" charset="-120"/>
              </a:rPr>
              <a:t>Python</a:t>
            </a:r>
            <a:endParaRPr lang="en-US" sz="1100" dirty="0"/>
          </a:p>
        </p:txBody>
      </p:sp>
      <p:sp>
        <p:nvSpPr>
          <p:cNvPr id="16" name="Text 14"/>
          <p:cNvSpPr/>
          <p:nvPr/>
        </p:nvSpPr>
        <p:spPr>
          <a:xfrm>
            <a:off x="685800" y="3703320"/>
            <a:ext cx="1645920" cy="228600"/>
          </a:xfrm>
          <a:prstGeom prst="rect">
            <a:avLst/>
          </a:prstGeom>
          <a:noFill/>
          <a:ln/>
        </p:spPr>
        <p:txBody>
          <a:bodyPr wrap="square" lIns="0" tIns="0" rIns="0" bIns="0" rtlCol="0" anchor="ctr"/>
          <a:lstStyle/>
          <a:p>
            <a:pPr indent="0" marL="0">
              <a:buNone/>
            </a:pPr>
            <a:r>
              <a:rPr lang="en-US" sz="900" dirty="0">
                <a:solidFill>
                  <a:srgbClr val="8E6EA6"/>
                </a:solidFill>
                <a:latin typeface="Calibri" pitchFamily="34" charset="0"/>
                <a:ea typeface="Calibri" pitchFamily="34" charset="-122"/>
                <a:cs typeface="Calibri" pitchFamily="34" charset="-120"/>
              </a:rPr>
              <a:t>Backend</a:t>
            </a:r>
            <a:endParaRPr lang="en-US" sz="900" dirty="0"/>
          </a:p>
        </p:txBody>
      </p:sp>
      <p:sp>
        <p:nvSpPr>
          <p:cNvPr id="17" name="Shape 15"/>
          <p:cNvSpPr/>
          <p:nvPr/>
        </p:nvSpPr>
        <p:spPr>
          <a:xfrm>
            <a:off x="2670048" y="3383280"/>
            <a:ext cx="1920240" cy="59436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8" name="Shape 16"/>
          <p:cNvSpPr/>
          <p:nvPr/>
        </p:nvSpPr>
        <p:spPr>
          <a:xfrm>
            <a:off x="2670048" y="3383280"/>
            <a:ext cx="45720" cy="594360"/>
          </a:xfrm>
          <a:prstGeom prst="rect">
            <a:avLst/>
          </a:prstGeom>
          <a:solidFill>
            <a:srgbClr val="CE93D8"/>
          </a:solidFill>
          <a:ln/>
        </p:spPr>
      </p:sp>
      <p:sp>
        <p:nvSpPr>
          <p:cNvPr id="19" name="Text 17"/>
          <p:cNvSpPr/>
          <p:nvPr/>
        </p:nvSpPr>
        <p:spPr>
          <a:xfrm>
            <a:off x="2807208" y="3429000"/>
            <a:ext cx="1645920" cy="274320"/>
          </a:xfrm>
          <a:prstGeom prst="rect">
            <a:avLst/>
          </a:prstGeom>
          <a:noFill/>
          <a:ln/>
        </p:spPr>
        <p:txBody>
          <a:bodyPr wrap="square" lIns="0" tIns="0" rIns="0" bIns="0" rtlCol="0" anchor="ctr"/>
          <a:lstStyle/>
          <a:p>
            <a:pPr indent="0" marL="0">
              <a:buNone/>
            </a:pPr>
            <a:r>
              <a:rPr lang="en-US" sz="1100" b="1" dirty="0">
                <a:solidFill>
                  <a:srgbClr val="1A0A2E"/>
                </a:solidFill>
                <a:latin typeface="Trebuchet MS" pitchFamily="34" charset="0"/>
                <a:ea typeface="Trebuchet MS" pitchFamily="34" charset="-122"/>
                <a:cs typeface="Trebuchet MS" pitchFamily="34" charset="-120"/>
              </a:rPr>
              <a:t>Flask</a:t>
            </a:r>
            <a:endParaRPr lang="en-US" sz="1100" dirty="0"/>
          </a:p>
        </p:txBody>
      </p:sp>
      <p:sp>
        <p:nvSpPr>
          <p:cNvPr id="20" name="Text 18"/>
          <p:cNvSpPr/>
          <p:nvPr/>
        </p:nvSpPr>
        <p:spPr>
          <a:xfrm>
            <a:off x="2807208" y="3703320"/>
            <a:ext cx="1645920" cy="228600"/>
          </a:xfrm>
          <a:prstGeom prst="rect">
            <a:avLst/>
          </a:prstGeom>
          <a:noFill/>
          <a:ln/>
        </p:spPr>
        <p:txBody>
          <a:bodyPr wrap="square" lIns="0" tIns="0" rIns="0" bIns="0" rtlCol="0" anchor="ctr"/>
          <a:lstStyle/>
          <a:p>
            <a:pPr indent="0" marL="0">
              <a:buNone/>
            </a:pPr>
            <a:r>
              <a:rPr lang="en-US" sz="900" dirty="0">
                <a:solidFill>
                  <a:srgbClr val="8E6EA6"/>
                </a:solidFill>
                <a:latin typeface="Calibri" pitchFamily="34" charset="0"/>
                <a:ea typeface="Calibri" pitchFamily="34" charset="-122"/>
                <a:cs typeface="Calibri" pitchFamily="34" charset="-120"/>
              </a:rPr>
              <a:t>Backend Framework</a:t>
            </a:r>
            <a:endParaRPr lang="en-US" sz="900" dirty="0"/>
          </a:p>
        </p:txBody>
      </p:sp>
      <p:sp>
        <p:nvSpPr>
          <p:cNvPr id="21" name="Shape 19"/>
          <p:cNvSpPr/>
          <p:nvPr/>
        </p:nvSpPr>
        <p:spPr>
          <a:xfrm>
            <a:off x="4791456" y="3383280"/>
            <a:ext cx="1920240" cy="59436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22" name="Shape 20"/>
          <p:cNvSpPr/>
          <p:nvPr/>
        </p:nvSpPr>
        <p:spPr>
          <a:xfrm>
            <a:off x="4791456" y="3383280"/>
            <a:ext cx="45720" cy="594360"/>
          </a:xfrm>
          <a:prstGeom prst="rect">
            <a:avLst/>
          </a:prstGeom>
          <a:solidFill>
            <a:srgbClr val="CE93D8"/>
          </a:solidFill>
          <a:ln/>
        </p:spPr>
      </p:sp>
      <p:sp>
        <p:nvSpPr>
          <p:cNvPr id="23" name="Text 21"/>
          <p:cNvSpPr/>
          <p:nvPr/>
        </p:nvSpPr>
        <p:spPr>
          <a:xfrm>
            <a:off x="4928616" y="3429000"/>
            <a:ext cx="1645920" cy="274320"/>
          </a:xfrm>
          <a:prstGeom prst="rect">
            <a:avLst/>
          </a:prstGeom>
          <a:noFill/>
          <a:ln/>
        </p:spPr>
        <p:txBody>
          <a:bodyPr wrap="square" lIns="0" tIns="0" rIns="0" bIns="0" rtlCol="0" anchor="ctr"/>
          <a:lstStyle/>
          <a:p>
            <a:pPr indent="0" marL="0">
              <a:buNone/>
            </a:pPr>
            <a:r>
              <a:rPr lang="en-US" sz="1100" b="1" dirty="0">
                <a:solidFill>
                  <a:srgbClr val="1A0A2E"/>
                </a:solidFill>
                <a:latin typeface="Trebuchet MS" pitchFamily="34" charset="0"/>
                <a:ea typeface="Trebuchet MS" pitchFamily="34" charset="-122"/>
                <a:cs typeface="Trebuchet MS" pitchFamily="34" charset="-120"/>
              </a:rPr>
              <a:t>spaCy</a:t>
            </a:r>
            <a:endParaRPr lang="en-US" sz="1100" dirty="0"/>
          </a:p>
        </p:txBody>
      </p:sp>
      <p:sp>
        <p:nvSpPr>
          <p:cNvPr id="24" name="Text 22"/>
          <p:cNvSpPr/>
          <p:nvPr/>
        </p:nvSpPr>
        <p:spPr>
          <a:xfrm>
            <a:off x="4928616" y="3703320"/>
            <a:ext cx="1645920" cy="228600"/>
          </a:xfrm>
          <a:prstGeom prst="rect">
            <a:avLst/>
          </a:prstGeom>
          <a:noFill/>
          <a:ln/>
        </p:spPr>
        <p:txBody>
          <a:bodyPr wrap="square" lIns="0" tIns="0" rIns="0" bIns="0" rtlCol="0" anchor="ctr"/>
          <a:lstStyle/>
          <a:p>
            <a:pPr indent="0" marL="0">
              <a:buNone/>
            </a:pPr>
            <a:r>
              <a:rPr lang="en-US" sz="900" dirty="0">
                <a:solidFill>
                  <a:srgbClr val="8E6EA6"/>
                </a:solidFill>
                <a:latin typeface="Calibri" pitchFamily="34" charset="0"/>
                <a:ea typeface="Calibri" pitchFamily="34" charset="-122"/>
                <a:cs typeface="Calibri" pitchFamily="34" charset="-120"/>
              </a:rPr>
              <a:t>NLP Library</a:t>
            </a:r>
            <a:endParaRPr lang="en-US" sz="900" dirty="0"/>
          </a:p>
        </p:txBody>
      </p:sp>
      <p:sp>
        <p:nvSpPr>
          <p:cNvPr id="25" name="Shape 23"/>
          <p:cNvSpPr/>
          <p:nvPr/>
        </p:nvSpPr>
        <p:spPr>
          <a:xfrm>
            <a:off x="6912864" y="3383280"/>
            <a:ext cx="1920240" cy="59436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26" name="Shape 24"/>
          <p:cNvSpPr/>
          <p:nvPr/>
        </p:nvSpPr>
        <p:spPr>
          <a:xfrm>
            <a:off x="6912864" y="3383280"/>
            <a:ext cx="45720" cy="594360"/>
          </a:xfrm>
          <a:prstGeom prst="rect">
            <a:avLst/>
          </a:prstGeom>
          <a:solidFill>
            <a:srgbClr val="CE93D8"/>
          </a:solidFill>
          <a:ln/>
        </p:spPr>
      </p:sp>
      <p:sp>
        <p:nvSpPr>
          <p:cNvPr id="27" name="Text 25"/>
          <p:cNvSpPr/>
          <p:nvPr/>
        </p:nvSpPr>
        <p:spPr>
          <a:xfrm>
            <a:off x="7050024" y="3429000"/>
            <a:ext cx="1645920" cy="274320"/>
          </a:xfrm>
          <a:prstGeom prst="rect">
            <a:avLst/>
          </a:prstGeom>
          <a:noFill/>
          <a:ln/>
        </p:spPr>
        <p:txBody>
          <a:bodyPr wrap="square" lIns="0" tIns="0" rIns="0" bIns="0" rtlCol="0" anchor="ctr"/>
          <a:lstStyle/>
          <a:p>
            <a:pPr indent="0" marL="0">
              <a:buNone/>
            </a:pPr>
            <a:r>
              <a:rPr lang="en-US" sz="1100" b="1" dirty="0">
                <a:solidFill>
                  <a:srgbClr val="1A0A2E"/>
                </a:solidFill>
                <a:latin typeface="Trebuchet MS" pitchFamily="34" charset="0"/>
                <a:ea typeface="Trebuchet MS" pitchFamily="34" charset="-122"/>
                <a:cs typeface="Trebuchet MS" pitchFamily="34" charset="-120"/>
              </a:rPr>
              <a:t>React</a:t>
            </a:r>
            <a:endParaRPr lang="en-US" sz="1100" dirty="0"/>
          </a:p>
        </p:txBody>
      </p:sp>
      <p:sp>
        <p:nvSpPr>
          <p:cNvPr id="28" name="Text 26"/>
          <p:cNvSpPr/>
          <p:nvPr/>
        </p:nvSpPr>
        <p:spPr>
          <a:xfrm>
            <a:off x="7050024" y="3703320"/>
            <a:ext cx="1645920" cy="228600"/>
          </a:xfrm>
          <a:prstGeom prst="rect">
            <a:avLst/>
          </a:prstGeom>
          <a:noFill/>
          <a:ln/>
        </p:spPr>
        <p:txBody>
          <a:bodyPr wrap="square" lIns="0" tIns="0" rIns="0" bIns="0" rtlCol="0" anchor="ctr"/>
          <a:lstStyle/>
          <a:p>
            <a:pPr indent="0" marL="0">
              <a:buNone/>
            </a:pPr>
            <a:r>
              <a:rPr lang="en-US" sz="900" dirty="0">
                <a:solidFill>
                  <a:srgbClr val="8E6EA6"/>
                </a:solidFill>
                <a:latin typeface="Calibri" pitchFamily="34" charset="0"/>
                <a:ea typeface="Calibri" pitchFamily="34" charset="-122"/>
                <a:cs typeface="Calibri" pitchFamily="34" charset="-120"/>
              </a:rPr>
              <a:t>Frontend Framework</a:t>
            </a:r>
            <a:endParaRPr lang="en-US" sz="900" dirty="0"/>
          </a:p>
        </p:txBody>
      </p:sp>
      <p:sp>
        <p:nvSpPr>
          <p:cNvPr id="29" name="Shape 27"/>
          <p:cNvSpPr/>
          <p:nvPr/>
        </p:nvSpPr>
        <p:spPr>
          <a:xfrm>
            <a:off x="548640" y="4114800"/>
            <a:ext cx="1920240" cy="59436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30" name="Shape 28"/>
          <p:cNvSpPr/>
          <p:nvPr/>
        </p:nvSpPr>
        <p:spPr>
          <a:xfrm>
            <a:off x="548640" y="4114800"/>
            <a:ext cx="45720" cy="594360"/>
          </a:xfrm>
          <a:prstGeom prst="rect">
            <a:avLst/>
          </a:prstGeom>
          <a:solidFill>
            <a:srgbClr val="CE93D8"/>
          </a:solidFill>
          <a:ln/>
        </p:spPr>
      </p:sp>
      <p:sp>
        <p:nvSpPr>
          <p:cNvPr id="31" name="Text 29"/>
          <p:cNvSpPr/>
          <p:nvPr/>
        </p:nvSpPr>
        <p:spPr>
          <a:xfrm>
            <a:off x="685800" y="4160520"/>
            <a:ext cx="1645920" cy="274320"/>
          </a:xfrm>
          <a:prstGeom prst="rect">
            <a:avLst/>
          </a:prstGeom>
          <a:noFill/>
          <a:ln/>
        </p:spPr>
        <p:txBody>
          <a:bodyPr wrap="square" lIns="0" tIns="0" rIns="0" bIns="0" rtlCol="0" anchor="ctr"/>
          <a:lstStyle/>
          <a:p>
            <a:pPr indent="0" marL="0">
              <a:buNone/>
            </a:pPr>
            <a:r>
              <a:rPr lang="en-US" sz="1100" b="1" dirty="0">
                <a:solidFill>
                  <a:srgbClr val="1A0A2E"/>
                </a:solidFill>
                <a:latin typeface="Trebuchet MS" pitchFamily="34" charset="0"/>
                <a:ea typeface="Trebuchet MS" pitchFamily="34" charset="-122"/>
                <a:cs typeface="Trebuchet MS" pitchFamily="34" charset="-120"/>
              </a:rPr>
              <a:t>MongoDB</a:t>
            </a:r>
            <a:endParaRPr lang="en-US" sz="1100" dirty="0"/>
          </a:p>
        </p:txBody>
      </p:sp>
      <p:sp>
        <p:nvSpPr>
          <p:cNvPr id="32" name="Text 30"/>
          <p:cNvSpPr/>
          <p:nvPr/>
        </p:nvSpPr>
        <p:spPr>
          <a:xfrm>
            <a:off x="685800" y="4434840"/>
            <a:ext cx="1645920" cy="228600"/>
          </a:xfrm>
          <a:prstGeom prst="rect">
            <a:avLst/>
          </a:prstGeom>
          <a:noFill/>
          <a:ln/>
        </p:spPr>
        <p:txBody>
          <a:bodyPr wrap="square" lIns="0" tIns="0" rIns="0" bIns="0" rtlCol="0" anchor="ctr"/>
          <a:lstStyle/>
          <a:p>
            <a:pPr indent="0" marL="0">
              <a:buNone/>
            </a:pPr>
            <a:r>
              <a:rPr lang="en-US" sz="900" dirty="0">
                <a:solidFill>
                  <a:srgbClr val="8E6EA6"/>
                </a:solidFill>
                <a:latin typeface="Calibri" pitchFamily="34" charset="0"/>
                <a:ea typeface="Calibri" pitchFamily="34" charset="-122"/>
                <a:cs typeface="Calibri" pitchFamily="34" charset="-120"/>
              </a:rPr>
              <a:t>Database</a:t>
            </a:r>
            <a:endParaRPr lang="en-US" sz="900" dirty="0"/>
          </a:p>
        </p:txBody>
      </p:sp>
      <p:sp>
        <p:nvSpPr>
          <p:cNvPr id="33" name="Shape 31"/>
          <p:cNvSpPr/>
          <p:nvPr/>
        </p:nvSpPr>
        <p:spPr>
          <a:xfrm>
            <a:off x="2670048" y="4114800"/>
            <a:ext cx="1920240" cy="59436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34" name="Shape 32"/>
          <p:cNvSpPr/>
          <p:nvPr/>
        </p:nvSpPr>
        <p:spPr>
          <a:xfrm>
            <a:off x="2670048" y="4114800"/>
            <a:ext cx="45720" cy="594360"/>
          </a:xfrm>
          <a:prstGeom prst="rect">
            <a:avLst/>
          </a:prstGeom>
          <a:solidFill>
            <a:srgbClr val="CE93D8"/>
          </a:solidFill>
          <a:ln/>
        </p:spPr>
      </p:sp>
      <p:sp>
        <p:nvSpPr>
          <p:cNvPr id="35" name="Text 33"/>
          <p:cNvSpPr/>
          <p:nvPr/>
        </p:nvSpPr>
        <p:spPr>
          <a:xfrm>
            <a:off x="2807208" y="4160520"/>
            <a:ext cx="1645920" cy="274320"/>
          </a:xfrm>
          <a:prstGeom prst="rect">
            <a:avLst/>
          </a:prstGeom>
          <a:noFill/>
          <a:ln/>
        </p:spPr>
        <p:txBody>
          <a:bodyPr wrap="square" lIns="0" tIns="0" rIns="0" bIns="0" rtlCol="0" anchor="ctr"/>
          <a:lstStyle/>
          <a:p>
            <a:pPr indent="0" marL="0">
              <a:buNone/>
            </a:pPr>
            <a:r>
              <a:rPr lang="en-US" sz="1100" b="1" dirty="0">
                <a:solidFill>
                  <a:srgbClr val="1A0A2E"/>
                </a:solidFill>
                <a:latin typeface="Trebuchet MS" pitchFamily="34" charset="0"/>
                <a:ea typeface="Trebuchet MS" pitchFamily="34" charset="-122"/>
                <a:cs typeface="Trebuchet MS" pitchFamily="34" charset="-120"/>
              </a:rPr>
              <a:t>NLP</a:t>
            </a:r>
            <a:endParaRPr lang="en-US" sz="1100" dirty="0"/>
          </a:p>
        </p:txBody>
      </p:sp>
      <p:sp>
        <p:nvSpPr>
          <p:cNvPr id="36" name="Text 34"/>
          <p:cNvSpPr/>
          <p:nvPr/>
        </p:nvSpPr>
        <p:spPr>
          <a:xfrm>
            <a:off x="2807208" y="4434840"/>
            <a:ext cx="1645920" cy="228600"/>
          </a:xfrm>
          <a:prstGeom prst="rect">
            <a:avLst/>
          </a:prstGeom>
          <a:noFill/>
          <a:ln/>
        </p:spPr>
        <p:txBody>
          <a:bodyPr wrap="square" lIns="0" tIns="0" rIns="0" bIns="0" rtlCol="0" anchor="ctr"/>
          <a:lstStyle/>
          <a:p>
            <a:pPr indent="0" marL="0">
              <a:buNone/>
            </a:pPr>
            <a:r>
              <a:rPr lang="en-US" sz="900" dirty="0">
                <a:solidFill>
                  <a:srgbClr val="8E6EA6"/>
                </a:solidFill>
                <a:latin typeface="Calibri" pitchFamily="34" charset="0"/>
                <a:ea typeface="Calibri" pitchFamily="34" charset="-122"/>
                <a:cs typeface="Calibri" pitchFamily="34" charset="-120"/>
              </a:rPr>
              <a:t>Technology</a:t>
            </a:r>
            <a:endParaRPr lang="en-US" sz="900" dirty="0"/>
          </a:p>
        </p:txBody>
      </p:sp>
      <p:sp>
        <p:nvSpPr>
          <p:cNvPr id="37" name="Shape 35"/>
          <p:cNvSpPr/>
          <p:nvPr/>
        </p:nvSpPr>
        <p:spPr>
          <a:xfrm>
            <a:off x="4791456" y="4114800"/>
            <a:ext cx="1920240" cy="59436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38" name="Shape 36"/>
          <p:cNvSpPr/>
          <p:nvPr/>
        </p:nvSpPr>
        <p:spPr>
          <a:xfrm>
            <a:off x="4791456" y="4114800"/>
            <a:ext cx="45720" cy="594360"/>
          </a:xfrm>
          <a:prstGeom prst="rect">
            <a:avLst/>
          </a:prstGeom>
          <a:solidFill>
            <a:srgbClr val="CE93D8"/>
          </a:solidFill>
          <a:ln/>
        </p:spPr>
      </p:sp>
      <p:sp>
        <p:nvSpPr>
          <p:cNvPr id="39" name="Text 37"/>
          <p:cNvSpPr/>
          <p:nvPr/>
        </p:nvSpPr>
        <p:spPr>
          <a:xfrm>
            <a:off x="4928616" y="4160520"/>
            <a:ext cx="1645920" cy="274320"/>
          </a:xfrm>
          <a:prstGeom prst="rect">
            <a:avLst/>
          </a:prstGeom>
          <a:noFill/>
          <a:ln/>
        </p:spPr>
        <p:txBody>
          <a:bodyPr wrap="square" lIns="0" tIns="0" rIns="0" bIns="0" rtlCol="0" anchor="ctr"/>
          <a:lstStyle/>
          <a:p>
            <a:pPr indent="0" marL="0">
              <a:buNone/>
            </a:pPr>
            <a:r>
              <a:rPr lang="en-US" sz="1100" b="1" dirty="0">
                <a:solidFill>
                  <a:srgbClr val="1A0A2E"/>
                </a:solidFill>
                <a:latin typeface="Trebuchet MS" pitchFamily="34" charset="0"/>
                <a:ea typeface="Trebuchet MS" pitchFamily="34" charset="-122"/>
                <a:cs typeface="Trebuchet MS" pitchFamily="34" charset="-120"/>
              </a:rPr>
              <a:t>Machine Learning</a:t>
            </a:r>
            <a:endParaRPr lang="en-US" sz="1100" dirty="0"/>
          </a:p>
        </p:txBody>
      </p:sp>
      <p:sp>
        <p:nvSpPr>
          <p:cNvPr id="40" name="Text 38"/>
          <p:cNvSpPr/>
          <p:nvPr/>
        </p:nvSpPr>
        <p:spPr>
          <a:xfrm>
            <a:off x="4928616" y="4434840"/>
            <a:ext cx="1645920" cy="228600"/>
          </a:xfrm>
          <a:prstGeom prst="rect">
            <a:avLst/>
          </a:prstGeom>
          <a:noFill/>
          <a:ln/>
        </p:spPr>
        <p:txBody>
          <a:bodyPr wrap="square" lIns="0" tIns="0" rIns="0" bIns="0" rtlCol="0" anchor="ctr"/>
          <a:lstStyle/>
          <a:p>
            <a:pPr indent="0" marL="0">
              <a:buNone/>
            </a:pPr>
            <a:r>
              <a:rPr lang="en-US" sz="900" dirty="0">
                <a:solidFill>
                  <a:srgbClr val="8E6EA6"/>
                </a:solidFill>
                <a:latin typeface="Calibri" pitchFamily="34" charset="0"/>
                <a:ea typeface="Calibri" pitchFamily="34" charset="-122"/>
                <a:cs typeface="Calibri" pitchFamily="34" charset="-120"/>
              </a:rPr>
              <a:t>Technology</a:t>
            </a:r>
            <a:endParaRPr lang="en-US" sz="900" dirty="0"/>
          </a:p>
        </p:txBody>
      </p:sp>
      <p:sp>
        <p:nvSpPr>
          <p:cNvPr id="41" name="Shape 39"/>
          <p:cNvSpPr/>
          <p:nvPr/>
        </p:nvSpPr>
        <p:spPr>
          <a:xfrm>
            <a:off x="6912864" y="4114800"/>
            <a:ext cx="1920240" cy="59436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42" name="Shape 40"/>
          <p:cNvSpPr/>
          <p:nvPr/>
        </p:nvSpPr>
        <p:spPr>
          <a:xfrm>
            <a:off x="6912864" y="4114800"/>
            <a:ext cx="45720" cy="594360"/>
          </a:xfrm>
          <a:prstGeom prst="rect">
            <a:avLst/>
          </a:prstGeom>
          <a:solidFill>
            <a:srgbClr val="CE93D8"/>
          </a:solidFill>
          <a:ln/>
        </p:spPr>
      </p:sp>
      <p:sp>
        <p:nvSpPr>
          <p:cNvPr id="43" name="Text 41"/>
          <p:cNvSpPr/>
          <p:nvPr/>
        </p:nvSpPr>
        <p:spPr>
          <a:xfrm>
            <a:off x="7050024" y="4160520"/>
            <a:ext cx="1645920" cy="274320"/>
          </a:xfrm>
          <a:prstGeom prst="rect">
            <a:avLst/>
          </a:prstGeom>
          <a:noFill/>
          <a:ln/>
        </p:spPr>
        <p:txBody>
          <a:bodyPr wrap="square" lIns="0" tIns="0" rIns="0" bIns="0" rtlCol="0" anchor="ctr"/>
          <a:lstStyle/>
          <a:p>
            <a:pPr indent="0" marL="0">
              <a:buNone/>
            </a:pPr>
            <a:r>
              <a:rPr lang="en-US" sz="1100" b="1" dirty="0">
                <a:solidFill>
                  <a:srgbClr val="1A0A2E"/>
                </a:solidFill>
                <a:latin typeface="Trebuchet MS" pitchFamily="34" charset="0"/>
                <a:ea typeface="Trebuchet MS" pitchFamily="34" charset="-122"/>
                <a:cs typeface="Trebuchet MS" pitchFamily="34" charset="-120"/>
              </a:rPr>
              <a:t>Cloud Computing</a:t>
            </a:r>
            <a:endParaRPr lang="en-US" sz="1100" dirty="0"/>
          </a:p>
        </p:txBody>
      </p:sp>
      <p:sp>
        <p:nvSpPr>
          <p:cNvPr id="44" name="Text 42"/>
          <p:cNvSpPr/>
          <p:nvPr/>
        </p:nvSpPr>
        <p:spPr>
          <a:xfrm>
            <a:off x="7050024" y="4434840"/>
            <a:ext cx="1645920" cy="228600"/>
          </a:xfrm>
          <a:prstGeom prst="rect">
            <a:avLst/>
          </a:prstGeom>
          <a:noFill/>
          <a:ln/>
        </p:spPr>
        <p:txBody>
          <a:bodyPr wrap="square" lIns="0" tIns="0" rIns="0" bIns="0" rtlCol="0" anchor="ctr"/>
          <a:lstStyle/>
          <a:p>
            <a:pPr indent="0" marL="0">
              <a:buNone/>
            </a:pPr>
            <a:r>
              <a:rPr lang="en-US" sz="900" dirty="0">
                <a:solidFill>
                  <a:srgbClr val="8E6EA6"/>
                </a:solidFill>
                <a:latin typeface="Calibri" pitchFamily="34" charset="0"/>
                <a:ea typeface="Calibri" pitchFamily="34" charset="-122"/>
                <a:cs typeface="Calibri" pitchFamily="34" charset="-120"/>
              </a:rPr>
              <a:t>Technology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0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A1B9A"/>
          </a:solidFill>
          <a:ln/>
        </p:spPr>
      </p:sp>
      <p:sp>
        <p:nvSpPr>
          <p:cNvPr id="3" name="Text 1"/>
          <p:cNvSpPr/>
          <p:nvPr/>
        </p:nvSpPr>
        <p:spPr>
          <a:xfrm>
            <a:off x="548640" y="274320"/>
            <a:ext cx="4572000" cy="457200"/>
          </a:xfrm>
          <a:prstGeom prst="rect">
            <a:avLst/>
          </a:prstGeom>
          <a:noFill/>
          <a:ln/>
        </p:spPr>
        <p:txBody>
          <a:bodyPr wrap="square" lIns="0" tIns="0" rIns="0" bIns="0" rtlCol="0" anchor="ctr"/>
          <a:lstStyle/>
          <a:p>
            <a:pPr indent="0" marL="0">
              <a:buNone/>
            </a:pPr>
            <a:r>
              <a:rPr lang="en-US" sz="2800" b="1" dirty="0">
                <a:solidFill>
                  <a:srgbClr val="6A1B9A"/>
                </a:solidFill>
                <a:latin typeface="Trebuchet MS" pitchFamily="34" charset="0"/>
                <a:ea typeface="Trebuchet MS" pitchFamily="34" charset="-122"/>
                <a:cs typeface="Trebuchet MS" pitchFamily="34" charset="-120"/>
              </a:rPr>
              <a:t>System Architecture</a:t>
            </a:r>
            <a:endParaRPr lang="en-US" sz="2800" dirty="0"/>
          </a:p>
        </p:txBody>
      </p:sp>
      <p:sp>
        <p:nvSpPr>
          <p:cNvPr id="4" name="Shape 2"/>
          <p:cNvSpPr/>
          <p:nvPr/>
        </p:nvSpPr>
        <p:spPr>
          <a:xfrm>
            <a:off x="640080" y="1051560"/>
            <a:ext cx="1143000" cy="1463040"/>
          </a:xfrm>
          <a:prstGeom prst="rect">
            <a:avLst/>
          </a:prstGeom>
          <a:solidFill>
            <a:srgbClr val="CE93D8"/>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1028700" y="1234440"/>
            <a:ext cx="365760" cy="365760"/>
          </a:xfrm>
          <a:prstGeom prst="rect">
            <a:avLst/>
          </a:prstGeom>
        </p:spPr>
      </p:pic>
      <p:sp>
        <p:nvSpPr>
          <p:cNvPr id="6" name="Text 3"/>
          <p:cNvSpPr/>
          <p:nvPr/>
        </p:nvSpPr>
        <p:spPr>
          <a:xfrm>
            <a:off x="685800" y="1691640"/>
            <a:ext cx="1051560" cy="731520"/>
          </a:xfrm>
          <a:prstGeom prst="rect">
            <a:avLst/>
          </a:prstGeom>
          <a:noFill/>
          <a:ln/>
        </p:spPr>
        <p:txBody>
          <a:bodyPr wrap="square" lIns="0" tIns="0" rIns="0" bIns="0" rtlCol="0" anchor="ctr"/>
          <a:lstStyle/>
          <a:p>
            <a:pPr algn="ctr" indent="0" marL="0">
              <a:lnSpc>
                <a:spcPct val="115000"/>
              </a:lnSpc>
              <a:buNone/>
            </a:pPr>
            <a:r>
              <a:rPr lang="en-US" sz="1000" b="1" dirty="0">
                <a:solidFill>
                  <a:srgbClr val="0D0616"/>
                </a:solidFill>
                <a:latin typeface="Calibri" pitchFamily="34" charset="0"/>
                <a:ea typeface="Calibri" pitchFamily="34" charset="-122"/>
                <a:cs typeface="Calibri" pitchFamily="34" charset="-120"/>
              </a:rPr>
              <a:t>Presentation Layer</a:t>
            </a:r>
            <a:endParaRPr lang="en-US" sz="1000" dirty="0"/>
          </a:p>
        </p:txBody>
      </p:sp>
      <p:sp>
        <p:nvSpPr>
          <p:cNvPr id="7" name="Shape 4"/>
          <p:cNvSpPr/>
          <p:nvPr/>
        </p:nvSpPr>
        <p:spPr>
          <a:xfrm>
            <a:off x="1810512" y="1746504"/>
            <a:ext cx="146304" cy="73152"/>
          </a:xfrm>
          <a:prstGeom prst="rect">
            <a:avLst/>
          </a:prstGeom>
          <a:solidFill>
            <a:srgbClr val="CE93D8"/>
          </a:solidFill>
          <a:ln/>
        </p:spPr>
      </p:sp>
      <p:sp>
        <p:nvSpPr>
          <p:cNvPr id="8" name="Shape 5"/>
          <p:cNvSpPr/>
          <p:nvPr/>
        </p:nvSpPr>
        <p:spPr>
          <a:xfrm>
            <a:off x="1984248" y="1051560"/>
            <a:ext cx="1143000" cy="1463040"/>
          </a:xfrm>
          <a:prstGeom prst="rect">
            <a:avLst/>
          </a:prstGeom>
          <a:solidFill>
            <a:srgbClr val="5D4037"/>
          </a:solidFill>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2372868" y="1234440"/>
            <a:ext cx="365760" cy="365760"/>
          </a:xfrm>
          <a:prstGeom prst="rect">
            <a:avLst/>
          </a:prstGeom>
        </p:spPr>
      </p:pic>
      <p:sp>
        <p:nvSpPr>
          <p:cNvPr id="10" name="Text 6"/>
          <p:cNvSpPr/>
          <p:nvPr/>
        </p:nvSpPr>
        <p:spPr>
          <a:xfrm>
            <a:off x="2029968" y="1691640"/>
            <a:ext cx="1051560" cy="731520"/>
          </a:xfrm>
          <a:prstGeom prst="rect">
            <a:avLst/>
          </a:prstGeom>
          <a:noFill/>
          <a:ln/>
        </p:spPr>
        <p:txBody>
          <a:bodyPr wrap="square" lIns="0" tIns="0" rIns="0" bIns="0" rtlCol="0" anchor="ctr"/>
          <a:lstStyle/>
          <a:p>
            <a:pPr algn="ctr" indent="0" marL="0">
              <a:lnSpc>
                <a:spcPct val="115000"/>
              </a:lnSpc>
              <a:buNone/>
            </a:pPr>
            <a:r>
              <a:rPr lang="en-US" sz="1000" b="1" dirty="0">
                <a:solidFill>
                  <a:srgbClr val="FFFFFF"/>
                </a:solidFill>
                <a:latin typeface="Calibri" pitchFamily="34" charset="0"/>
                <a:ea typeface="Calibri" pitchFamily="34" charset="-122"/>
                <a:cs typeface="Calibri" pitchFamily="34" charset="-120"/>
              </a:rPr>
              <a:t>Application Layer</a:t>
            </a:r>
            <a:endParaRPr lang="en-US" sz="1000" dirty="0"/>
          </a:p>
        </p:txBody>
      </p:sp>
      <p:sp>
        <p:nvSpPr>
          <p:cNvPr id="11" name="Shape 7"/>
          <p:cNvSpPr/>
          <p:nvPr/>
        </p:nvSpPr>
        <p:spPr>
          <a:xfrm>
            <a:off x="3154680" y="1746504"/>
            <a:ext cx="146304" cy="73152"/>
          </a:xfrm>
          <a:prstGeom prst="rect">
            <a:avLst/>
          </a:prstGeom>
          <a:solidFill>
            <a:srgbClr val="CE93D8"/>
          </a:solidFill>
          <a:ln/>
        </p:spPr>
      </p:sp>
      <p:sp>
        <p:nvSpPr>
          <p:cNvPr id="12" name="Shape 8"/>
          <p:cNvSpPr/>
          <p:nvPr/>
        </p:nvSpPr>
        <p:spPr>
          <a:xfrm>
            <a:off x="3328416" y="1051560"/>
            <a:ext cx="1143000" cy="1463040"/>
          </a:xfrm>
          <a:prstGeom prst="rect">
            <a:avLst/>
          </a:prstGeom>
          <a:solidFill>
            <a:srgbClr val="6A1B9A"/>
          </a:solidFill>
          <a:ln/>
          <a:effectLst>
            <a:outerShdw sx="100000" sy="100000" kx="0" ky="0" algn="bl" rotWithShape="0" blurRad="76200" dist="254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3717036" y="1234440"/>
            <a:ext cx="365760" cy="365760"/>
          </a:xfrm>
          <a:prstGeom prst="rect">
            <a:avLst/>
          </a:prstGeom>
        </p:spPr>
      </p:pic>
      <p:sp>
        <p:nvSpPr>
          <p:cNvPr id="14" name="Text 9"/>
          <p:cNvSpPr/>
          <p:nvPr/>
        </p:nvSpPr>
        <p:spPr>
          <a:xfrm>
            <a:off x="3374136" y="1691640"/>
            <a:ext cx="1051560" cy="731520"/>
          </a:xfrm>
          <a:prstGeom prst="rect">
            <a:avLst/>
          </a:prstGeom>
          <a:noFill/>
          <a:ln/>
        </p:spPr>
        <p:txBody>
          <a:bodyPr wrap="square" lIns="0" tIns="0" rIns="0" bIns="0" rtlCol="0" anchor="ctr"/>
          <a:lstStyle/>
          <a:p>
            <a:pPr algn="ctr" indent="0" marL="0">
              <a:lnSpc>
                <a:spcPct val="115000"/>
              </a:lnSpc>
              <a:buNone/>
            </a:pPr>
            <a:r>
              <a:rPr lang="en-US" sz="1000" b="1" dirty="0">
                <a:solidFill>
                  <a:srgbClr val="FFFFFF"/>
                </a:solidFill>
                <a:latin typeface="Calibri" pitchFamily="34" charset="0"/>
                <a:ea typeface="Calibri" pitchFamily="34" charset="-122"/>
                <a:cs typeface="Calibri" pitchFamily="34" charset="-120"/>
              </a:rPr>
              <a:t>NLP Layer</a:t>
            </a:r>
            <a:endParaRPr lang="en-US" sz="1000" dirty="0"/>
          </a:p>
        </p:txBody>
      </p:sp>
      <p:sp>
        <p:nvSpPr>
          <p:cNvPr id="15" name="Shape 10"/>
          <p:cNvSpPr/>
          <p:nvPr/>
        </p:nvSpPr>
        <p:spPr>
          <a:xfrm>
            <a:off x="4498848" y="1746504"/>
            <a:ext cx="146304" cy="73152"/>
          </a:xfrm>
          <a:prstGeom prst="rect">
            <a:avLst/>
          </a:prstGeom>
          <a:solidFill>
            <a:srgbClr val="CE93D8"/>
          </a:solidFill>
          <a:ln/>
        </p:spPr>
      </p:sp>
      <p:sp>
        <p:nvSpPr>
          <p:cNvPr id="16" name="Shape 11"/>
          <p:cNvSpPr/>
          <p:nvPr/>
        </p:nvSpPr>
        <p:spPr>
          <a:xfrm>
            <a:off x="4672584" y="1051560"/>
            <a:ext cx="1143000" cy="1463040"/>
          </a:xfrm>
          <a:prstGeom prst="rect">
            <a:avLst/>
          </a:prstGeom>
          <a:solidFill>
            <a:srgbClr val="1A0A2E"/>
          </a:solidFill>
          <a:ln/>
          <a:effectLst>
            <a:outerShdw sx="100000" sy="100000" kx="0" ky="0" algn="bl" rotWithShape="0" blurRad="76200" dist="25400" dir="8100000">
              <a:srgbClr val="000000">
                <a:alpha val="12000"/>
              </a:srgbClr>
            </a:outerShdw>
          </a:effectLst>
        </p:spPr>
      </p:sp>
      <p:pic>
        <p:nvPicPr>
          <p:cNvPr id="17" name="Image 3" descr="preencoded.png">    </p:cNvPr>
          <p:cNvPicPr>
            <a:picLocks noChangeAspect="1"/>
          </p:cNvPicPr>
          <p:nvPr/>
        </p:nvPicPr>
        <p:blipFill>
          <a:blip r:embed="rId4"/>
          <a:stretch>
            <a:fillRect/>
          </a:stretch>
        </p:blipFill>
        <p:spPr>
          <a:xfrm>
            <a:off x="5061204" y="1234440"/>
            <a:ext cx="365760" cy="365760"/>
          </a:xfrm>
          <a:prstGeom prst="rect">
            <a:avLst/>
          </a:prstGeom>
        </p:spPr>
      </p:pic>
      <p:sp>
        <p:nvSpPr>
          <p:cNvPr id="18" name="Text 12"/>
          <p:cNvSpPr/>
          <p:nvPr/>
        </p:nvSpPr>
        <p:spPr>
          <a:xfrm>
            <a:off x="4718304" y="1691640"/>
            <a:ext cx="1051560" cy="731520"/>
          </a:xfrm>
          <a:prstGeom prst="rect">
            <a:avLst/>
          </a:prstGeom>
          <a:noFill/>
          <a:ln/>
        </p:spPr>
        <p:txBody>
          <a:bodyPr wrap="square" lIns="0" tIns="0" rIns="0" bIns="0" rtlCol="0" anchor="ctr"/>
          <a:lstStyle/>
          <a:p>
            <a:pPr algn="ctr" indent="0" marL="0">
              <a:lnSpc>
                <a:spcPct val="115000"/>
              </a:lnSpc>
              <a:buNone/>
            </a:pPr>
            <a:r>
              <a:rPr lang="en-US" sz="1000" b="1" dirty="0">
                <a:solidFill>
                  <a:srgbClr val="FFFFFF"/>
                </a:solidFill>
                <a:latin typeface="Calibri" pitchFamily="34" charset="0"/>
                <a:ea typeface="Calibri" pitchFamily="34" charset="-122"/>
                <a:cs typeface="Calibri" pitchFamily="34" charset="-120"/>
              </a:rPr>
              <a:t>Data Layer</a:t>
            </a:r>
            <a:endParaRPr lang="en-US" sz="1000" dirty="0"/>
          </a:p>
        </p:txBody>
      </p:sp>
      <p:sp>
        <p:nvSpPr>
          <p:cNvPr id="19" name="Shape 13"/>
          <p:cNvSpPr/>
          <p:nvPr/>
        </p:nvSpPr>
        <p:spPr>
          <a:xfrm>
            <a:off x="5843016" y="1746504"/>
            <a:ext cx="146304" cy="73152"/>
          </a:xfrm>
          <a:prstGeom prst="rect">
            <a:avLst/>
          </a:prstGeom>
          <a:solidFill>
            <a:srgbClr val="CE93D8"/>
          </a:solidFill>
          <a:ln/>
        </p:spPr>
      </p:sp>
      <p:sp>
        <p:nvSpPr>
          <p:cNvPr id="20" name="Shape 14"/>
          <p:cNvSpPr/>
          <p:nvPr/>
        </p:nvSpPr>
        <p:spPr>
          <a:xfrm>
            <a:off x="6016752" y="1051560"/>
            <a:ext cx="1143000" cy="1463040"/>
          </a:xfrm>
          <a:prstGeom prst="rect">
            <a:avLst/>
          </a:prstGeom>
          <a:solidFill>
            <a:srgbClr val="1B5E20"/>
          </a:solidFill>
          <a:ln/>
          <a:effectLst>
            <a:outerShdw sx="100000" sy="100000" kx="0" ky="0" algn="bl" rotWithShape="0" blurRad="76200" dist="25400" dir="8100000">
              <a:srgbClr val="000000">
                <a:alpha val="12000"/>
              </a:srgbClr>
            </a:outerShdw>
          </a:effectLst>
        </p:spPr>
      </p:sp>
      <p:pic>
        <p:nvPicPr>
          <p:cNvPr id="21" name="Image 4" descr="preencoded.png">    </p:cNvPr>
          <p:cNvPicPr>
            <a:picLocks noChangeAspect="1"/>
          </p:cNvPicPr>
          <p:nvPr/>
        </p:nvPicPr>
        <p:blipFill>
          <a:blip r:embed="rId5"/>
          <a:stretch>
            <a:fillRect/>
          </a:stretch>
        </p:blipFill>
        <p:spPr>
          <a:xfrm>
            <a:off x="6405372" y="1234440"/>
            <a:ext cx="365760" cy="365760"/>
          </a:xfrm>
          <a:prstGeom prst="rect">
            <a:avLst/>
          </a:prstGeom>
        </p:spPr>
      </p:pic>
      <p:sp>
        <p:nvSpPr>
          <p:cNvPr id="22" name="Text 15"/>
          <p:cNvSpPr/>
          <p:nvPr/>
        </p:nvSpPr>
        <p:spPr>
          <a:xfrm>
            <a:off x="6062472" y="1691640"/>
            <a:ext cx="1051560" cy="731520"/>
          </a:xfrm>
          <a:prstGeom prst="rect">
            <a:avLst/>
          </a:prstGeom>
          <a:noFill/>
          <a:ln/>
        </p:spPr>
        <p:txBody>
          <a:bodyPr wrap="square" lIns="0" tIns="0" rIns="0" bIns="0" rtlCol="0" anchor="ctr"/>
          <a:lstStyle/>
          <a:p>
            <a:pPr algn="ctr" indent="0" marL="0">
              <a:lnSpc>
                <a:spcPct val="115000"/>
              </a:lnSpc>
              <a:buNone/>
            </a:pPr>
            <a:r>
              <a:rPr lang="en-US" sz="1000" b="1" dirty="0">
                <a:solidFill>
                  <a:srgbClr val="FFFFFF"/>
                </a:solidFill>
                <a:latin typeface="Calibri" pitchFamily="34" charset="0"/>
                <a:ea typeface="Calibri" pitchFamily="34" charset="-122"/>
                <a:cs typeface="Calibri" pitchFamily="34" charset="-120"/>
              </a:rPr>
              <a:t>Database Layer</a:t>
            </a:r>
            <a:endParaRPr lang="en-US" sz="1000" dirty="0"/>
          </a:p>
        </p:txBody>
      </p:sp>
      <p:sp>
        <p:nvSpPr>
          <p:cNvPr id="23" name="Shape 16"/>
          <p:cNvSpPr/>
          <p:nvPr/>
        </p:nvSpPr>
        <p:spPr>
          <a:xfrm>
            <a:off x="7187184" y="1746504"/>
            <a:ext cx="146304" cy="73152"/>
          </a:xfrm>
          <a:prstGeom prst="rect">
            <a:avLst/>
          </a:prstGeom>
          <a:solidFill>
            <a:srgbClr val="CE93D8"/>
          </a:solidFill>
          <a:ln/>
        </p:spPr>
      </p:sp>
      <p:sp>
        <p:nvSpPr>
          <p:cNvPr id="24" name="Shape 17"/>
          <p:cNvSpPr/>
          <p:nvPr/>
        </p:nvSpPr>
        <p:spPr>
          <a:xfrm>
            <a:off x="7360920" y="1051560"/>
            <a:ext cx="1143000" cy="1463040"/>
          </a:xfrm>
          <a:prstGeom prst="rect">
            <a:avLst/>
          </a:prstGeom>
          <a:solidFill>
            <a:srgbClr val="CE93D8"/>
          </a:solidFill>
          <a:ln/>
          <a:effectLst>
            <a:outerShdw sx="100000" sy="100000" kx="0" ky="0" algn="bl" rotWithShape="0" blurRad="76200" dist="25400" dir="8100000">
              <a:srgbClr val="000000">
                <a:alpha val="12000"/>
              </a:srgbClr>
            </a:outerShdw>
          </a:effectLst>
        </p:spPr>
      </p:sp>
      <p:pic>
        <p:nvPicPr>
          <p:cNvPr id="25" name="Image 5" descr="preencoded.png">    </p:cNvPr>
          <p:cNvPicPr>
            <a:picLocks noChangeAspect="1"/>
          </p:cNvPicPr>
          <p:nvPr/>
        </p:nvPicPr>
        <p:blipFill>
          <a:blip r:embed="rId6"/>
          <a:stretch>
            <a:fillRect/>
          </a:stretch>
        </p:blipFill>
        <p:spPr>
          <a:xfrm>
            <a:off x="7749540" y="1234440"/>
            <a:ext cx="365760" cy="365760"/>
          </a:xfrm>
          <a:prstGeom prst="rect">
            <a:avLst/>
          </a:prstGeom>
        </p:spPr>
      </p:pic>
      <p:sp>
        <p:nvSpPr>
          <p:cNvPr id="26" name="Text 18"/>
          <p:cNvSpPr/>
          <p:nvPr/>
        </p:nvSpPr>
        <p:spPr>
          <a:xfrm>
            <a:off x="7406640" y="1691640"/>
            <a:ext cx="1051560" cy="731520"/>
          </a:xfrm>
          <a:prstGeom prst="rect">
            <a:avLst/>
          </a:prstGeom>
          <a:noFill/>
          <a:ln/>
        </p:spPr>
        <p:txBody>
          <a:bodyPr wrap="square" lIns="0" tIns="0" rIns="0" bIns="0" rtlCol="0" anchor="ctr"/>
          <a:lstStyle/>
          <a:p>
            <a:pPr algn="ctr" indent="0" marL="0">
              <a:lnSpc>
                <a:spcPct val="115000"/>
              </a:lnSpc>
              <a:buNone/>
            </a:pPr>
            <a:r>
              <a:rPr lang="en-US" sz="1000" b="1" dirty="0">
                <a:solidFill>
                  <a:srgbClr val="0D0616"/>
                </a:solidFill>
                <a:latin typeface="Calibri" pitchFamily="34" charset="0"/>
                <a:ea typeface="Calibri" pitchFamily="34" charset="-122"/>
                <a:cs typeface="Calibri" pitchFamily="34" charset="-120"/>
              </a:rPr>
              <a:t>Cloud Layer</a:t>
            </a:r>
            <a:endParaRPr lang="en-US" sz="1000" dirty="0"/>
          </a:p>
        </p:txBody>
      </p:sp>
      <p:sp>
        <p:nvSpPr>
          <p:cNvPr id="27" name="Shape 19"/>
          <p:cNvSpPr/>
          <p:nvPr/>
        </p:nvSpPr>
        <p:spPr>
          <a:xfrm>
            <a:off x="548640" y="2880360"/>
            <a:ext cx="2606040" cy="178308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28" name="Shape 20"/>
          <p:cNvSpPr/>
          <p:nvPr/>
        </p:nvSpPr>
        <p:spPr>
          <a:xfrm>
            <a:off x="548640" y="2880360"/>
            <a:ext cx="2606040" cy="45720"/>
          </a:xfrm>
          <a:prstGeom prst="rect">
            <a:avLst/>
          </a:prstGeom>
          <a:solidFill>
            <a:srgbClr val="6A1B9A"/>
          </a:solidFill>
          <a:ln/>
        </p:spPr>
      </p:sp>
      <p:sp>
        <p:nvSpPr>
          <p:cNvPr id="29" name="Text 21"/>
          <p:cNvSpPr/>
          <p:nvPr/>
        </p:nvSpPr>
        <p:spPr>
          <a:xfrm>
            <a:off x="658368" y="3017520"/>
            <a:ext cx="2377440" cy="320040"/>
          </a:xfrm>
          <a:prstGeom prst="rect">
            <a:avLst/>
          </a:prstGeom>
          <a:noFill/>
          <a:ln/>
        </p:spPr>
        <p:txBody>
          <a:bodyPr wrap="square" lIns="0" tIns="0" rIns="0" bIns="0" rtlCol="0" anchor="ctr"/>
          <a:lstStyle/>
          <a:p>
            <a:pPr indent="0" marL="0">
              <a:buNone/>
            </a:pPr>
            <a:r>
              <a:rPr lang="en-US" sz="1200" b="1" dirty="0">
                <a:solidFill>
                  <a:srgbClr val="6A1B9A"/>
                </a:solidFill>
                <a:latin typeface="Trebuchet MS" pitchFamily="34" charset="0"/>
                <a:ea typeface="Trebuchet MS" pitchFamily="34" charset="-122"/>
                <a:cs typeface="Trebuchet MS" pitchFamily="34" charset="-120"/>
              </a:rPr>
              <a:t>Resume Parser</a:t>
            </a:r>
            <a:endParaRPr lang="en-US" sz="1200" dirty="0"/>
          </a:p>
        </p:txBody>
      </p:sp>
      <p:sp>
        <p:nvSpPr>
          <p:cNvPr id="30" name="Text 22"/>
          <p:cNvSpPr/>
          <p:nvPr/>
        </p:nvSpPr>
        <p:spPr>
          <a:xfrm>
            <a:off x="658368" y="3383280"/>
            <a:ext cx="2377440" cy="1143000"/>
          </a:xfrm>
          <a:prstGeom prst="rect">
            <a:avLst/>
          </a:prstGeom>
          <a:noFill/>
          <a:ln/>
        </p:spPr>
        <p:txBody>
          <a:bodyPr wrap="square" lIns="0" tIns="0" rIns="0" bIns="0" rtlCol="0" anchor="ctr"/>
          <a:lstStyle/>
          <a:p>
            <a:pPr indent="0" marL="0">
              <a:lnSpc>
                <a:spcPct val="130000"/>
              </a:lnSpc>
              <a:buNone/>
            </a:pPr>
            <a:r>
              <a:rPr lang="en-US" sz="1000" dirty="0">
                <a:solidFill>
                  <a:srgbClr val="1A0A2E"/>
                </a:solidFill>
                <a:latin typeface="Calibri" pitchFamily="34" charset="0"/>
                <a:ea typeface="Calibri" pitchFamily="34" charset="-122"/>
                <a:cs typeface="Calibri" pitchFamily="34" charset="-120"/>
              </a:rPr>
              <a:t>Use spaCy to extract relevant information from resumes</a:t>
            </a:r>
            <a:endParaRPr lang="en-US" sz="1000" dirty="0"/>
          </a:p>
        </p:txBody>
      </p:sp>
      <p:sp>
        <p:nvSpPr>
          <p:cNvPr id="31" name="Shape 23"/>
          <p:cNvSpPr/>
          <p:nvPr/>
        </p:nvSpPr>
        <p:spPr>
          <a:xfrm>
            <a:off x="3383280" y="2880360"/>
            <a:ext cx="2606040" cy="178308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32" name="Shape 24"/>
          <p:cNvSpPr/>
          <p:nvPr/>
        </p:nvSpPr>
        <p:spPr>
          <a:xfrm>
            <a:off x="3383280" y="2880360"/>
            <a:ext cx="2606040" cy="45720"/>
          </a:xfrm>
          <a:prstGeom prst="rect">
            <a:avLst/>
          </a:prstGeom>
          <a:solidFill>
            <a:srgbClr val="6A1B9A"/>
          </a:solidFill>
          <a:ln/>
        </p:spPr>
      </p:sp>
      <p:sp>
        <p:nvSpPr>
          <p:cNvPr id="33" name="Text 25"/>
          <p:cNvSpPr/>
          <p:nvPr/>
        </p:nvSpPr>
        <p:spPr>
          <a:xfrm>
            <a:off x="3493008" y="3017520"/>
            <a:ext cx="2377440" cy="320040"/>
          </a:xfrm>
          <a:prstGeom prst="rect">
            <a:avLst/>
          </a:prstGeom>
          <a:noFill/>
          <a:ln/>
        </p:spPr>
        <p:txBody>
          <a:bodyPr wrap="square" lIns="0" tIns="0" rIns="0" bIns="0" rtlCol="0" anchor="ctr"/>
          <a:lstStyle/>
          <a:p>
            <a:pPr indent="0" marL="0">
              <a:buNone/>
            </a:pPr>
            <a:r>
              <a:rPr lang="en-US" sz="1200" b="1" dirty="0">
                <a:solidFill>
                  <a:srgbClr val="6A1B9A"/>
                </a:solidFill>
                <a:latin typeface="Trebuchet MS" pitchFamily="34" charset="0"/>
                <a:ea typeface="Trebuchet MS" pitchFamily="34" charset="-122"/>
                <a:cs typeface="Trebuchet MS" pitchFamily="34" charset="-120"/>
              </a:rPr>
              <a:t>Skill and Experience Matcher</a:t>
            </a:r>
            <a:endParaRPr lang="en-US" sz="1200" dirty="0"/>
          </a:p>
        </p:txBody>
      </p:sp>
      <p:sp>
        <p:nvSpPr>
          <p:cNvPr id="34" name="Text 26"/>
          <p:cNvSpPr/>
          <p:nvPr/>
        </p:nvSpPr>
        <p:spPr>
          <a:xfrm>
            <a:off x="3493008" y="3383280"/>
            <a:ext cx="2377440" cy="1143000"/>
          </a:xfrm>
          <a:prstGeom prst="rect">
            <a:avLst/>
          </a:prstGeom>
          <a:noFill/>
          <a:ln/>
        </p:spPr>
        <p:txBody>
          <a:bodyPr wrap="square" lIns="0" tIns="0" rIns="0" bIns="0" rtlCol="0" anchor="ctr"/>
          <a:lstStyle/>
          <a:p>
            <a:pPr indent="0" marL="0">
              <a:lnSpc>
                <a:spcPct val="130000"/>
              </a:lnSpc>
              <a:buNone/>
            </a:pPr>
            <a:r>
              <a:rPr lang="en-US" sz="1000" dirty="0">
                <a:solidFill>
                  <a:srgbClr val="1A0A2E"/>
                </a:solidFill>
                <a:latin typeface="Calibri" pitchFamily="34" charset="0"/>
                <a:ea typeface="Calibri" pitchFamily="34" charset="-122"/>
                <a:cs typeface="Calibri" pitchFamily="34" charset="-120"/>
              </a:rPr>
              <a:t>Use machine learning algorithms to match candidate skills and experience with job requirements</a:t>
            </a:r>
            <a:endParaRPr lang="en-US" sz="1000" dirty="0"/>
          </a:p>
        </p:txBody>
      </p:sp>
      <p:sp>
        <p:nvSpPr>
          <p:cNvPr id="35" name="Shape 27"/>
          <p:cNvSpPr/>
          <p:nvPr/>
        </p:nvSpPr>
        <p:spPr>
          <a:xfrm>
            <a:off x="6217920" y="2880360"/>
            <a:ext cx="2606040" cy="178308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36" name="Shape 28"/>
          <p:cNvSpPr/>
          <p:nvPr/>
        </p:nvSpPr>
        <p:spPr>
          <a:xfrm>
            <a:off x="6217920" y="2880360"/>
            <a:ext cx="2606040" cy="45720"/>
          </a:xfrm>
          <a:prstGeom prst="rect">
            <a:avLst/>
          </a:prstGeom>
          <a:solidFill>
            <a:srgbClr val="6A1B9A"/>
          </a:solidFill>
          <a:ln/>
        </p:spPr>
      </p:sp>
      <p:sp>
        <p:nvSpPr>
          <p:cNvPr id="37" name="Text 29"/>
          <p:cNvSpPr/>
          <p:nvPr/>
        </p:nvSpPr>
        <p:spPr>
          <a:xfrm>
            <a:off x="6327648" y="3017520"/>
            <a:ext cx="2377440" cy="320040"/>
          </a:xfrm>
          <a:prstGeom prst="rect">
            <a:avLst/>
          </a:prstGeom>
          <a:noFill/>
          <a:ln/>
        </p:spPr>
        <p:txBody>
          <a:bodyPr wrap="square" lIns="0" tIns="0" rIns="0" bIns="0" rtlCol="0" anchor="ctr"/>
          <a:lstStyle/>
          <a:p>
            <a:pPr indent="0" marL="0">
              <a:buNone/>
            </a:pPr>
            <a:r>
              <a:rPr lang="en-US" sz="1200" b="1" dirty="0">
                <a:solidFill>
                  <a:srgbClr val="6A1B9A"/>
                </a:solidFill>
                <a:latin typeface="Trebuchet MS" pitchFamily="34" charset="0"/>
                <a:ea typeface="Trebuchet MS" pitchFamily="34" charset="-122"/>
                <a:cs typeface="Trebuchet MS" pitchFamily="34" charset="-120"/>
              </a:rPr>
              <a:t>Candidate Ranker</a:t>
            </a:r>
            <a:endParaRPr lang="en-US" sz="1200" dirty="0"/>
          </a:p>
        </p:txBody>
      </p:sp>
      <p:sp>
        <p:nvSpPr>
          <p:cNvPr id="38" name="Text 30"/>
          <p:cNvSpPr/>
          <p:nvPr/>
        </p:nvSpPr>
        <p:spPr>
          <a:xfrm>
            <a:off x="6327648" y="3383280"/>
            <a:ext cx="2377440" cy="1143000"/>
          </a:xfrm>
          <a:prstGeom prst="rect">
            <a:avLst/>
          </a:prstGeom>
          <a:noFill/>
          <a:ln/>
        </p:spPr>
        <p:txBody>
          <a:bodyPr wrap="square" lIns="0" tIns="0" rIns="0" bIns="0" rtlCol="0" anchor="ctr"/>
          <a:lstStyle/>
          <a:p>
            <a:pPr indent="0" marL="0">
              <a:lnSpc>
                <a:spcPct val="130000"/>
              </a:lnSpc>
              <a:buNone/>
            </a:pPr>
            <a:r>
              <a:rPr lang="en-US" sz="1000" dirty="0">
                <a:solidFill>
                  <a:srgbClr val="1A0A2E"/>
                </a:solidFill>
                <a:latin typeface="Calibri" pitchFamily="34" charset="0"/>
                <a:ea typeface="Calibri" pitchFamily="34" charset="-122"/>
                <a:cs typeface="Calibri" pitchFamily="34" charset="-120"/>
              </a:rPr>
              <a:t>Use a scoring system to rank candidates based on their suitability for the job opening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0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A1B9A"/>
          </a:solidFill>
          <a:ln/>
        </p:spPr>
      </p:sp>
      <p:sp>
        <p:nvSpPr>
          <p:cNvPr id="3" name="Text 1"/>
          <p:cNvSpPr/>
          <p:nvPr/>
        </p:nvSpPr>
        <p:spPr>
          <a:xfrm>
            <a:off x="548640" y="274320"/>
            <a:ext cx="4572000" cy="457200"/>
          </a:xfrm>
          <a:prstGeom prst="rect">
            <a:avLst/>
          </a:prstGeom>
          <a:noFill/>
          <a:ln/>
        </p:spPr>
        <p:txBody>
          <a:bodyPr wrap="square" lIns="0" tIns="0" rIns="0" bIns="0" rtlCol="0" anchor="ctr"/>
          <a:lstStyle/>
          <a:p>
            <a:pPr indent="0" marL="0">
              <a:buNone/>
            </a:pPr>
            <a:r>
              <a:rPr lang="en-US" sz="2800" b="1" dirty="0">
                <a:solidFill>
                  <a:srgbClr val="6A1B9A"/>
                </a:solidFill>
                <a:latin typeface="Trebuchet MS" pitchFamily="34" charset="0"/>
                <a:ea typeface="Trebuchet MS" pitchFamily="34" charset="-122"/>
                <a:cs typeface="Trebuchet MS" pitchFamily="34" charset="-120"/>
              </a:rPr>
              <a:t>System Modules</a:t>
            </a:r>
            <a:endParaRPr lang="en-US" sz="2800" dirty="0"/>
          </a:p>
        </p:txBody>
      </p:sp>
      <p:sp>
        <p:nvSpPr>
          <p:cNvPr id="4" name="Shape 2"/>
          <p:cNvSpPr/>
          <p:nvPr/>
        </p:nvSpPr>
        <p:spPr>
          <a:xfrm>
            <a:off x="457200" y="914400"/>
            <a:ext cx="2606040" cy="178308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594360" y="1051560"/>
            <a:ext cx="502920" cy="502920"/>
          </a:xfrm>
          <a:prstGeom prst="ellipse">
            <a:avLst/>
          </a:prstGeom>
          <a:solidFill>
            <a:srgbClr val="6A1B9A"/>
          </a:solidFill>
          <a:ln/>
        </p:spPr>
      </p:sp>
      <p:pic>
        <p:nvPicPr>
          <p:cNvPr id="6" name="Image 0" descr="preencoded.png">    </p:cNvPr>
          <p:cNvPicPr>
            <a:picLocks noChangeAspect="1"/>
          </p:cNvPicPr>
          <p:nvPr/>
        </p:nvPicPr>
        <p:blipFill>
          <a:blip r:embed="rId1"/>
          <a:stretch>
            <a:fillRect/>
          </a:stretch>
        </p:blipFill>
        <p:spPr>
          <a:xfrm>
            <a:off x="685800" y="1143000"/>
            <a:ext cx="320040" cy="320040"/>
          </a:xfrm>
          <a:prstGeom prst="rect">
            <a:avLst/>
          </a:prstGeom>
        </p:spPr>
      </p:pic>
      <p:sp>
        <p:nvSpPr>
          <p:cNvPr id="7" name="Text 4"/>
          <p:cNvSpPr/>
          <p:nvPr/>
        </p:nvSpPr>
        <p:spPr>
          <a:xfrm>
            <a:off x="1234440" y="1078992"/>
            <a:ext cx="1691640" cy="411480"/>
          </a:xfrm>
          <a:prstGeom prst="rect">
            <a:avLst/>
          </a:prstGeom>
          <a:noFill/>
          <a:ln/>
        </p:spPr>
        <p:txBody>
          <a:bodyPr wrap="square" lIns="0" tIns="0" rIns="0" bIns="0" rtlCol="0" anchor="ctr"/>
          <a:lstStyle/>
          <a:p>
            <a:pPr indent="0" marL="0">
              <a:buNone/>
            </a:pPr>
            <a:r>
              <a:rPr lang="en-US" sz="1200" b="1" dirty="0">
                <a:solidFill>
                  <a:srgbClr val="1A0A2E"/>
                </a:solidFill>
                <a:latin typeface="Trebuchet MS" pitchFamily="34" charset="0"/>
                <a:ea typeface="Trebuchet MS" pitchFamily="34" charset="-122"/>
                <a:cs typeface="Trebuchet MS" pitchFamily="34" charset="-120"/>
              </a:rPr>
              <a:t>Resume Parser Module</a:t>
            </a:r>
            <a:endParaRPr lang="en-US" sz="1200" dirty="0"/>
          </a:p>
        </p:txBody>
      </p:sp>
      <p:sp>
        <p:nvSpPr>
          <p:cNvPr id="8" name="Text 5"/>
          <p:cNvSpPr/>
          <p:nvPr/>
        </p:nvSpPr>
        <p:spPr>
          <a:xfrm>
            <a:off x="594360" y="1691640"/>
            <a:ext cx="2331720" cy="868680"/>
          </a:xfrm>
          <a:prstGeom prst="rect">
            <a:avLst/>
          </a:prstGeom>
          <a:noFill/>
          <a:ln/>
        </p:spPr>
        <p:txBody>
          <a:bodyPr wrap="square" lIns="0" tIns="0" rIns="0" bIns="0" rtlCol="0" anchor="ctr"/>
          <a:lstStyle/>
          <a:p>
            <a:pPr indent="0" marL="0">
              <a:lnSpc>
                <a:spcPct val="130000"/>
              </a:lnSpc>
              <a:buNone/>
            </a:pPr>
            <a:r>
              <a:rPr lang="en-US" sz="1000" dirty="0">
                <a:solidFill>
                  <a:srgbClr val="8E6EA6"/>
                </a:solidFill>
                <a:latin typeface="Calibri" pitchFamily="34" charset="0"/>
                <a:ea typeface="Calibri" pitchFamily="34" charset="-122"/>
                <a:cs typeface="Calibri" pitchFamily="34" charset="-120"/>
              </a:rPr>
              <a:t>Responsible for extracting relevant information from resumes</a:t>
            </a:r>
            <a:endParaRPr lang="en-US" sz="1000" dirty="0"/>
          </a:p>
        </p:txBody>
      </p:sp>
      <p:sp>
        <p:nvSpPr>
          <p:cNvPr id="9" name="Shape 6"/>
          <p:cNvSpPr/>
          <p:nvPr/>
        </p:nvSpPr>
        <p:spPr>
          <a:xfrm>
            <a:off x="3291840" y="914400"/>
            <a:ext cx="2606040" cy="178308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0" name="Shape 7"/>
          <p:cNvSpPr/>
          <p:nvPr/>
        </p:nvSpPr>
        <p:spPr>
          <a:xfrm>
            <a:off x="3429000" y="1051560"/>
            <a:ext cx="502920" cy="502920"/>
          </a:xfrm>
          <a:prstGeom prst="ellipse">
            <a:avLst/>
          </a:prstGeom>
          <a:solidFill>
            <a:srgbClr val="6A1B9A"/>
          </a:solidFill>
          <a:ln/>
        </p:spPr>
      </p:sp>
      <p:pic>
        <p:nvPicPr>
          <p:cNvPr id="11" name="Image 1" descr="preencoded.png">    </p:cNvPr>
          <p:cNvPicPr>
            <a:picLocks noChangeAspect="1"/>
          </p:cNvPicPr>
          <p:nvPr/>
        </p:nvPicPr>
        <p:blipFill>
          <a:blip r:embed="rId2"/>
          <a:stretch>
            <a:fillRect/>
          </a:stretch>
        </p:blipFill>
        <p:spPr>
          <a:xfrm>
            <a:off x="3520440" y="1143000"/>
            <a:ext cx="320040" cy="320040"/>
          </a:xfrm>
          <a:prstGeom prst="rect">
            <a:avLst/>
          </a:prstGeom>
        </p:spPr>
      </p:pic>
      <p:sp>
        <p:nvSpPr>
          <p:cNvPr id="12" name="Text 8"/>
          <p:cNvSpPr/>
          <p:nvPr/>
        </p:nvSpPr>
        <p:spPr>
          <a:xfrm>
            <a:off x="4069080" y="1078992"/>
            <a:ext cx="1691640" cy="411480"/>
          </a:xfrm>
          <a:prstGeom prst="rect">
            <a:avLst/>
          </a:prstGeom>
          <a:noFill/>
          <a:ln/>
        </p:spPr>
        <p:txBody>
          <a:bodyPr wrap="square" lIns="0" tIns="0" rIns="0" bIns="0" rtlCol="0" anchor="ctr"/>
          <a:lstStyle/>
          <a:p>
            <a:pPr indent="0" marL="0">
              <a:buNone/>
            </a:pPr>
            <a:r>
              <a:rPr lang="en-US" sz="1200" b="1" dirty="0">
                <a:solidFill>
                  <a:srgbClr val="1A0A2E"/>
                </a:solidFill>
                <a:latin typeface="Trebuchet MS" pitchFamily="34" charset="0"/>
                <a:ea typeface="Trebuchet MS" pitchFamily="34" charset="-122"/>
                <a:cs typeface="Trebuchet MS" pitchFamily="34" charset="-120"/>
              </a:rPr>
              <a:t>Skill and Experience Matcher Module</a:t>
            </a:r>
            <a:endParaRPr lang="en-US" sz="1200" dirty="0"/>
          </a:p>
        </p:txBody>
      </p:sp>
      <p:sp>
        <p:nvSpPr>
          <p:cNvPr id="13" name="Text 9"/>
          <p:cNvSpPr/>
          <p:nvPr/>
        </p:nvSpPr>
        <p:spPr>
          <a:xfrm>
            <a:off x="3429000" y="1691640"/>
            <a:ext cx="2331720" cy="868680"/>
          </a:xfrm>
          <a:prstGeom prst="rect">
            <a:avLst/>
          </a:prstGeom>
          <a:noFill/>
          <a:ln/>
        </p:spPr>
        <p:txBody>
          <a:bodyPr wrap="square" lIns="0" tIns="0" rIns="0" bIns="0" rtlCol="0" anchor="ctr"/>
          <a:lstStyle/>
          <a:p>
            <a:pPr indent="0" marL="0">
              <a:lnSpc>
                <a:spcPct val="130000"/>
              </a:lnSpc>
              <a:buNone/>
            </a:pPr>
            <a:r>
              <a:rPr lang="en-US" sz="1000" dirty="0">
                <a:solidFill>
                  <a:srgbClr val="8E6EA6"/>
                </a:solidFill>
                <a:latin typeface="Calibri" pitchFamily="34" charset="0"/>
                <a:ea typeface="Calibri" pitchFamily="34" charset="-122"/>
                <a:cs typeface="Calibri" pitchFamily="34" charset="-120"/>
              </a:rPr>
              <a:t>Responsible for matching candidate skills and experience with job requirements</a:t>
            </a:r>
            <a:endParaRPr lang="en-US" sz="1000" dirty="0"/>
          </a:p>
        </p:txBody>
      </p:sp>
      <p:sp>
        <p:nvSpPr>
          <p:cNvPr id="14" name="Shape 10"/>
          <p:cNvSpPr/>
          <p:nvPr/>
        </p:nvSpPr>
        <p:spPr>
          <a:xfrm>
            <a:off x="6126480" y="914400"/>
            <a:ext cx="2606040" cy="178308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5" name="Shape 11"/>
          <p:cNvSpPr/>
          <p:nvPr/>
        </p:nvSpPr>
        <p:spPr>
          <a:xfrm>
            <a:off x="6263640" y="1051560"/>
            <a:ext cx="502920" cy="502920"/>
          </a:xfrm>
          <a:prstGeom prst="ellipse">
            <a:avLst/>
          </a:prstGeom>
          <a:solidFill>
            <a:srgbClr val="6A1B9A"/>
          </a:solidFill>
          <a:ln/>
        </p:spPr>
      </p:sp>
      <p:pic>
        <p:nvPicPr>
          <p:cNvPr id="16" name="Image 2" descr="preencoded.png">    </p:cNvPr>
          <p:cNvPicPr>
            <a:picLocks noChangeAspect="1"/>
          </p:cNvPicPr>
          <p:nvPr/>
        </p:nvPicPr>
        <p:blipFill>
          <a:blip r:embed="rId3"/>
          <a:stretch>
            <a:fillRect/>
          </a:stretch>
        </p:blipFill>
        <p:spPr>
          <a:xfrm>
            <a:off x="6355080" y="1143000"/>
            <a:ext cx="320040" cy="320040"/>
          </a:xfrm>
          <a:prstGeom prst="rect">
            <a:avLst/>
          </a:prstGeom>
        </p:spPr>
      </p:pic>
      <p:sp>
        <p:nvSpPr>
          <p:cNvPr id="17" name="Text 12"/>
          <p:cNvSpPr/>
          <p:nvPr/>
        </p:nvSpPr>
        <p:spPr>
          <a:xfrm>
            <a:off x="6903720" y="1078992"/>
            <a:ext cx="1691640" cy="411480"/>
          </a:xfrm>
          <a:prstGeom prst="rect">
            <a:avLst/>
          </a:prstGeom>
          <a:noFill/>
          <a:ln/>
        </p:spPr>
        <p:txBody>
          <a:bodyPr wrap="square" lIns="0" tIns="0" rIns="0" bIns="0" rtlCol="0" anchor="ctr"/>
          <a:lstStyle/>
          <a:p>
            <a:pPr indent="0" marL="0">
              <a:buNone/>
            </a:pPr>
            <a:r>
              <a:rPr lang="en-US" sz="1200" b="1" dirty="0">
                <a:solidFill>
                  <a:srgbClr val="1A0A2E"/>
                </a:solidFill>
                <a:latin typeface="Trebuchet MS" pitchFamily="34" charset="0"/>
                <a:ea typeface="Trebuchet MS" pitchFamily="34" charset="-122"/>
                <a:cs typeface="Trebuchet MS" pitchFamily="34" charset="-120"/>
              </a:rPr>
              <a:t>Candidate Ranker Module</a:t>
            </a:r>
            <a:endParaRPr lang="en-US" sz="1200" dirty="0"/>
          </a:p>
        </p:txBody>
      </p:sp>
      <p:sp>
        <p:nvSpPr>
          <p:cNvPr id="18" name="Text 13"/>
          <p:cNvSpPr/>
          <p:nvPr/>
        </p:nvSpPr>
        <p:spPr>
          <a:xfrm>
            <a:off x="6263640" y="1691640"/>
            <a:ext cx="2331720" cy="868680"/>
          </a:xfrm>
          <a:prstGeom prst="rect">
            <a:avLst/>
          </a:prstGeom>
          <a:noFill/>
          <a:ln/>
        </p:spPr>
        <p:txBody>
          <a:bodyPr wrap="square" lIns="0" tIns="0" rIns="0" bIns="0" rtlCol="0" anchor="ctr"/>
          <a:lstStyle/>
          <a:p>
            <a:pPr indent="0" marL="0">
              <a:lnSpc>
                <a:spcPct val="130000"/>
              </a:lnSpc>
              <a:buNone/>
            </a:pPr>
            <a:r>
              <a:rPr lang="en-US" sz="1000" dirty="0">
                <a:solidFill>
                  <a:srgbClr val="8E6EA6"/>
                </a:solidFill>
                <a:latin typeface="Calibri" pitchFamily="34" charset="0"/>
                <a:ea typeface="Calibri" pitchFamily="34" charset="-122"/>
                <a:cs typeface="Calibri" pitchFamily="34" charset="-120"/>
              </a:rPr>
              <a:t>Responsible for ranking candidates based on their suitability for the job opening</a:t>
            </a:r>
            <a:endParaRPr lang="en-US" sz="1000" dirty="0"/>
          </a:p>
        </p:txBody>
      </p:sp>
      <p:sp>
        <p:nvSpPr>
          <p:cNvPr id="19" name="Shape 14"/>
          <p:cNvSpPr/>
          <p:nvPr/>
        </p:nvSpPr>
        <p:spPr>
          <a:xfrm>
            <a:off x="457200" y="2880360"/>
            <a:ext cx="2606040" cy="178308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20" name="Shape 15"/>
          <p:cNvSpPr/>
          <p:nvPr/>
        </p:nvSpPr>
        <p:spPr>
          <a:xfrm>
            <a:off x="594360" y="3017520"/>
            <a:ext cx="502920" cy="502920"/>
          </a:xfrm>
          <a:prstGeom prst="ellipse">
            <a:avLst/>
          </a:prstGeom>
          <a:solidFill>
            <a:srgbClr val="6A1B9A"/>
          </a:solidFill>
          <a:ln/>
        </p:spPr>
      </p:sp>
      <p:pic>
        <p:nvPicPr>
          <p:cNvPr id="21" name="Image 3" descr="preencoded.png">    </p:cNvPr>
          <p:cNvPicPr>
            <a:picLocks noChangeAspect="1"/>
          </p:cNvPicPr>
          <p:nvPr/>
        </p:nvPicPr>
        <p:blipFill>
          <a:blip r:embed="rId4"/>
          <a:stretch>
            <a:fillRect/>
          </a:stretch>
        </p:blipFill>
        <p:spPr>
          <a:xfrm>
            <a:off x="685800" y="3108960"/>
            <a:ext cx="320040" cy="320040"/>
          </a:xfrm>
          <a:prstGeom prst="rect">
            <a:avLst/>
          </a:prstGeom>
        </p:spPr>
      </p:pic>
      <p:sp>
        <p:nvSpPr>
          <p:cNvPr id="22" name="Text 16"/>
          <p:cNvSpPr/>
          <p:nvPr/>
        </p:nvSpPr>
        <p:spPr>
          <a:xfrm>
            <a:off x="1234440" y="3044952"/>
            <a:ext cx="1691640" cy="411480"/>
          </a:xfrm>
          <a:prstGeom prst="rect">
            <a:avLst/>
          </a:prstGeom>
          <a:noFill/>
          <a:ln/>
        </p:spPr>
        <p:txBody>
          <a:bodyPr wrap="square" lIns="0" tIns="0" rIns="0" bIns="0" rtlCol="0" anchor="ctr"/>
          <a:lstStyle/>
          <a:p>
            <a:pPr indent="0" marL="0">
              <a:buNone/>
            </a:pPr>
            <a:r>
              <a:rPr lang="en-US" sz="1200" b="1" dirty="0">
                <a:solidFill>
                  <a:srgbClr val="1A0A2E"/>
                </a:solidFill>
                <a:latin typeface="Trebuchet MS" pitchFamily="34" charset="0"/>
                <a:ea typeface="Trebuchet MS" pitchFamily="34" charset="-122"/>
                <a:cs typeface="Trebuchet MS" pitchFamily="34" charset="-120"/>
              </a:rPr>
              <a:t>User Interface Module</a:t>
            </a:r>
            <a:endParaRPr lang="en-US" sz="1200" dirty="0"/>
          </a:p>
        </p:txBody>
      </p:sp>
      <p:sp>
        <p:nvSpPr>
          <p:cNvPr id="23" name="Text 17"/>
          <p:cNvSpPr/>
          <p:nvPr/>
        </p:nvSpPr>
        <p:spPr>
          <a:xfrm>
            <a:off x="594360" y="3657600"/>
            <a:ext cx="2331720" cy="868680"/>
          </a:xfrm>
          <a:prstGeom prst="rect">
            <a:avLst/>
          </a:prstGeom>
          <a:noFill/>
          <a:ln/>
        </p:spPr>
        <p:txBody>
          <a:bodyPr wrap="square" lIns="0" tIns="0" rIns="0" bIns="0" rtlCol="0" anchor="ctr"/>
          <a:lstStyle/>
          <a:p>
            <a:pPr indent="0" marL="0">
              <a:lnSpc>
                <a:spcPct val="130000"/>
              </a:lnSpc>
              <a:buNone/>
            </a:pPr>
            <a:r>
              <a:rPr lang="en-US" sz="1000" dirty="0">
                <a:solidFill>
                  <a:srgbClr val="8E6EA6"/>
                </a:solidFill>
                <a:latin typeface="Calibri" pitchFamily="34" charset="0"/>
                <a:ea typeface="Calibri" pitchFamily="34" charset="-122"/>
                <a:cs typeface="Calibri" pitchFamily="34" charset="-120"/>
              </a:rPr>
              <a:t>Provides an intuitive interface for HR professionals and recruiters to upload resumes and view results</a:t>
            </a:r>
            <a:endParaRPr lang="en-US" sz="1000" dirty="0"/>
          </a:p>
        </p:txBody>
      </p:sp>
      <p:sp>
        <p:nvSpPr>
          <p:cNvPr id="24" name="Shape 18"/>
          <p:cNvSpPr/>
          <p:nvPr/>
        </p:nvSpPr>
        <p:spPr>
          <a:xfrm>
            <a:off x="3291840" y="2880360"/>
            <a:ext cx="2606040" cy="178308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25" name="Shape 19"/>
          <p:cNvSpPr/>
          <p:nvPr/>
        </p:nvSpPr>
        <p:spPr>
          <a:xfrm>
            <a:off x="3429000" y="3017520"/>
            <a:ext cx="502920" cy="502920"/>
          </a:xfrm>
          <a:prstGeom prst="ellipse">
            <a:avLst/>
          </a:prstGeom>
          <a:solidFill>
            <a:srgbClr val="6A1B9A"/>
          </a:solidFill>
          <a:ln/>
        </p:spPr>
      </p:sp>
      <p:pic>
        <p:nvPicPr>
          <p:cNvPr id="26" name="Image 4" descr="preencoded.png">    </p:cNvPr>
          <p:cNvPicPr>
            <a:picLocks noChangeAspect="1"/>
          </p:cNvPicPr>
          <p:nvPr/>
        </p:nvPicPr>
        <p:blipFill>
          <a:blip r:embed="rId5"/>
          <a:stretch>
            <a:fillRect/>
          </a:stretch>
        </p:blipFill>
        <p:spPr>
          <a:xfrm>
            <a:off x="3520440" y="3108960"/>
            <a:ext cx="320040" cy="320040"/>
          </a:xfrm>
          <a:prstGeom prst="rect">
            <a:avLst/>
          </a:prstGeom>
        </p:spPr>
      </p:pic>
      <p:sp>
        <p:nvSpPr>
          <p:cNvPr id="27" name="Text 20"/>
          <p:cNvSpPr/>
          <p:nvPr/>
        </p:nvSpPr>
        <p:spPr>
          <a:xfrm>
            <a:off x="4069080" y="3044952"/>
            <a:ext cx="1691640" cy="411480"/>
          </a:xfrm>
          <a:prstGeom prst="rect">
            <a:avLst/>
          </a:prstGeom>
          <a:noFill/>
          <a:ln/>
        </p:spPr>
        <p:txBody>
          <a:bodyPr wrap="square" lIns="0" tIns="0" rIns="0" bIns="0" rtlCol="0" anchor="ctr"/>
          <a:lstStyle/>
          <a:p>
            <a:pPr indent="0" marL="0">
              <a:buNone/>
            </a:pPr>
            <a:r>
              <a:rPr lang="en-US" sz="1200" b="1" dirty="0">
                <a:solidFill>
                  <a:srgbClr val="1A0A2E"/>
                </a:solidFill>
                <a:latin typeface="Trebuchet MS" pitchFamily="34" charset="0"/>
                <a:ea typeface="Trebuchet MS" pitchFamily="34" charset="-122"/>
                <a:cs typeface="Trebuchet MS" pitchFamily="34" charset="-120"/>
              </a:rPr>
              <a:t>Database Module</a:t>
            </a:r>
            <a:endParaRPr lang="en-US" sz="1200" dirty="0"/>
          </a:p>
        </p:txBody>
      </p:sp>
      <p:sp>
        <p:nvSpPr>
          <p:cNvPr id="28" name="Text 21"/>
          <p:cNvSpPr/>
          <p:nvPr/>
        </p:nvSpPr>
        <p:spPr>
          <a:xfrm>
            <a:off x="3429000" y="3657600"/>
            <a:ext cx="2331720" cy="868680"/>
          </a:xfrm>
          <a:prstGeom prst="rect">
            <a:avLst/>
          </a:prstGeom>
          <a:noFill/>
          <a:ln/>
        </p:spPr>
        <p:txBody>
          <a:bodyPr wrap="square" lIns="0" tIns="0" rIns="0" bIns="0" rtlCol="0" anchor="ctr"/>
          <a:lstStyle/>
          <a:p>
            <a:pPr indent="0" marL="0">
              <a:lnSpc>
                <a:spcPct val="130000"/>
              </a:lnSpc>
              <a:buNone/>
            </a:pPr>
            <a:r>
              <a:rPr lang="en-US" sz="1000" dirty="0">
                <a:solidFill>
                  <a:srgbClr val="8E6EA6"/>
                </a:solidFill>
                <a:latin typeface="Calibri" pitchFamily="34" charset="0"/>
                <a:ea typeface="Calibri" pitchFamily="34" charset="-122"/>
                <a:cs typeface="Calibri" pitchFamily="34" charset="-120"/>
              </a:rPr>
              <a:t>Responsible for storing and retrieving resumes and job openings</a:t>
            </a:r>
            <a:endParaRPr lang="en-US" sz="1000" dirty="0"/>
          </a:p>
        </p:txBody>
      </p:sp>
      <p:sp>
        <p:nvSpPr>
          <p:cNvPr id="29" name="Shape 22"/>
          <p:cNvSpPr/>
          <p:nvPr/>
        </p:nvSpPr>
        <p:spPr>
          <a:xfrm>
            <a:off x="6126480" y="2880360"/>
            <a:ext cx="2606040" cy="178308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30" name="Shape 23"/>
          <p:cNvSpPr/>
          <p:nvPr/>
        </p:nvSpPr>
        <p:spPr>
          <a:xfrm>
            <a:off x="6263640" y="3017520"/>
            <a:ext cx="502920" cy="502920"/>
          </a:xfrm>
          <a:prstGeom prst="ellipse">
            <a:avLst/>
          </a:prstGeom>
          <a:solidFill>
            <a:srgbClr val="6A1B9A"/>
          </a:solidFill>
          <a:ln/>
        </p:spPr>
      </p:sp>
      <p:pic>
        <p:nvPicPr>
          <p:cNvPr id="31" name="Image 5" descr="preencoded.png">    </p:cNvPr>
          <p:cNvPicPr>
            <a:picLocks noChangeAspect="1"/>
          </p:cNvPicPr>
          <p:nvPr/>
        </p:nvPicPr>
        <p:blipFill>
          <a:blip r:embed="rId6"/>
          <a:stretch>
            <a:fillRect/>
          </a:stretch>
        </p:blipFill>
        <p:spPr>
          <a:xfrm>
            <a:off x="6355080" y="3108960"/>
            <a:ext cx="320040" cy="320040"/>
          </a:xfrm>
          <a:prstGeom prst="rect">
            <a:avLst/>
          </a:prstGeom>
        </p:spPr>
      </p:pic>
      <p:sp>
        <p:nvSpPr>
          <p:cNvPr id="32" name="Text 24"/>
          <p:cNvSpPr/>
          <p:nvPr/>
        </p:nvSpPr>
        <p:spPr>
          <a:xfrm>
            <a:off x="6903720" y="3044952"/>
            <a:ext cx="1691640" cy="411480"/>
          </a:xfrm>
          <a:prstGeom prst="rect">
            <a:avLst/>
          </a:prstGeom>
          <a:noFill/>
          <a:ln/>
        </p:spPr>
        <p:txBody>
          <a:bodyPr wrap="square" lIns="0" tIns="0" rIns="0" bIns="0" rtlCol="0" anchor="ctr"/>
          <a:lstStyle/>
          <a:p>
            <a:pPr indent="0" marL="0">
              <a:buNone/>
            </a:pPr>
            <a:r>
              <a:rPr lang="en-US" sz="1200" b="1" dirty="0">
                <a:solidFill>
                  <a:srgbClr val="1A0A2E"/>
                </a:solidFill>
                <a:latin typeface="Trebuchet MS" pitchFamily="34" charset="0"/>
                <a:ea typeface="Trebuchet MS" pitchFamily="34" charset="-122"/>
                <a:cs typeface="Trebuchet MS" pitchFamily="34" charset="-120"/>
              </a:rPr>
              <a:t>NLP Module</a:t>
            </a:r>
            <a:endParaRPr lang="en-US" sz="1200" dirty="0"/>
          </a:p>
        </p:txBody>
      </p:sp>
      <p:sp>
        <p:nvSpPr>
          <p:cNvPr id="33" name="Text 25"/>
          <p:cNvSpPr/>
          <p:nvPr/>
        </p:nvSpPr>
        <p:spPr>
          <a:xfrm>
            <a:off x="6263640" y="3657600"/>
            <a:ext cx="2331720" cy="868680"/>
          </a:xfrm>
          <a:prstGeom prst="rect">
            <a:avLst/>
          </a:prstGeom>
          <a:noFill/>
          <a:ln/>
        </p:spPr>
        <p:txBody>
          <a:bodyPr wrap="square" lIns="0" tIns="0" rIns="0" bIns="0" rtlCol="0" anchor="ctr"/>
          <a:lstStyle/>
          <a:p>
            <a:pPr indent="0" marL="0">
              <a:lnSpc>
                <a:spcPct val="130000"/>
              </a:lnSpc>
              <a:buNone/>
            </a:pPr>
            <a:r>
              <a:rPr lang="en-US" sz="1000" dirty="0">
                <a:solidFill>
                  <a:srgbClr val="8E6EA6"/>
                </a:solidFill>
                <a:latin typeface="Calibri" pitchFamily="34" charset="0"/>
                <a:ea typeface="Calibri" pitchFamily="34" charset="-122"/>
                <a:cs typeface="Calibri" pitchFamily="34" charset="-120"/>
              </a:rPr>
              <a:t>Responsible for using NLP techniques to extract relevant information from resumes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0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A1B9A"/>
          </a:solidFill>
          <a:ln/>
        </p:spPr>
      </p:sp>
      <p:sp>
        <p:nvSpPr>
          <p:cNvPr id="3" name="Text 1"/>
          <p:cNvSpPr/>
          <p:nvPr/>
        </p:nvSpPr>
        <p:spPr>
          <a:xfrm>
            <a:off x="548640" y="274320"/>
            <a:ext cx="4572000" cy="457200"/>
          </a:xfrm>
          <a:prstGeom prst="rect">
            <a:avLst/>
          </a:prstGeom>
          <a:noFill/>
          <a:ln/>
        </p:spPr>
        <p:txBody>
          <a:bodyPr wrap="square" lIns="0" tIns="0" rIns="0" bIns="0" rtlCol="0" anchor="ctr"/>
          <a:lstStyle/>
          <a:p>
            <a:pPr indent="0" marL="0">
              <a:buNone/>
            </a:pPr>
            <a:r>
              <a:rPr lang="en-US" sz="2800" b="1" dirty="0">
                <a:solidFill>
                  <a:srgbClr val="6A1B9A"/>
                </a:solidFill>
                <a:latin typeface="Trebuchet MS" pitchFamily="34" charset="0"/>
                <a:ea typeface="Trebuchet MS" pitchFamily="34" charset="-122"/>
                <a:cs typeface="Trebuchet MS" pitchFamily="34" charset="-120"/>
              </a:rPr>
              <a:t>Core Technology &amp; Models</a:t>
            </a:r>
            <a:endParaRPr lang="en-US" sz="2800" dirty="0"/>
          </a:p>
        </p:txBody>
      </p:sp>
      <p:sp>
        <p:nvSpPr>
          <p:cNvPr id="4" name="Shape 2"/>
          <p:cNvSpPr/>
          <p:nvPr/>
        </p:nvSpPr>
        <p:spPr>
          <a:xfrm>
            <a:off x="548640" y="822960"/>
            <a:ext cx="8138160" cy="685800"/>
          </a:xfrm>
          <a:prstGeom prst="rect">
            <a:avLst/>
          </a:prstGeom>
          <a:solidFill>
            <a:srgbClr val="1A0A2E"/>
          </a:solidFill>
          <a:ln/>
        </p:spPr>
      </p:sp>
      <p:pic>
        <p:nvPicPr>
          <p:cNvPr id="5" name="Image 0" descr="preencoded.png">    </p:cNvPr>
          <p:cNvPicPr>
            <a:picLocks noChangeAspect="1"/>
          </p:cNvPicPr>
          <p:nvPr/>
        </p:nvPicPr>
        <p:blipFill>
          <a:blip r:embed="rId1"/>
          <a:stretch>
            <a:fillRect/>
          </a:stretch>
        </p:blipFill>
        <p:spPr>
          <a:xfrm>
            <a:off x="731520" y="932688"/>
            <a:ext cx="365760" cy="365760"/>
          </a:xfrm>
          <a:prstGeom prst="rect">
            <a:avLst/>
          </a:prstGeom>
        </p:spPr>
      </p:pic>
      <p:sp>
        <p:nvSpPr>
          <p:cNvPr id="6" name="Text 3"/>
          <p:cNvSpPr/>
          <p:nvPr/>
        </p:nvSpPr>
        <p:spPr>
          <a:xfrm>
            <a:off x="1234440" y="868680"/>
            <a:ext cx="2743200" cy="320040"/>
          </a:xfrm>
          <a:prstGeom prst="rect">
            <a:avLst/>
          </a:prstGeom>
          <a:noFill/>
          <a:ln/>
        </p:spPr>
        <p:txBody>
          <a:bodyPr wrap="square" lIns="0" tIns="0" rIns="0" bIns="0" rtlCol="0" anchor="ctr"/>
          <a:lstStyle/>
          <a:p>
            <a:pPr indent="0" marL="0">
              <a:buNone/>
            </a:pPr>
            <a:r>
              <a:rPr lang="en-US" sz="1400" b="1" dirty="0">
                <a:solidFill>
                  <a:srgbClr val="CE93D8"/>
                </a:solidFill>
                <a:latin typeface="Trebuchet MS" pitchFamily="34" charset="0"/>
                <a:ea typeface="Trebuchet MS" pitchFamily="34" charset="-122"/>
                <a:cs typeface="Trebuchet MS" pitchFamily="34" charset="-120"/>
              </a:rPr>
              <a:t>Resume Dataset</a:t>
            </a:r>
            <a:endParaRPr lang="en-US" sz="1400" dirty="0"/>
          </a:p>
        </p:txBody>
      </p:sp>
      <p:sp>
        <p:nvSpPr>
          <p:cNvPr id="7" name="Text 4"/>
          <p:cNvSpPr/>
          <p:nvPr/>
        </p:nvSpPr>
        <p:spPr>
          <a:xfrm>
            <a:off x="1234440" y="1170432"/>
            <a:ext cx="6858000" cy="274320"/>
          </a:xfrm>
          <a:prstGeom prst="rect">
            <a:avLst/>
          </a:prstGeom>
          <a:noFill/>
          <a:ln/>
        </p:spPr>
        <p:txBody>
          <a:bodyPr wrap="square" lIns="0" tIns="0" rIns="0" bIns="0" rtlCol="0" anchor="ctr"/>
          <a:lstStyle/>
          <a:p>
            <a:pPr indent="0" marL="0">
              <a:buNone/>
            </a:pPr>
            <a:r>
              <a:rPr lang="en-US" sz="1000" dirty="0">
                <a:solidFill>
                  <a:srgbClr val="B8A090"/>
                </a:solidFill>
                <a:latin typeface="Calibri" pitchFamily="34" charset="0"/>
                <a:ea typeface="Calibri" pitchFamily="34" charset="-122"/>
                <a:cs typeface="Calibri" pitchFamily="34" charset="-120"/>
              </a:rPr>
              <a:t>10,000+ resumes, 50+ job openings</a:t>
            </a:r>
            <a:endParaRPr lang="en-US" sz="1000" dirty="0"/>
          </a:p>
        </p:txBody>
      </p:sp>
      <p:sp>
        <p:nvSpPr>
          <p:cNvPr id="8" name="Shape 5"/>
          <p:cNvSpPr/>
          <p:nvPr/>
        </p:nvSpPr>
        <p:spPr>
          <a:xfrm>
            <a:off x="548640" y="1737360"/>
            <a:ext cx="2606040" cy="2926080"/>
          </a:xfrm>
          <a:prstGeom prst="rect">
            <a:avLst/>
          </a:prstGeom>
          <a:solidFill>
            <a:srgbClr val="FFFFFF"/>
          </a:solidFill>
          <a:ln w="19050">
            <a:solidFill>
              <a:srgbClr val="CE93D8"/>
            </a:solidFill>
            <a:prstDash val="solid"/>
          </a:ln>
          <a:effectLst>
            <a:outerShdw sx="100000" sy="100000" kx="0" ky="0" algn="bl" rotWithShape="0" blurRad="76200" dist="25400" dir="8100000">
              <a:srgbClr val="000000">
                <a:alpha val="12000"/>
              </a:srgbClr>
            </a:outerShdw>
          </a:effectLst>
        </p:spPr>
      </p:sp>
      <p:sp>
        <p:nvSpPr>
          <p:cNvPr id="9" name="Shape 6"/>
          <p:cNvSpPr/>
          <p:nvPr/>
        </p:nvSpPr>
        <p:spPr>
          <a:xfrm>
            <a:off x="548640" y="1737360"/>
            <a:ext cx="2606040" cy="457200"/>
          </a:xfrm>
          <a:prstGeom prst="rect">
            <a:avLst/>
          </a:prstGeom>
          <a:solidFill>
            <a:srgbClr val="6A1B9A"/>
          </a:solidFill>
          <a:ln/>
        </p:spPr>
      </p:sp>
      <p:sp>
        <p:nvSpPr>
          <p:cNvPr id="10" name="Text 7"/>
          <p:cNvSpPr/>
          <p:nvPr/>
        </p:nvSpPr>
        <p:spPr>
          <a:xfrm>
            <a:off x="640080" y="1737360"/>
            <a:ext cx="2423160" cy="4572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spaCy NER Model  ★</a:t>
            </a:r>
            <a:endParaRPr lang="en-US" sz="1400" dirty="0"/>
          </a:p>
        </p:txBody>
      </p:sp>
      <p:sp>
        <p:nvSpPr>
          <p:cNvPr id="11" name="Text 8"/>
          <p:cNvSpPr/>
          <p:nvPr/>
        </p:nvSpPr>
        <p:spPr>
          <a:xfrm>
            <a:off x="685800" y="2331720"/>
            <a:ext cx="2331720" cy="502920"/>
          </a:xfrm>
          <a:prstGeom prst="rect">
            <a:avLst/>
          </a:prstGeom>
          <a:noFill/>
          <a:ln/>
        </p:spPr>
        <p:txBody>
          <a:bodyPr wrap="square" lIns="0" tIns="0" rIns="0" bIns="0" rtlCol="0" anchor="ctr"/>
          <a:lstStyle/>
          <a:p>
            <a:pPr algn="ctr" indent="0" marL="0">
              <a:buNone/>
            </a:pPr>
            <a:r>
              <a:rPr lang="en-US" sz="2800" b="1" dirty="0">
                <a:solidFill>
                  <a:srgbClr val="6A1B9A"/>
                </a:solidFill>
                <a:latin typeface="Trebuchet MS" pitchFamily="34" charset="0"/>
                <a:ea typeface="Trebuchet MS" pitchFamily="34" charset="-122"/>
                <a:cs typeface="Trebuchet MS" pitchFamily="34" charset="-120"/>
              </a:rPr>
              <a:t>95%</a:t>
            </a:r>
            <a:endParaRPr lang="en-US" sz="2800" dirty="0"/>
          </a:p>
        </p:txBody>
      </p:sp>
      <p:sp>
        <p:nvSpPr>
          <p:cNvPr id="12" name="Text 9"/>
          <p:cNvSpPr/>
          <p:nvPr/>
        </p:nvSpPr>
        <p:spPr>
          <a:xfrm>
            <a:off x="685800" y="2788920"/>
            <a:ext cx="2331720" cy="228600"/>
          </a:xfrm>
          <a:prstGeom prst="rect">
            <a:avLst/>
          </a:prstGeom>
          <a:noFill/>
          <a:ln/>
        </p:spPr>
        <p:txBody>
          <a:bodyPr wrap="square" lIns="0" tIns="0" rIns="0" bIns="0" rtlCol="0" anchor="ctr"/>
          <a:lstStyle/>
          <a:p>
            <a:pPr algn="ctr" indent="0" marL="0">
              <a:buNone/>
            </a:pPr>
            <a:r>
              <a:rPr lang="en-US" sz="950" dirty="0">
                <a:solidFill>
                  <a:srgbClr val="8E6EA6"/>
                </a:solidFill>
                <a:latin typeface="Calibri" pitchFamily="34" charset="0"/>
                <a:ea typeface="Calibri" pitchFamily="34" charset="-122"/>
                <a:cs typeface="Calibri" pitchFamily="34" charset="-120"/>
              </a:rPr>
              <a:t>Performance</a:t>
            </a:r>
            <a:endParaRPr lang="en-US" sz="950" dirty="0"/>
          </a:p>
        </p:txBody>
      </p:sp>
      <p:sp>
        <p:nvSpPr>
          <p:cNvPr id="13" name="Shape 10"/>
          <p:cNvSpPr/>
          <p:nvPr/>
        </p:nvSpPr>
        <p:spPr>
          <a:xfrm>
            <a:off x="685800" y="3108960"/>
            <a:ext cx="2331720" cy="274320"/>
          </a:xfrm>
          <a:prstGeom prst="rect">
            <a:avLst/>
          </a:prstGeom>
          <a:solidFill>
            <a:srgbClr val="CE93D8">
              <a:alpha val="15000"/>
            </a:srgbClr>
          </a:solidFill>
          <a:ln/>
        </p:spPr>
      </p:sp>
      <p:sp>
        <p:nvSpPr>
          <p:cNvPr id="14" name="Text 11"/>
          <p:cNvSpPr/>
          <p:nvPr/>
        </p:nvSpPr>
        <p:spPr>
          <a:xfrm>
            <a:off x="777240" y="3108960"/>
            <a:ext cx="2148840" cy="274320"/>
          </a:xfrm>
          <a:prstGeom prst="rect">
            <a:avLst/>
          </a:prstGeom>
          <a:noFill/>
          <a:ln/>
        </p:spPr>
        <p:txBody>
          <a:bodyPr wrap="square" lIns="0" tIns="0" rIns="0" bIns="0" rtlCol="0" anchor="ctr"/>
          <a:lstStyle/>
          <a:p>
            <a:pPr indent="0" marL="0">
              <a:buNone/>
            </a:pPr>
            <a:r>
              <a:rPr lang="en-US" sz="950" dirty="0">
                <a:solidFill>
                  <a:srgbClr val="1A0A2E"/>
                </a:solidFill>
                <a:latin typeface="Calibri" pitchFamily="34" charset="0"/>
                <a:ea typeface="Calibri" pitchFamily="34" charset="-122"/>
                <a:cs typeface="Calibri" pitchFamily="34" charset="-120"/>
              </a:rPr>
              <a:t>Parameters: 100M</a:t>
            </a:r>
            <a:endParaRPr lang="en-US" sz="950" dirty="0"/>
          </a:p>
        </p:txBody>
      </p:sp>
      <p:sp>
        <p:nvSpPr>
          <p:cNvPr id="15" name="Text 12"/>
          <p:cNvSpPr/>
          <p:nvPr/>
        </p:nvSpPr>
        <p:spPr>
          <a:xfrm>
            <a:off x="685800" y="3520440"/>
            <a:ext cx="2331720" cy="1005840"/>
          </a:xfrm>
          <a:prstGeom prst="rect">
            <a:avLst/>
          </a:prstGeom>
          <a:noFill/>
          <a:ln/>
        </p:spPr>
        <p:txBody>
          <a:bodyPr wrap="square" lIns="0" tIns="0" rIns="0" bIns="0" rtlCol="0" anchor="ctr"/>
          <a:lstStyle/>
          <a:p>
            <a:pPr indent="0" marL="0">
              <a:lnSpc>
                <a:spcPct val="130000"/>
              </a:lnSpc>
              <a:buNone/>
            </a:pPr>
            <a:r>
              <a:rPr lang="en-US" sz="950" dirty="0">
                <a:solidFill>
                  <a:srgbClr val="1A0A2E"/>
                </a:solidFill>
                <a:latin typeface="Calibri" pitchFamily="34" charset="0"/>
                <a:ea typeface="Calibri" pitchFamily="34" charset="-122"/>
                <a:cs typeface="Calibri" pitchFamily="34" charset="-120"/>
              </a:rPr>
              <a:t>High accuracy in extracting relevant information</a:t>
            </a:r>
            <a:endParaRPr lang="en-US" sz="950" dirty="0"/>
          </a:p>
        </p:txBody>
      </p:sp>
      <p:sp>
        <p:nvSpPr>
          <p:cNvPr id="16" name="Shape 13"/>
          <p:cNvSpPr/>
          <p:nvPr/>
        </p:nvSpPr>
        <p:spPr>
          <a:xfrm>
            <a:off x="3383280" y="1737360"/>
            <a:ext cx="2606040" cy="292608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7" name="Shape 14"/>
          <p:cNvSpPr/>
          <p:nvPr/>
        </p:nvSpPr>
        <p:spPr>
          <a:xfrm>
            <a:off x="3383280" y="1737360"/>
            <a:ext cx="2606040" cy="457200"/>
          </a:xfrm>
          <a:prstGeom prst="rect">
            <a:avLst/>
          </a:prstGeom>
          <a:solidFill>
            <a:srgbClr val="5D4037"/>
          </a:solidFill>
          <a:ln/>
        </p:spPr>
      </p:sp>
      <p:sp>
        <p:nvSpPr>
          <p:cNvPr id="18" name="Text 15"/>
          <p:cNvSpPr/>
          <p:nvPr/>
        </p:nvSpPr>
        <p:spPr>
          <a:xfrm>
            <a:off x="3474720" y="1737360"/>
            <a:ext cx="2423160" cy="4572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Machine Learning Model</a:t>
            </a:r>
            <a:endParaRPr lang="en-US" sz="1400" dirty="0"/>
          </a:p>
        </p:txBody>
      </p:sp>
      <p:sp>
        <p:nvSpPr>
          <p:cNvPr id="19" name="Text 16"/>
          <p:cNvSpPr/>
          <p:nvPr/>
        </p:nvSpPr>
        <p:spPr>
          <a:xfrm>
            <a:off x="3520440" y="2331720"/>
            <a:ext cx="2331720" cy="502920"/>
          </a:xfrm>
          <a:prstGeom prst="rect">
            <a:avLst/>
          </a:prstGeom>
          <a:noFill/>
          <a:ln/>
        </p:spPr>
        <p:txBody>
          <a:bodyPr wrap="square" lIns="0" tIns="0" rIns="0" bIns="0" rtlCol="0" anchor="ctr"/>
          <a:lstStyle/>
          <a:p>
            <a:pPr algn="ctr" indent="0" marL="0">
              <a:buNone/>
            </a:pPr>
            <a:r>
              <a:rPr lang="en-US" sz="2800" b="1" dirty="0">
                <a:solidFill>
                  <a:srgbClr val="6A1B9A"/>
                </a:solidFill>
                <a:latin typeface="Trebuchet MS" pitchFamily="34" charset="0"/>
                <a:ea typeface="Trebuchet MS" pitchFamily="34" charset="-122"/>
                <a:cs typeface="Trebuchet MS" pitchFamily="34" charset="-120"/>
              </a:rPr>
              <a:t>90%</a:t>
            </a:r>
            <a:endParaRPr lang="en-US" sz="2800" dirty="0"/>
          </a:p>
        </p:txBody>
      </p:sp>
      <p:sp>
        <p:nvSpPr>
          <p:cNvPr id="20" name="Text 17"/>
          <p:cNvSpPr/>
          <p:nvPr/>
        </p:nvSpPr>
        <p:spPr>
          <a:xfrm>
            <a:off x="3520440" y="2788920"/>
            <a:ext cx="2331720" cy="228600"/>
          </a:xfrm>
          <a:prstGeom prst="rect">
            <a:avLst/>
          </a:prstGeom>
          <a:noFill/>
          <a:ln/>
        </p:spPr>
        <p:txBody>
          <a:bodyPr wrap="square" lIns="0" tIns="0" rIns="0" bIns="0" rtlCol="0" anchor="ctr"/>
          <a:lstStyle/>
          <a:p>
            <a:pPr algn="ctr" indent="0" marL="0">
              <a:buNone/>
            </a:pPr>
            <a:r>
              <a:rPr lang="en-US" sz="950" dirty="0">
                <a:solidFill>
                  <a:srgbClr val="8E6EA6"/>
                </a:solidFill>
                <a:latin typeface="Calibri" pitchFamily="34" charset="0"/>
                <a:ea typeface="Calibri" pitchFamily="34" charset="-122"/>
                <a:cs typeface="Calibri" pitchFamily="34" charset="-120"/>
              </a:rPr>
              <a:t>Performance</a:t>
            </a:r>
            <a:endParaRPr lang="en-US" sz="950" dirty="0"/>
          </a:p>
        </p:txBody>
      </p:sp>
      <p:sp>
        <p:nvSpPr>
          <p:cNvPr id="21" name="Shape 18"/>
          <p:cNvSpPr/>
          <p:nvPr/>
        </p:nvSpPr>
        <p:spPr>
          <a:xfrm>
            <a:off x="3520440" y="3108960"/>
            <a:ext cx="2331720" cy="274320"/>
          </a:xfrm>
          <a:prstGeom prst="rect">
            <a:avLst/>
          </a:prstGeom>
          <a:solidFill>
            <a:srgbClr val="CE93D8">
              <a:alpha val="15000"/>
            </a:srgbClr>
          </a:solidFill>
          <a:ln/>
        </p:spPr>
      </p:sp>
      <p:sp>
        <p:nvSpPr>
          <p:cNvPr id="22" name="Text 19"/>
          <p:cNvSpPr/>
          <p:nvPr/>
        </p:nvSpPr>
        <p:spPr>
          <a:xfrm>
            <a:off x="3611880" y="3108960"/>
            <a:ext cx="2148840" cy="274320"/>
          </a:xfrm>
          <a:prstGeom prst="rect">
            <a:avLst/>
          </a:prstGeom>
          <a:noFill/>
          <a:ln/>
        </p:spPr>
        <p:txBody>
          <a:bodyPr wrap="square" lIns="0" tIns="0" rIns="0" bIns="0" rtlCol="0" anchor="ctr"/>
          <a:lstStyle/>
          <a:p>
            <a:pPr indent="0" marL="0">
              <a:buNone/>
            </a:pPr>
            <a:r>
              <a:rPr lang="en-US" sz="950" dirty="0">
                <a:solidFill>
                  <a:srgbClr val="1A0A2E"/>
                </a:solidFill>
                <a:latin typeface="Calibri" pitchFamily="34" charset="0"/>
                <a:ea typeface="Calibri" pitchFamily="34" charset="-122"/>
                <a:cs typeface="Calibri" pitchFamily="34" charset="-120"/>
              </a:rPr>
              <a:t>Parameters: 500M</a:t>
            </a:r>
            <a:endParaRPr lang="en-US" sz="950" dirty="0"/>
          </a:p>
        </p:txBody>
      </p:sp>
      <p:sp>
        <p:nvSpPr>
          <p:cNvPr id="23" name="Text 20"/>
          <p:cNvSpPr/>
          <p:nvPr/>
        </p:nvSpPr>
        <p:spPr>
          <a:xfrm>
            <a:off x="3520440" y="3520440"/>
            <a:ext cx="2331720" cy="1005840"/>
          </a:xfrm>
          <a:prstGeom prst="rect">
            <a:avLst/>
          </a:prstGeom>
          <a:noFill/>
          <a:ln/>
        </p:spPr>
        <p:txBody>
          <a:bodyPr wrap="square" lIns="0" tIns="0" rIns="0" bIns="0" rtlCol="0" anchor="ctr"/>
          <a:lstStyle/>
          <a:p>
            <a:pPr indent="0" marL="0">
              <a:lnSpc>
                <a:spcPct val="130000"/>
              </a:lnSpc>
              <a:buNone/>
            </a:pPr>
            <a:r>
              <a:rPr lang="en-US" sz="950" dirty="0">
                <a:solidFill>
                  <a:srgbClr val="1A0A2E"/>
                </a:solidFill>
                <a:latin typeface="Calibri" pitchFamily="34" charset="0"/>
                <a:ea typeface="Calibri" pitchFamily="34" charset="-122"/>
                <a:cs typeface="Calibri" pitchFamily="34" charset="-120"/>
              </a:rPr>
              <a:t>Effective in matching candidate skills and experience</a:t>
            </a:r>
            <a:endParaRPr lang="en-US" sz="950" dirty="0"/>
          </a:p>
        </p:txBody>
      </p:sp>
      <p:sp>
        <p:nvSpPr>
          <p:cNvPr id="24" name="Shape 21"/>
          <p:cNvSpPr/>
          <p:nvPr/>
        </p:nvSpPr>
        <p:spPr>
          <a:xfrm>
            <a:off x="6217920" y="1737360"/>
            <a:ext cx="2606040" cy="292608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25" name="Shape 22"/>
          <p:cNvSpPr/>
          <p:nvPr/>
        </p:nvSpPr>
        <p:spPr>
          <a:xfrm>
            <a:off x="6217920" y="1737360"/>
            <a:ext cx="2606040" cy="457200"/>
          </a:xfrm>
          <a:prstGeom prst="rect">
            <a:avLst/>
          </a:prstGeom>
          <a:solidFill>
            <a:srgbClr val="5D4037"/>
          </a:solidFill>
          <a:ln/>
        </p:spPr>
      </p:sp>
      <p:sp>
        <p:nvSpPr>
          <p:cNvPr id="26" name="Text 23"/>
          <p:cNvSpPr/>
          <p:nvPr/>
        </p:nvSpPr>
        <p:spPr>
          <a:xfrm>
            <a:off x="6309360" y="1737360"/>
            <a:ext cx="2423160" cy="4572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Deep Learning Model</a:t>
            </a:r>
            <a:endParaRPr lang="en-US" sz="1400" dirty="0"/>
          </a:p>
        </p:txBody>
      </p:sp>
      <p:sp>
        <p:nvSpPr>
          <p:cNvPr id="27" name="Text 24"/>
          <p:cNvSpPr/>
          <p:nvPr/>
        </p:nvSpPr>
        <p:spPr>
          <a:xfrm>
            <a:off x="6355080" y="2331720"/>
            <a:ext cx="2331720" cy="502920"/>
          </a:xfrm>
          <a:prstGeom prst="rect">
            <a:avLst/>
          </a:prstGeom>
          <a:noFill/>
          <a:ln/>
        </p:spPr>
        <p:txBody>
          <a:bodyPr wrap="square" lIns="0" tIns="0" rIns="0" bIns="0" rtlCol="0" anchor="ctr"/>
          <a:lstStyle/>
          <a:p>
            <a:pPr algn="ctr" indent="0" marL="0">
              <a:buNone/>
            </a:pPr>
            <a:r>
              <a:rPr lang="en-US" sz="2800" b="1" dirty="0">
                <a:solidFill>
                  <a:srgbClr val="6A1B9A"/>
                </a:solidFill>
                <a:latin typeface="Trebuchet MS" pitchFamily="34" charset="0"/>
                <a:ea typeface="Trebuchet MS" pitchFamily="34" charset="-122"/>
                <a:cs typeface="Trebuchet MS" pitchFamily="34" charset="-120"/>
              </a:rPr>
              <a:t>92%</a:t>
            </a:r>
            <a:endParaRPr lang="en-US" sz="2800" dirty="0"/>
          </a:p>
        </p:txBody>
      </p:sp>
      <p:sp>
        <p:nvSpPr>
          <p:cNvPr id="28" name="Text 25"/>
          <p:cNvSpPr/>
          <p:nvPr/>
        </p:nvSpPr>
        <p:spPr>
          <a:xfrm>
            <a:off x="6355080" y="2788920"/>
            <a:ext cx="2331720" cy="228600"/>
          </a:xfrm>
          <a:prstGeom prst="rect">
            <a:avLst/>
          </a:prstGeom>
          <a:noFill/>
          <a:ln/>
        </p:spPr>
        <p:txBody>
          <a:bodyPr wrap="square" lIns="0" tIns="0" rIns="0" bIns="0" rtlCol="0" anchor="ctr"/>
          <a:lstStyle/>
          <a:p>
            <a:pPr algn="ctr" indent="0" marL="0">
              <a:buNone/>
            </a:pPr>
            <a:r>
              <a:rPr lang="en-US" sz="950" dirty="0">
                <a:solidFill>
                  <a:srgbClr val="8E6EA6"/>
                </a:solidFill>
                <a:latin typeface="Calibri" pitchFamily="34" charset="0"/>
                <a:ea typeface="Calibri" pitchFamily="34" charset="-122"/>
                <a:cs typeface="Calibri" pitchFamily="34" charset="-120"/>
              </a:rPr>
              <a:t>Performance</a:t>
            </a:r>
            <a:endParaRPr lang="en-US" sz="950" dirty="0"/>
          </a:p>
        </p:txBody>
      </p:sp>
      <p:sp>
        <p:nvSpPr>
          <p:cNvPr id="29" name="Shape 26"/>
          <p:cNvSpPr/>
          <p:nvPr/>
        </p:nvSpPr>
        <p:spPr>
          <a:xfrm>
            <a:off x="6355080" y="3108960"/>
            <a:ext cx="2331720" cy="274320"/>
          </a:xfrm>
          <a:prstGeom prst="rect">
            <a:avLst/>
          </a:prstGeom>
          <a:solidFill>
            <a:srgbClr val="CE93D8">
              <a:alpha val="15000"/>
            </a:srgbClr>
          </a:solidFill>
          <a:ln/>
        </p:spPr>
      </p:sp>
      <p:sp>
        <p:nvSpPr>
          <p:cNvPr id="30" name="Text 27"/>
          <p:cNvSpPr/>
          <p:nvPr/>
        </p:nvSpPr>
        <p:spPr>
          <a:xfrm>
            <a:off x="6446520" y="3108960"/>
            <a:ext cx="2148840" cy="274320"/>
          </a:xfrm>
          <a:prstGeom prst="rect">
            <a:avLst/>
          </a:prstGeom>
          <a:noFill/>
          <a:ln/>
        </p:spPr>
        <p:txBody>
          <a:bodyPr wrap="square" lIns="0" tIns="0" rIns="0" bIns="0" rtlCol="0" anchor="ctr"/>
          <a:lstStyle/>
          <a:p>
            <a:pPr indent="0" marL="0">
              <a:buNone/>
            </a:pPr>
            <a:r>
              <a:rPr lang="en-US" sz="950" dirty="0">
                <a:solidFill>
                  <a:srgbClr val="1A0A2E"/>
                </a:solidFill>
                <a:latin typeface="Calibri" pitchFamily="34" charset="0"/>
                <a:ea typeface="Calibri" pitchFamily="34" charset="-122"/>
                <a:cs typeface="Calibri" pitchFamily="34" charset="-120"/>
              </a:rPr>
              <a:t>Parameters: 1B</a:t>
            </a:r>
            <a:endParaRPr lang="en-US" sz="950" dirty="0"/>
          </a:p>
        </p:txBody>
      </p:sp>
      <p:sp>
        <p:nvSpPr>
          <p:cNvPr id="31" name="Text 28"/>
          <p:cNvSpPr/>
          <p:nvPr/>
        </p:nvSpPr>
        <p:spPr>
          <a:xfrm>
            <a:off x="6355080" y="3520440"/>
            <a:ext cx="2331720" cy="1005840"/>
          </a:xfrm>
          <a:prstGeom prst="rect">
            <a:avLst/>
          </a:prstGeom>
          <a:noFill/>
          <a:ln/>
        </p:spPr>
        <p:txBody>
          <a:bodyPr wrap="square" lIns="0" tIns="0" rIns="0" bIns="0" rtlCol="0" anchor="ctr"/>
          <a:lstStyle/>
          <a:p>
            <a:pPr indent="0" marL="0">
              <a:lnSpc>
                <a:spcPct val="130000"/>
              </a:lnSpc>
              <a:buNone/>
            </a:pPr>
            <a:r>
              <a:rPr lang="en-US" sz="950" dirty="0">
                <a:solidFill>
                  <a:srgbClr val="1A0A2E"/>
                </a:solidFill>
                <a:latin typeface="Calibri" pitchFamily="34" charset="0"/>
                <a:ea typeface="Calibri" pitchFamily="34" charset="-122"/>
                <a:cs typeface="Calibri" pitchFamily="34" charset="-120"/>
              </a:rPr>
              <a:t>High accuracy in ranking candidates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0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A1B9A"/>
          </a:solidFill>
          <a:ln/>
        </p:spPr>
      </p:sp>
      <p:sp>
        <p:nvSpPr>
          <p:cNvPr id="3" name="Text 1"/>
          <p:cNvSpPr/>
          <p:nvPr/>
        </p:nvSpPr>
        <p:spPr>
          <a:xfrm>
            <a:off x="548640" y="274320"/>
            <a:ext cx="5486400" cy="457200"/>
          </a:xfrm>
          <a:prstGeom prst="rect">
            <a:avLst/>
          </a:prstGeom>
          <a:noFill/>
          <a:ln/>
        </p:spPr>
        <p:txBody>
          <a:bodyPr wrap="square" lIns="0" tIns="0" rIns="0" bIns="0" rtlCol="0" anchor="ctr"/>
          <a:lstStyle/>
          <a:p>
            <a:pPr indent="0" marL="0">
              <a:buNone/>
            </a:pPr>
            <a:r>
              <a:rPr lang="en-US" sz="2800" b="1" dirty="0">
                <a:solidFill>
                  <a:srgbClr val="6A1B9A"/>
                </a:solidFill>
                <a:latin typeface="Trebuchet MS" pitchFamily="34" charset="0"/>
                <a:ea typeface="Trebuchet MS" pitchFamily="34" charset="-122"/>
                <a:cs typeface="Trebuchet MS" pitchFamily="34" charset="-120"/>
              </a:rPr>
              <a:t>Implementation Screenshots</a:t>
            </a:r>
            <a:endParaRPr lang="en-US" sz="2800" dirty="0"/>
          </a:p>
        </p:txBody>
      </p:sp>
      <p:sp>
        <p:nvSpPr>
          <p:cNvPr id="4" name="Shape 2"/>
          <p:cNvSpPr/>
          <p:nvPr/>
        </p:nvSpPr>
        <p:spPr>
          <a:xfrm>
            <a:off x="548640" y="914400"/>
            <a:ext cx="3886200" cy="1508760"/>
          </a:xfrm>
          <a:prstGeom prst="rect">
            <a:avLst/>
          </a:prstGeom>
          <a:solidFill>
            <a:srgbClr val="E8E0D8"/>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5" name="Text 3"/>
          <p:cNvSpPr/>
          <p:nvPr/>
        </p:nvSpPr>
        <p:spPr>
          <a:xfrm>
            <a:off x="548640" y="1325880"/>
            <a:ext cx="3886200" cy="457200"/>
          </a:xfrm>
          <a:prstGeom prst="rect">
            <a:avLst/>
          </a:prstGeom>
          <a:noFill/>
          <a:ln/>
        </p:spPr>
        <p:txBody>
          <a:bodyPr wrap="square" lIns="0" tIns="0" rIns="0" bIns="0" rtlCol="0" anchor="ctr"/>
          <a:lstStyle/>
          <a:p>
            <a:pPr algn="ctr" indent="0" marL="0">
              <a:buNone/>
            </a:pPr>
            <a:r>
              <a:rPr lang="en-US" sz="1400" dirty="0">
                <a:solidFill>
                  <a:srgbClr val="8E6EA6"/>
                </a:solidFill>
                <a:latin typeface="Calibri" pitchFamily="34" charset="0"/>
                <a:ea typeface="Calibri" pitchFamily="34" charset="-122"/>
                <a:cs typeface="Calibri" pitchFamily="34" charset="-120"/>
              </a:rPr>
              <a:t>[Insert Screenshot]</a:t>
            </a:r>
            <a:endParaRPr lang="en-US" sz="1400" dirty="0"/>
          </a:p>
        </p:txBody>
      </p:sp>
      <p:sp>
        <p:nvSpPr>
          <p:cNvPr id="6" name="Shape 4"/>
          <p:cNvSpPr/>
          <p:nvPr/>
        </p:nvSpPr>
        <p:spPr>
          <a:xfrm>
            <a:off x="548640" y="2103120"/>
            <a:ext cx="3886200" cy="320040"/>
          </a:xfrm>
          <a:prstGeom prst="rect">
            <a:avLst/>
          </a:prstGeom>
          <a:solidFill>
            <a:srgbClr val="1A0A2E">
              <a:alpha val="85000"/>
            </a:srgbClr>
          </a:solidFill>
          <a:ln/>
        </p:spPr>
      </p:sp>
      <p:sp>
        <p:nvSpPr>
          <p:cNvPr id="7" name="Text 5"/>
          <p:cNvSpPr/>
          <p:nvPr/>
        </p:nvSpPr>
        <p:spPr>
          <a:xfrm>
            <a:off x="640080" y="2103120"/>
            <a:ext cx="3703320" cy="3200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Resume Upload Page - A simple and intuitive interface for uploading resumes</a:t>
            </a:r>
            <a:endParaRPr lang="en-US" sz="1000" dirty="0"/>
          </a:p>
        </p:txBody>
      </p:sp>
      <p:sp>
        <p:nvSpPr>
          <p:cNvPr id="8" name="Shape 6"/>
          <p:cNvSpPr/>
          <p:nvPr/>
        </p:nvSpPr>
        <p:spPr>
          <a:xfrm>
            <a:off x="4709160" y="914400"/>
            <a:ext cx="3886200" cy="1508760"/>
          </a:xfrm>
          <a:prstGeom prst="rect">
            <a:avLst/>
          </a:prstGeom>
          <a:solidFill>
            <a:srgbClr val="E8E0D8"/>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9" name="Text 7"/>
          <p:cNvSpPr/>
          <p:nvPr/>
        </p:nvSpPr>
        <p:spPr>
          <a:xfrm>
            <a:off x="4709160" y="1325880"/>
            <a:ext cx="3886200" cy="457200"/>
          </a:xfrm>
          <a:prstGeom prst="rect">
            <a:avLst/>
          </a:prstGeom>
          <a:noFill/>
          <a:ln/>
        </p:spPr>
        <p:txBody>
          <a:bodyPr wrap="square" lIns="0" tIns="0" rIns="0" bIns="0" rtlCol="0" anchor="ctr"/>
          <a:lstStyle/>
          <a:p>
            <a:pPr algn="ctr" indent="0" marL="0">
              <a:buNone/>
            </a:pPr>
            <a:r>
              <a:rPr lang="en-US" sz="1400" dirty="0">
                <a:solidFill>
                  <a:srgbClr val="8E6EA6"/>
                </a:solidFill>
                <a:latin typeface="Calibri" pitchFamily="34" charset="0"/>
                <a:ea typeface="Calibri" pitchFamily="34" charset="-122"/>
                <a:cs typeface="Calibri" pitchFamily="34" charset="-120"/>
              </a:rPr>
              <a:t>[Insert Screenshot]</a:t>
            </a:r>
            <a:endParaRPr lang="en-US" sz="1400" dirty="0"/>
          </a:p>
        </p:txBody>
      </p:sp>
      <p:sp>
        <p:nvSpPr>
          <p:cNvPr id="10" name="Shape 8"/>
          <p:cNvSpPr/>
          <p:nvPr/>
        </p:nvSpPr>
        <p:spPr>
          <a:xfrm>
            <a:off x="4709160" y="2103120"/>
            <a:ext cx="3886200" cy="320040"/>
          </a:xfrm>
          <a:prstGeom prst="rect">
            <a:avLst/>
          </a:prstGeom>
          <a:solidFill>
            <a:srgbClr val="1A0A2E">
              <a:alpha val="85000"/>
            </a:srgbClr>
          </a:solidFill>
          <a:ln/>
        </p:spPr>
      </p:sp>
      <p:sp>
        <p:nvSpPr>
          <p:cNvPr id="11" name="Text 9"/>
          <p:cNvSpPr/>
          <p:nvPr/>
        </p:nvSpPr>
        <p:spPr>
          <a:xfrm>
            <a:off x="4800600" y="2103120"/>
            <a:ext cx="3703320" cy="3200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Resume Parser Output - A sample output of the resume parser showing extracted information</a:t>
            </a:r>
            <a:endParaRPr lang="en-US" sz="1000" dirty="0"/>
          </a:p>
        </p:txBody>
      </p:sp>
      <p:sp>
        <p:nvSpPr>
          <p:cNvPr id="12" name="Shape 10"/>
          <p:cNvSpPr/>
          <p:nvPr/>
        </p:nvSpPr>
        <p:spPr>
          <a:xfrm>
            <a:off x="548640" y="2880360"/>
            <a:ext cx="3886200" cy="1508760"/>
          </a:xfrm>
          <a:prstGeom prst="rect">
            <a:avLst/>
          </a:prstGeom>
          <a:solidFill>
            <a:srgbClr val="E8E0D8"/>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3" name="Text 11"/>
          <p:cNvSpPr/>
          <p:nvPr/>
        </p:nvSpPr>
        <p:spPr>
          <a:xfrm>
            <a:off x="548640" y="3291840"/>
            <a:ext cx="3886200" cy="457200"/>
          </a:xfrm>
          <a:prstGeom prst="rect">
            <a:avLst/>
          </a:prstGeom>
          <a:noFill/>
          <a:ln/>
        </p:spPr>
        <p:txBody>
          <a:bodyPr wrap="square" lIns="0" tIns="0" rIns="0" bIns="0" rtlCol="0" anchor="ctr"/>
          <a:lstStyle/>
          <a:p>
            <a:pPr algn="ctr" indent="0" marL="0">
              <a:buNone/>
            </a:pPr>
            <a:r>
              <a:rPr lang="en-US" sz="1400" dirty="0">
                <a:solidFill>
                  <a:srgbClr val="8E6EA6"/>
                </a:solidFill>
                <a:latin typeface="Calibri" pitchFamily="34" charset="0"/>
                <a:ea typeface="Calibri" pitchFamily="34" charset="-122"/>
                <a:cs typeface="Calibri" pitchFamily="34" charset="-120"/>
              </a:rPr>
              <a:t>[Insert Screenshot]</a:t>
            </a:r>
            <a:endParaRPr lang="en-US" sz="1400" dirty="0"/>
          </a:p>
        </p:txBody>
      </p:sp>
      <p:sp>
        <p:nvSpPr>
          <p:cNvPr id="14" name="Shape 12"/>
          <p:cNvSpPr/>
          <p:nvPr/>
        </p:nvSpPr>
        <p:spPr>
          <a:xfrm>
            <a:off x="548640" y="4069080"/>
            <a:ext cx="3886200" cy="320040"/>
          </a:xfrm>
          <a:prstGeom prst="rect">
            <a:avLst/>
          </a:prstGeom>
          <a:solidFill>
            <a:srgbClr val="1A0A2E">
              <a:alpha val="85000"/>
            </a:srgbClr>
          </a:solidFill>
          <a:ln/>
        </p:spPr>
      </p:sp>
      <p:sp>
        <p:nvSpPr>
          <p:cNvPr id="15" name="Text 13"/>
          <p:cNvSpPr/>
          <p:nvPr/>
        </p:nvSpPr>
        <p:spPr>
          <a:xfrm>
            <a:off x="640080" y="4069080"/>
            <a:ext cx="3703320" cy="3200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Candidate Ranking Page - A sample ranking of candidates based on their suitability for the job opening</a:t>
            </a:r>
            <a:endParaRPr lang="en-US" sz="1000" dirty="0"/>
          </a:p>
        </p:txBody>
      </p:sp>
      <p:sp>
        <p:nvSpPr>
          <p:cNvPr id="16" name="Shape 14"/>
          <p:cNvSpPr/>
          <p:nvPr/>
        </p:nvSpPr>
        <p:spPr>
          <a:xfrm>
            <a:off x="4709160" y="2880360"/>
            <a:ext cx="3886200" cy="1508760"/>
          </a:xfrm>
          <a:prstGeom prst="rect">
            <a:avLst/>
          </a:prstGeom>
          <a:solidFill>
            <a:srgbClr val="E8E0D8"/>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7" name="Text 15"/>
          <p:cNvSpPr/>
          <p:nvPr/>
        </p:nvSpPr>
        <p:spPr>
          <a:xfrm>
            <a:off x="4709160" y="3291840"/>
            <a:ext cx="3886200" cy="457200"/>
          </a:xfrm>
          <a:prstGeom prst="rect">
            <a:avLst/>
          </a:prstGeom>
          <a:noFill/>
          <a:ln/>
        </p:spPr>
        <p:txBody>
          <a:bodyPr wrap="square" lIns="0" tIns="0" rIns="0" bIns="0" rtlCol="0" anchor="ctr"/>
          <a:lstStyle/>
          <a:p>
            <a:pPr algn="ctr" indent="0" marL="0">
              <a:buNone/>
            </a:pPr>
            <a:r>
              <a:rPr lang="en-US" sz="1400" dirty="0">
                <a:solidFill>
                  <a:srgbClr val="8E6EA6"/>
                </a:solidFill>
                <a:latin typeface="Calibri" pitchFamily="34" charset="0"/>
                <a:ea typeface="Calibri" pitchFamily="34" charset="-122"/>
                <a:cs typeface="Calibri" pitchFamily="34" charset="-120"/>
              </a:rPr>
              <a:t>[Insert Screenshot]</a:t>
            </a:r>
            <a:endParaRPr lang="en-US" sz="1400" dirty="0"/>
          </a:p>
        </p:txBody>
      </p:sp>
      <p:sp>
        <p:nvSpPr>
          <p:cNvPr id="18" name="Shape 16"/>
          <p:cNvSpPr/>
          <p:nvPr/>
        </p:nvSpPr>
        <p:spPr>
          <a:xfrm>
            <a:off x="4709160" y="4069080"/>
            <a:ext cx="3886200" cy="320040"/>
          </a:xfrm>
          <a:prstGeom prst="rect">
            <a:avLst/>
          </a:prstGeom>
          <a:solidFill>
            <a:srgbClr val="1A0A2E">
              <a:alpha val="85000"/>
            </a:srgbClr>
          </a:solidFill>
          <a:ln/>
        </p:spPr>
      </p:sp>
      <p:sp>
        <p:nvSpPr>
          <p:cNvPr id="19" name="Text 17"/>
          <p:cNvSpPr/>
          <p:nvPr/>
        </p:nvSpPr>
        <p:spPr>
          <a:xfrm>
            <a:off x="4800600" y="4069080"/>
            <a:ext cx="3703320" cy="3200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Job Opening Page - A sample job opening page showing the job description and requirements</a:t>
            </a:r>
            <a:endParaRPr lang="en-US" sz="1000" dirty="0"/>
          </a:p>
        </p:txBody>
      </p:sp>
      <p:sp>
        <p:nvSpPr>
          <p:cNvPr id="20" name="Shape 18"/>
          <p:cNvSpPr/>
          <p:nvPr/>
        </p:nvSpPr>
        <p:spPr>
          <a:xfrm>
            <a:off x="548640" y="4709160"/>
            <a:ext cx="8138160" cy="274320"/>
          </a:xfrm>
          <a:prstGeom prst="rect">
            <a:avLst/>
          </a:prstGeom>
          <a:solidFill>
            <a:srgbClr val="6A1B9A">
              <a:alpha val="80000"/>
            </a:srgbClr>
          </a:solidFill>
          <a:ln/>
        </p:spPr>
      </p:sp>
      <p:sp>
        <p:nvSpPr>
          <p:cNvPr id="21" name="Text 19"/>
          <p:cNvSpPr/>
          <p:nvPr/>
        </p:nvSpPr>
        <p:spPr>
          <a:xfrm>
            <a:off x="731520" y="4709160"/>
            <a:ext cx="7772400" cy="274320"/>
          </a:xfrm>
          <a:prstGeom prst="rect">
            <a:avLst/>
          </a:prstGeom>
          <a:noFill/>
          <a:ln/>
        </p:spPr>
        <p:txBody>
          <a:bodyPr wrap="square" lIns="0" tIns="0" rIns="0" bIns="0" rtlCol="0" anchor="ctr"/>
          <a:lstStyle/>
          <a:p>
            <a:pPr indent="0" marL="0">
              <a:buNone/>
            </a:pPr>
            <a:r>
              <a:rPr lang="en-US" sz="950" i="1" dirty="0">
                <a:solidFill>
                  <a:srgbClr val="CE93D8"/>
                </a:solidFill>
                <a:latin typeface="Calibri" pitchFamily="34" charset="0"/>
                <a:ea typeface="Calibri" pitchFamily="34" charset="-122"/>
                <a:cs typeface="Calibri" pitchFamily="34" charset="-120"/>
              </a:rPr>
              <a:t>Demo Video: https://youtube.com/demo</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0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A1B9A"/>
          </a:solidFill>
          <a:ln/>
        </p:spPr>
      </p:sp>
      <p:sp>
        <p:nvSpPr>
          <p:cNvPr id="3" name="Text 1"/>
          <p:cNvSpPr/>
          <p:nvPr/>
        </p:nvSpPr>
        <p:spPr>
          <a:xfrm>
            <a:off x="548640" y="274320"/>
            <a:ext cx="4572000" cy="457200"/>
          </a:xfrm>
          <a:prstGeom prst="rect">
            <a:avLst/>
          </a:prstGeom>
          <a:noFill/>
          <a:ln/>
        </p:spPr>
        <p:txBody>
          <a:bodyPr wrap="square" lIns="0" tIns="0" rIns="0" bIns="0" rtlCol="0" anchor="ctr"/>
          <a:lstStyle/>
          <a:p>
            <a:pPr indent="0" marL="0">
              <a:buNone/>
            </a:pPr>
            <a:r>
              <a:rPr lang="en-US" sz="2800" b="1" dirty="0">
                <a:solidFill>
                  <a:srgbClr val="6A1B9A"/>
                </a:solidFill>
                <a:latin typeface="Trebuchet MS" pitchFamily="34" charset="0"/>
                <a:ea typeface="Trebuchet MS" pitchFamily="34" charset="-122"/>
                <a:cs typeface="Trebuchet MS" pitchFamily="34" charset="-120"/>
              </a:rPr>
              <a:t>Testing &amp; Validation</a:t>
            </a:r>
            <a:endParaRPr lang="en-US" sz="2800" dirty="0"/>
          </a:p>
        </p:txBody>
      </p:sp>
      <p:sp>
        <p:nvSpPr>
          <p:cNvPr id="4" name="Shape 2"/>
          <p:cNvSpPr/>
          <p:nvPr/>
        </p:nvSpPr>
        <p:spPr>
          <a:xfrm>
            <a:off x="457200" y="868680"/>
            <a:ext cx="1920240" cy="77724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457200" y="868680"/>
            <a:ext cx="1920240" cy="36576"/>
          </a:xfrm>
          <a:prstGeom prst="rect">
            <a:avLst/>
          </a:prstGeom>
          <a:solidFill>
            <a:srgbClr val="CE93D8"/>
          </a:solidFill>
          <a:ln/>
        </p:spPr>
      </p:sp>
      <p:sp>
        <p:nvSpPr>
          <p:cNvPr id="6" name="Text 4"/>
          <p:cNvSpPr/>
          <p:nvPr/>
        </p:nvSpPr>
        <p:spPr>
          <a:xfrm>
            <a:off x="548640" y="960120"/>
            <a:ext cx="1737360" cy="274320"/>
          </a:xfrm>
          <a:prstGeom prst="rect">
            <a:avLst/>
          </a:prstGeom>
          <a:noFill/>
          <a:ln/>
        </p:spPr>
        <p:txBody>
          <a:bodyPr wrap="square" lIns="0" tIns="0" rIns="0" bIns="0" rtlCol="0" anchor="ctr"/>
          <a:lstStyle/>
          <a:p>
            <a:pPr indent="0" marL="0">
              <a:buNone/>
            </a:pPr>
            <a:r>
              <a:rPr lang="en-US" sz="1100" b="1" dirty="0">
                <a:solidFill>
                  <a:srgbClr val="1A0A2E"/>
                </a:solidFill>
                <a:latin typeface="Trebuchet MS" pitchFamily="34" charset="0"/>
                <a:ea typeface="Trebuchet MS" pitchFamily="34" charset="-122"/>
                <a:cs typeface="Trebuchet MS" pitchFamily="34" charset="-120"/>
              </a:rPr>
              <a:t>Unit Testing</a:t>
            </a:r>
            <a:endParaRPr lang="en-US" sz="1100" dirty="0"/>
          </a:p>
        </p:txBody>
      </p:sp>
      <p:sp>
        <p:nvSpPr>
          <p:cNvPr id="7" name="Text 5"/>
          <p:cNvSpPr/>
          <p:nvPr/>
        </p:nvSpPr>
        <p:spPr>
          <a:xfrm>
            <a:off x="548640" y="1234440"/>
            <a:ext cx="1737360" cy="320040"/>
          </a:xfrm>
          <a:prstGeom prst="rect">
            <a:avLst/>
          </a:prstGeom>
          <a:noFill/>
          <a:ln/>
        </p:spPr>
        <p:txBody>
          <a:bodyPr wrap="square" lIns="0" tIns="0" rIns="0" bIns="0" rtlCol="0" anchor="ctr"/>
          <a:lstStyle/>
          <a:p>
            <a:pPr indent="0" marL="0">
              <a:buNone/>
            </a:pPr>
            <a:r>
              <a:rPr lang="en-US" sz="950" dirty="0">
                <a:solidFill>
                  <a:srgbClr val="8E6EA6"/>
                </a:solidFill>
                <a:latin typeface="Calibri" pitchFamily="34" charset="0"/>
                <a:ea typeface="Calibri" pitchFamily="34" charset="-122"/>
                <a:cs typeface="Calibri" pitchFamily="34" charset="-120"/>
              </a:rPr>
              <a:t>Test individual components of the system</a:t>
            </a:r>
            <a:endParaRPr lang="en-US" sz="950" dirty="0"/>
          </a:p>
        </p:txBody>
      </p:sp>
      <p:sp>
        <p:nvSpPr>
          <p:cNvPr id="8" name="Shape 6"/>
          <p:cNvSpPr/>
          <p:nvPr/>
        </p:nvSpPr>
        <p:spPr>
          <a:xfrm>
            <a:off x="2606040" y="868680"/>
            <a:ext cx="1920240" cy="77724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2606040" y="868680"/>
            <a:ext cx="1920240" cy="36576"/>
          </a:xfrm>
          <a:prstGeom prst="rect">
            <a:avLst/>
          </a:prstGeom>
          <a:solidFill>
            <a:srgbClr val="CE93D8"/>
          </a:solidFill>
          <a:ln/>
        </p:spPr>
      </p:sp>
      <p:sp>
        <p:nvSpPr>
          <p:cNvPr id="10" name="Text 8"/>
          <p:cNvSpPr/>
          <p:nvPr/>
        </p:nvSpPr>
        <p:spPr>
          <a:xfrm>
            <a:off x="2697480" y="960120"/>
            <a:ext cx="1737360" cy="274320"/>
          </a:xfrm>
          <a:prstGeom prst="rect">
            <a:avLst/>
          </a:prstGeom>
          <a:noFill/>
          <a:ln/>
        </p:spPr>
        <p:txBody>
          <a:bodyPr wrap="square" lIns="0" tIns="0" rIns="0" bIns="0" rtlCol="0" anchor="ctr"/>
          <a:lstStyle/>
          <a:p>
            <a:pPr indent="0" marL="0">
              <a:buNone/>
            </a:pPr>
            <a:r>
              <a:rPr lang="en-US" sz="1100" b="1" dirty="0">
                <a:solidFill>
                  <a:srgbClr val="1A0A2E"/>
                </a:solidFill>
                <a:latin typeface="Trebuchet MS" pitchFamily="34" charset="0"/>
                <a:ea typeface="Trebuchet MS" pitchFamily="34" charset="-122"/>
                <a:cs typeface="Trebuchet MS" pitchFamily="34" charset="-120"/>
              </a:rPr>
              <a:t>Integration Testing</a:t>
            </a:r>
            <a:endParaRPr lang="en-US" sz="1100" dirty="0"/>
          </a:p>
        </p:txBody>
      </p:sp>
      <p:sp>
        <p:nvSpPr>
          <p:cNvPr id="11" name="Text 9"/>
          <p:cNvSpPr/>
          <p:nvPr/>
        </p:nvSpPr>
        <p:spPr>
          <a:xfrm>
            <a:off x="2697480" y="1234440"/>
            <a:ext cx="1737360" cy="320040"/>
          </a:xfrm>
          <a:prstGeom prst="rect">
            <a:avLst/>
          </a:prstGeom>
          <a:noFill/>
          <a:ln/>
        </p:spPr>
        <p:txBody>
          <a:bodyPr wrap="square" lIns="0" tIns="0" rIns="0" bIns="0" rtlCol="0" anchor="ctr"/>
          <a:lstStyle/>
          <a:p>
            <a:pPr indent="0" marL="0">
              <a:buNone/>
            </a:pPr>
            <a:r>
              <a:rPr lang="en-US" sz="950" dirty="0">
                <a:solidFill>
                  <a:srgbClr val="8E6EA6"/>
                </a:solidFill>
                <a:latin typeface="Calibri" pitchFamily="34" charset="0"/>
                <a:ea typeface="Calibri" pitchFamily="34" charset="-122"/>
                <a:cs typeface="Calibri" pitchFamily="34" charset="-120"/>
              </a:rPr>
              <a:t>Test the integration of components</a:t>
            </a:r>
            <a:endParaRPr lang="en-US" sz="950" dirty="0"/>
          </a:p>
        </p:txBody>
      </p:sp>
      <p:sp>
        <p:nvSpPr>
          <p:cNvPr id="12" name="Shape 10"/>
          <p:cNvSpPr/>
          <p:nvPr/>
        </p:nvSpPr>
        <p:spPr>
          <a:xfrm>
            <a:off x="4754880" y="868680"/>
            <a:ext cx="1920240" cy="77724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3" name="Shape 11"/>
          <p:cNvSpPr/>
          <p:nvPr/>
        </p:nvSpPr>
        <p:spPr>
          <a:xfrm>
            <a:off x="4754880" y="868680"/>
            <a:ext cx="1920240" cy="36576"/>
          </a:xfrm>
          <a:prstGeom prst="rect">
            <a:avLst/>
          </a:prstGeom>
          <a:solidFill>
            <a:srgbClr val="CE93D8"/>
          </a:solidFill>
          <a:ln/>
        </p:spPr>
      </p:sp>
      <p:sp>
        <p:nvSpPr>
          <p:cNvPr id="14" name="Text 12"/>
          <p:cNvSpPr/>
          <p:nvPr/>
        </p:nvSpPr>
        <p:spPr>
          <a:xfrm>
            <a:off x="4846320" y="960120"/>
            <a:ext cx="1737360" cy="274320"/>
          </a:xfrm>
          <a:prstGeom prst="rect">
            <a:avLst/>
          </a:prstGeom>
          <a:noFill/>
          <a:ln/>
        </p:spPr>
        <p:txBody>
          <a:bodyPr wrap="square" lIns="0" tIns="0" rIns="0" bIns="0" rtlCol="0" anchor="ctr"/>
          <a:lstStyle/>
          <a:p>
            <a:pPr indent="0" marL="0">
              <a:buNone/>
            </a:pPr>
            <a:r>
              <a:rPr lang="en-US" sz="1100" b="1" dirty="0">
                <a:solidFill>
                  <a:srgbClr val="1A0A2E"/>
                </a:solidFill>
                <a:latin typeface="Trebuchet MS" pitchFamily="34" charset="0"/>
                <a:ea typeface="Trebuchet MS" pitchFamily="34" charset="-122"/>
                <a:cs typeface="Trebuchet MS" pitchFamily="34" charset="-120"/>
              </a:rPr>
              <a:t>System Testing</a:t>
            </a:r>
            <a:endParaRPr lang="en-US" sz="1100" dirty="0"/>
          </a:p>
        </p:txBody>
      </p:sp>
      <p:sp>
        <p:nvSpPr>
          <p:cNvPr id="15" name="Text 13"/>
          <p:cNvSpPr/>
          <p:nvPr/>
        </p:nvSpPr>
        <p:spPr>
          <a:xfrm>
            <a:off x="4846320" y="1234440"/>
            <a:ext cx="1737360" cy="320040"/>
          </a:xfrm>
          <a:prstGeom prst="rect">
            <a:avLst/>
          </a:prstGeom>
          <a:noFill/>
          <a:ln/>
        </p:spPr>
        <p:txBody>
          <a:bodyPr wrap="square" lIns="0" tIns="0" rIns="0" bIns="0" rtlCol="0" anchor="ctr"/>
          <a:lstStyle/>
          <a:p>
            <a:pPr indent="0" marL="0">
              <a:buNone/>
            </a:pPr>
            <a:r>
              <a:rPr lang="en-US" sz="950" dirty="0">
                <a:solidFill>
                  <a:srgbClr val="8E6EA6"/>
                </a:solidFill>
                <a:latin typeface="Calibri" pitchFamily="34" charset="0"/>
                <a:ea typeface="Calibri" pitchFamily="34" charset="-122"/>
                <a:cs typeface="Calibri" pitchFamily="34" charset="-120"/>
              </a:rPr>
              <a:t>Test the entire system</a:t>
            </a:r>
            <a:endParaRPr lang="en-US" sz="950" dirty="0"/>
          </a:p>
        </p:txBody>
      </p:sp>
      <p:sp>
        <p:nvSpPr>
          <p:cNvPr id="16" name="Shape 14"/>
          <p:cNvSpPr/>
          <p:nvPr/>
        </p:nvSpPr>
        <p:spPr>
          <a:xfrm>
            <a:off x="6903720" y="868680"/>
            <a:ext cx="1920240" cy="777240"/>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6903720" y="868680"/>
            <a:ext cx="1920240" cy="36576"/>
          </a:xfrm>
          <a:prstGeom prst="rect">
            <a:avLst/>
          </a:prstGeom>
          <a:solidFill>
            <a:srgbClr val="CE93D8"/>
          </a:solidFill>
          <a:ln/>
        </p:spPr>
      </p:sp>
      <p:sp>
        <p:nvSpPr>
          <p:cNvPr id="18" name="Text 16"/>
          <p:cNvSpPr/>
          <p:nvPr/>
        </p:nvSpPr>
        <p:spPr>
          <a:xfrm>
            <a:off x="6995160" y="960120"/>
            <a:ext cx="1737360" cy="274320"/>
          </a:xfrm>
          <a:prstGeom prst="rect">
            <a:avLst/>
          </a:prstGeom>
          <a:noFill/>
          <a:ln/>
        </p:spPr>
        <p:txBody>
          <a:bodyPr wrap="square" lIns="0" tIns="0" rIns="0" bIns="0" rtlCol="0" anchor="ctr"/>
          <a:lstStyle/>
          <a:p>
            <a:pPr indent="0" marL="0">
              <a:buNone/>
            </a:pPr>
            <a:r>
              <a:rPr lang="en-US" sz="1100" b="1" dirty="0">
                <a:solidFill>
                  <a:srgbClr val="1A0A2E"/>
                </a:solidFill>
                <a:latin typeface="Trebuchet MS" pitchFamily="34" charset="0"/>
                <a:ea typeface="Trebuchet MS" pitchFamily="34" charset="-122"/>
                <a:cs typeface="Trebuchet MS" pitchFamily="34" charset="-120"/>
              </a:rPr>
              <a:t>User Acceptance Testing</a:t>
            </a:r>
            <a:endParaRPr lang="en-US" sz="1100" dirty="0"/>
          </a:p>
        </p:txBody>
      </p:sp>
      <p:sp>
        <p:nvSpPr>
          <p:cNvPr id="19" name="Text 17"/>
          <p:cNvSpPr/>
          <p:nvPr/>
        </p:nvSpPr>
        <p:spPr>
          <a:xfrm>
            <a:off x="6995160" y="1234440"/>
            <a:ext cx="1737360" cy="320040"/>
          </a:xfrm>
          <a:prstGeom prst="rect">
            <a:avLst/>
          </a:prstGeom>
          <a:noFill/>
          <a:ln/>
        </p:spPr>
        <p:txBody>
          <a:bodyPr wrap="square" lIns="0" tIns="0" rIns="0" bIns="0" rtlCol="0" anchor="ctr"/>
          <a:lstStyle/>
          <a:p>
            <a:pPr indent="0" marL="0">
              <a:buNone/>
            </a:pPr>
            <a:r>
              <a:rPr lang="en-US" sz="950" dirty="0">
                <a:solidFill>
                  <a:srgbClr val="8E6EA6"/>
                </a:solidFill>
                <a:latin typeface="Calibri" pitchFamily="34" charset="0"/>
                <a:ea typeface="Calibri" pitchFamily="34" charset="-122"/>
                <a:cs typeface="Calibri" pitchFamily="34" charset="-120"/>
              </a:rPr>
              <a:t>Test the system with real users</a:t>
            </a:r>
            <a:endParaRPr lang="en-US" sz="950" dirty="0"/>
          </a:p>
        </p:txBody>
      </p:sp>
      <p:sp>
        <p:nvSpPr>
          <p:cNvPr id="20" name="Text 18"/>
          <p:cNvSpPr/>
          <p:nvPr/>
        </p:nvSpPr>
        <p:spPr>
          <a:xfrm>
            <a:off x="548640" y="1874520"/>
            <a:ext cx="2743200" cy="320040"/>
          </a:xfrm>
          <a:prstGeom prst="rect">
            <a:avLst/>
          </a:prstGeom>
          <a:noFill/>
          <a:ln/>
        </p:spPr>
        <p:txBody>
          <a:bodyPr wrap="square" lIns="0" tIns="0" rIns="0" bIns="0" rtlCol="0" anchor="ctr"/>
          <a:lstStyle/>
          <a:p>
            <a:pPr indent="0" marL="0">
              <a:buNone/>
            </a:pPr>
            <a:r>
              <a:rPr lang="en-US" sz="1400" b="1" dirty="0">
                <a:solidFill>
                  <a:srgbClr val="6A1B9A"/>
                </a:solidFill>
                <a:latin typeface="Trebuchet MS" pitchFamily="34" charset="0"/>
                <a:ea typeface="Trebuchet MS" pitchFamily="34" charset="-122"/>
                <a:cs typeface="Trebuchet MS" pitchFamily="34" charset="-120"/>
              </a:rPr>
              <a:t>Test Cases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8229600" cy="914400"/>
        </p:xfrm>
        <a:graphic>
          <a:graphicData uri="http://schemas.openxmlformats.org/drawingml/2006/table">
            <a:tbl>
              <a:tblPr/>
              <a:tblGrid>
                <a:gridCol w="731520"/>
                <a:gridCol w="2560320"/>
                <a:gridCol w="2926080"/>
                <a:gridCol w="73152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Test ID</a:t>
                      </a:r>
                      <a:endParaRPr lang="en-US" sz="100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1A0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Test Case</a:t>
                      </a:r>
                      <a:endParaRPr lang="en-US" sz="100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1A0A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Expected Result</a:t>
                      </a:r>
                      <a:endParaRPr lang="en-US" sz="100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1A0A2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1A0A2E"/>
                    </a:solidFill>
                  </a:tcPr>
                </a:tc>
              </a:tr>
              <a:tr h="292608">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TC-01</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Test resume parser with sample resumes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Extract relevant information</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r>
              <a:tr h="292608">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TC-02</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Test skill and experience matcher with sample job openings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Match candidate skills and experience</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FFF"/>
                    </a:solidFill>
                  </a:tcPr>
                </a:tc>
              </a:tr>
              <a:tr h="292608">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TC-03</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Test candidate ranker with sample resumes and job openings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Rank candidates based on suitability</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r>
              <a:tr h="292608">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TC-04</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Test user interface with sample inputs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Provide intuitive interface</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FFF"/>
                    </a:solidFill>
                  </a:tcPr>
                </a:tc>
              </a:tr>
              <a:tr h="292608">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TC-05</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Test database with sample data</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Store and retrieve data</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r>
              <a:tr h="292608">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TC-06</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Test NLP module with sample resumes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Extract relevant information</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FFF"/>
                    </a:solidFill>
                  </a:tcPr>
                </a:tc>
              </a:tr>
              <a:tr h="292608">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TC-07</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Test system with sample inputs and expected outputs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c>
                  <a:txBody>
                    <a:bodyPr/>
                    <a:lstStyle/>
                    <a:p>
                      <a:pPr algn="l" indent="0" marL="0">
                        <a:buNone/>
                      </a:pPr>
                      <a:r>
                        <a:rPr lang="en-US" sz="950" dirty="0">
                          <a:solidFill>
                            <a:srgbClr val="1A0A2E"/>
                          </a:solidFill>
                          <a:latin typeface="Calibri" pitchFamily="34" charset="0"/>
                          <a:ea typeface="Calibri" pitchFamily="34" charset="-122"/>
                          <a:cs typeface="Calibri" pitchFamily="34" charset="-120"/>
                        </a:rPr>
                        <a:t>Produce expected outputs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c>
                  <a:txBody>
                    <a:bodyPr/>
                    <a:lstStyle/>
                    <a:p>
                      <a:pPr algn="ctr" indent="0" marL="0">
                        <a:buNone/>
                      </a:pPr>
                      <a:r>
                        <a:rPr lang="en-US" sz="950" dirty="0">
                          <a:solidFill>
                            <a:srgbClr val="1A0A2E"/>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lnL w="6350" cap="flat" cmpd="sng" algn="ctr">
                      <a:solidFill>
                        <a:srgbClr val="E1BEE7"/>
                      </a:solidFill>
                      <a:prstDash val="solid"/>
                      <a:round/>
                      <a:headEnd type="none" w="med" len="med"/>
                      <a:tailEnd type="none" w="med" len="med"/>
                    </a:lnL>
                    <a:lnR w="6350" cap="flat" cmpd="sng" algn="ctr">
                      <a:solidFill>
                        <a:srgbClr val="E1BEE7"/>
                      </a:solidFill>
                      <a:prstDash val="solid"/>
                      <a:round/>
                      <a:headEnd type="none" w="med" len="med"/>
                      <a:tailEnd type="none" w="med" len="med"/>
                    </a:lnR>
                    <a:lnT w="6350" cap="flat" cmpd="sng" algn="ctr">
                      <a:solidFill>
                        <a:srgbClr val="E1BEE7"/>
                      </a:solidFill>
                      <a:prstDash val="solid"/>
                      <a:round/>
                      <a:headEnd type="none" w="med" len="med"/>
                      <a:tailEnd type="none" w="med" len="med"/>
                    </a:lnT>
                    <a:lnB w="6350" cap="flat" cmpd="sng" algn="ctr">
                      <a:solidFill>
                        <a:srgbClr val="E1BEE7"/>
                      </a:solidFill>
                      <a:prstDash val="solid"/>
                      <a:round/>
                      <a:headEnd type="none" w="med" len="med"/>
                      <a:tailEnd type="none" w="med" len="med"/>
                    </a:lnB>
                    <a:solidFill>
                      <a:srgbClr val="FFF8F0"/>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0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A1B9A"/>
          </a:solidFill>
          <a:ln/>
        </p:spPr>
      </p:sp>
      <p:sp>
        <p:nvSpPr>
          <p:cNvPr id="3" name="Text 1"/>
          <p:cNvSpPr/>
          <p:nvPr/>
        </p:nvSpPr>
        <p:spPr>
          <a:xfrm>
            <a:off x="548640" y="274320"/>
            <a:ext cx="4572000" cy="457200"/>
          </a:xfrm>
          <a:prstGeom prst="rect">
            <a:avLst/>
          </a:prstGeom>
          <a:noFill/>
          <a:ln/>
        </p:spPr>
        <p:txBody>
          <a:bodyPr wrap="square" lIns="0" tIns="0" rIns="0" bIns="0" rtlCol="0" anchor="ctr"/>
          <a:lstStyle/>
          <a:p>
            <a:pPr indent="0" marL="0">
              <a:buNone/>
            </a:pPr>
            <a:r>
              <a:rPr lang="en-US" sz="2800" b="1" dirty="0">
                <a:solidFill>
                  <a:srgbClr val="6A1B9A"/>
                </a:solidFill>
                <a:latin typeface="Trebuchet MS" pitchFamily="34" charset="0"/>
                <a:ea typeface="Trebuchet MS" pitchFamily="34" charset="-122"/>
                <a:cs typeface="Trebuchet MS" pitchFamily="34" charset="-120"/>
              </a:rPr>
              <a:t>Results &amp; Performance</a:t>
            </a:r>
            <a:endParaRPr lang="en-US" sz="2800" dirty="0"/>
          </a:p>
        </p:txBody>
      </p:sp>
      <p:graphicFrame>
        <p:nvGraphicFramePr>
          <p:cNvPr id="4" name="Chart 0" descr=""/>
          <p:cNvGraphicFramePr/>
          <p:nvPr/>
        </p:nvGraphicFramePr>
        <p:xfrm>
          <a:off x="457200" y="868680"/>
          <a:ext cx="5029200" cy="27432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852160" y="868680"/>
            <a:ext cx="2834640" cy="566928"/>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6" name="Shape 3"/>
          <p:cNvSpPr/>
          <p:nvPr/>
        </p:nvSpPr>
        <p:spPr>
          <a:xfrm>
            <a:off x="5852160" y="868680"/>
            <a:ext cx="54864" cy="566928"/>
          </a:xfrm>
          <a:prstGeom prst="rect">
            <a:avLst/>
          </a:prstGeom>
          <a:solidFill>
            <a:srgbClr val="6A1B9A"/>
          </a:solidFill>
          <a:ln/>
        </p:spPr>
      </p:sp>
      <p:sp>
        <p:nvSpPr>
          <p:cNvPr id="7" name="Text 4"/>
          <p:cNvSpPr/>
          <p:nvPr/>
        </p:nvSpPr>
        <p:spPr>
          <a:xfrm>
            <a:off x="6035040" y="914400"/>
            <a:ext cx="1188720" cy="457200"/>
          </a:xfrm>
          <a:prstGeom prst="rect">
            <a:avLst/>
          </a:prstGeom>
          <a:noFill/>
          <a:ln/>
        </p:spPr>
        <p:txBody>
          <a:bodyPr wrap="square" lIns="0" tIns="0" rIns="0" bIns="0" rtlCol="0" anchor="ctr"/>
          <a:lstStyle/>
          <a:p>
            <a:pPr indent="0" marL="0">
              <a:buNone/>
            </a:pPr>
            <a:r>
              <a:rPr lang="en-US" sz="2000" b="1" dirty="0">
                <a:solidFill>
                  <a:srgbClr val="6A1B9A"/>
                </a:solidFill>
                <a:latin typeface="Trebuchet MS" pitchFamily="34" charset="0"/>
                <a:ea typeface="Trebuchet MS" pitchFamily="34" charset="-122"/>
                <a:cs typeface="Trebuchet MS" pitchFamily="34" charset="-120"/>
              </a:rPr>
              <a:t>95%</a:t>
            </a:r>
            <a:endParaRPr lang="en-US" sz="2000" dirty="0"/>
          </a:p>
        </p:txBody>
      </p:sp>
      <p:sp>
        <p:nvSpPr>
          <p:cNvPr id="8" name="Text 5"/>
          <p:cNvSpPr/>
          <p:nvPr/>
        </p:nvSpPr>
        <p:spPr>
          <a:xfrm>
            <a:off x="7269480" y="914400"/>
            <a:ext cx="1280160" cy="457200"/>
          </a:xfrm>
          <a:prstGeom prst="rect">
            <a:avLst/>
          </a:prstGeom>
          <a:noFill/>
          <a:ln/>
        </p:spPr>
        <p:txBody>
          <a:bodyPr wrap="square" lIns="0" tIns="0" rIns="0" bIns="0" rtlCol="0" anchor="ctr"/>
          <a:lstStyle/>
          <a:p>
            <a:pPr indent="0" marL="0">
              <a:buNone/>
            </a:pPr>
            <a:r>
              <a:rPr lang="en-US" sz="1100" dirty="0">
                <a:solidFill>
                  <a:srgbClr val="1A0A2E"/>
                </a:solidFill>
                <a:latin typeface="Calibri" pitchFamily="34" charset="0"/>
                <a:ea typeface="Calibri" pitchFamily="34" charset="-122"/>
                <a:cs typeface="Calibri" pitchFamily="34" charset="-120"/>
              </a:rPr>
              <a:t>Precision</a:t>
            </a:r>
            <a:endParaRPr lang="en-US" sz="1100" dirty="0"/>
          </a:p>
        </p:txBody>
      </p:sp>
      <p:sp>
        <p:nvSpPr>
          <p:cNvPr id="9" name="Shape 6"/>
          <p:cNvSpPr/>
          <p:nvPr/>
        </p:nvSpPr>
        <p:spPr>
          <a:xfrm>
            <a:off x="5852160" y="1581912"/>
            <a:ext cx="2834640" cy="566928"/>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0" name="Shape 7"/>
          <p:cNvSpPr/>
          <p:nvPr/>
        </p:nvSpPr>
        <p:spPr>
          <a:xfrm>
            <a:off x="5852160" y="1581912"/>
            <a:ext cx="54864" cy="566928"/>
          </a:xfrm>
          <a:prstGeom prst="rect">
            <a:avLst/>
          </a:prstGeom>
          <a:solidFill>
            <a:srgbClr val="FF6090"/>
          </a:solidFill>
          <a:ln/>
        </p:spPr>
      </p:sp>
      <p:sp>
        <p:nvSpPr>
          <p:cNvPr id="11" name="Text 8"/>
          <p:cNvSpPr/>
          <p:nvPr/>
        </p:nvSpPr>
        <p:spPr>
          <a:xfrm>
            <a:off x="6035040" y="1627632"/>
            <a:ext cx="1188720" cy="457200"/>
          </a:xfrm>
          <a:prstGeom prst="rect">
            <a:avLst/>
          </a:prstGeom>
          <a:noFill/>
          <a:ln/>
        </p:spPr>
        <p:txBody>
          <a:bodyPr wrap="square" lIns="0" tIns="0" rIns="0" bIns="0" rtlCol="0" anchor="ctr"/>
          <a:lstStyle/>
          <a:p>
            <a:pPr indent="0" marL="0">
              <a:buNone/>
            </a:pPr>
            <a:r>
              <a:rPr lang="en-US" sz="2000" b="1" dirty="0">
                <a:solidFill>
                  <a:srgbClr val="FF6090"/>
                </a:solidFill>
                <a:latin typeface="Trebuchet MS" pitchFamily="34" charset="0"/>
                <a:ea typeface="Trebuchet MS" pitchFamily="34" charset="-122"/>
                <a:cs typeface="Trebuchet MS" pitchFamily="34" charset="-120"/>
              </a:rPr>
              <a:t>90%</a:t>
            </a:r>
            <a:endParaRPr lang="en-US" sz="2000" dirty="0"/>
          </a:p>
        </p:txBody>
      </p:sp>
      <p:sp>
        <p:nvSpPr>
          <p:cNvPr id="12" name="Text 9"/>
          <p:cNvSpPr/>
          <p:nvPr/>
        </p:nvSpPr>
        <p:spPr>
          <a:xfrm>
            <a:off x="7269480" y="1627632"/>
            <a:ext cx="1280160" cy="457200"/>
          </a:xfrm>
          <a:prstGeom prst="rect">
            <a:avLst/>
          </a:prstGeom>
          <a:noFill/>
          <a:ln/>
        </p:spPr>
        <p:txBody>
          <a:bodyPr wrap="square" lIns="0" tIns="0" rIns="0" bIns="0" rtlCol="0" anchor="ctr"/>
          <a:lstStyle/>
          <a:p>
            <a:pPr indent="0" marL="0">
              <a:buNone/>
            </a:pPr>
            <a:r>
              <a:rPr lang="en-US" sz="1100" dirty="0">
                <a:solidFill>
                  <a:srgbClr val="1A0A2E"/>
                </a:solidFill>
                <a:latin typeface="Calibri" pitchFamily="34" charset="0"/>
                <a:ea typeface="Calibri" pitchFamily="34" charset="-122"/>
                <a:cs typeface="Calibri" pitchFamily="34" charset="-120"/>
              </a:rPr>
              <a:t>Recall</a:t>
            </a:r>
            <a:endParaRPr lang="en-US" sz="1100" dirty="0"/>
          </a:p>
        </p:txBody>
      </p:sp>
      <p:sp>
        <p:nvSpPr>
          <p:cNvPr id="13" name="Shape 10"/>
          <p:cNvSpPr/>
          <p:nvPr/>
        </p:nvSpPr>
        <p:spPr>
          <a:xfrm>
            <a:off x="5852160" y="2295144"/>
            <a:ext cx="2834640" cy="566928"/>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4" name="Shape 11"/>
          <p:cNvSpPr/>
          <p:nvPr/>
        </p:nvSpPr>
        <p:spPr>
          <a:xfrm>
            <a:off x="5852160" y="2295144"/>
            <a:ext cx="54864" cy="566928"/>
          </a:xfrm>
          <a:prstGeom prst="rect">
            <a:avLst/>
          </a:prstGeom>
          <a:solidFill>
            <a:srgbClr val="1B5E20"/>
          </a:solidFill>
          <a:ln/>
        </p:spPr>
      </p:sp>
      <p:sp>
        <p:nvSpPr>
          <p:cNvPr id="15" name="Text 12"/>
          <p:cNvSpPr/>
          <p:nvPr/>
        </p:nvSpPr>
        <p:spPr>
          <a:xfrm>
            <a:off x="6035040" y="2340864"/>
            <a:ext cx="1188720" cy="457200"/>
          </a:xfrm>
          <a:prstGeom prst="rect">
            <a:avLst/>
          </a:prstGeom>
          <a:noFill/>
          <a:ln/>
        </p:spPr>
        <p:txBody>
          <a:bodyPr wrap="square" lIns="0" tIns="0" rIns="0" bIns="0" rtlCol="0" anchor="ctr"/>
          <a:lstStyle/>
          <a:p>
            <a:pPr indent="0" marL="0">
              <a:buNone/>
            </a:pPr>
            <a:r>
              <a:rPr lang="en-US" sz="2000" b="1" dirty="0">
                <a:solidFill>
                  <a:srgbClr val="1B5E20"/>
                </a:solidFill>
                <a:latin typeface="Trebuchet MS" pitchFamily="34" charset="0"/>
                <a:ea typeface="Trebuchet MS" pitchFamily="34" charset="-122"/>
                <a:cs typeface="Trebuchet MS" pitchFamily="34" charset="-120"/>
              </a:rPr>
              <a:t>92%</a:t>
            </a:r>
            <a:endParaRPr lang="en-US" sz="2000" dirty="0"/>
          </a:p>
        </p:txBody>
      </p:sp>
      <p:sp>
        <p:nvSpPr>
          <p:cNvPr id="16" name="Text 13"/>
          <p:cNvSpPr/>
          <p:nvPr/>
        </p:nvSpPr>
        <p:spPr>
          <a:xfrm>
            <a:off x="7269480" y="2340864"/>
            <a:ext cx="1280160" cy="457200"/>
          </a:xfrm>
          <a:prstGeom prst="rect">
            <a:avLst/>
          </a:prstGeom>
          <a:noFill/>
          <a:ln/>
        </p:spPr>
        <p:txBody>
          <a:bodyPr wrap="square" lIns="0" tIns="0" rIns="0" bIns="0" rtlCol="0" anchor="ctr"/>
          <a:lstStyle/>
          <a:p>
            <a:pPr indent="0" marL="0">
              <a:buNone/>
            </a:pPr>
            <a:r>
              <a:rPr lang="en-US" sz="1100" dirty="0">
                <a:solidFill>
                  <a:srgbClr val="1A0A2E"/>
                </a:solidFill>
                <a:latin typeface="Calibri" pitchFamily="34" charset="0"/>
                <a:ea typeface="Calibri" pitchFamily="34" charset="-122"/>
                <a:cs typeface="Calibri" pitchFamily="34" charset="-120"/>
              </a:rPr>
              <a:t>F1-Score</a:t>
            </a:r>
            <a:endParaRPr lang="en-US" sz="1100" dirty="0"/>
          </a:p>
        </p:txBody>
      </p:sp>
      <p:sp>
        <p:nvSpPr>
          <p:cNvPr id="17" name="Shape 14"/>
          <p:cNvSpPr/>
          <p:nvPr/>
        </p:nvSpPr>
        <p:spPr>
          <a:xfrm>
            <a:off x="5852160" y="3008376"/>
            <a:ext cx="2834640" cy="566928"/>
          </a:xfrm>
          <a:prstGeom prst="rect">
            <a:avLst/>
          </a:prstGeom>
          <a:solidFill>
            <a:srgbClr val="FFFFFF"/>
          </a:solidFill>
          <a:ln w="6350">
            <a:solidFill>
              <a:srgbClr val="E1BEE7"/>
            </a:solidFill>
            <a:prstDash val="solid"/>
          </a:ln>
          <a:effectLst>
            <a:outerShdw sx="100000" sy="100000" kx="0" ky="0" algn="bl" rotWithShape="0" blurRad="76200" dist="25400" dir="8100000">
              <a:srgbClr val="000000">
                <a:alpha val="12000"/>
              </a:srgbClr>
            </a:outerShdw>
          </a:effectLst>
        </p:spPr>
      </p:sp>
      <p:sp>
        <p:nvSpPr>
          <p:cNvPr id="18" name="Shape 15"/>
          <p:cNvSpPr/>
          <p:nvPr/>
        </p:nvSpPr>
        <p:spPr>
          <a:xfrm>
            <a:off x="5852160" y="3008376"/>
            <a:ext cx="54864" cy="566928"/>
          </a:xfrm>
          <a:prstGeom prst="rect">
            <a:avLst/>
          </a:prstGeom>
          <a:solidFill>
            <a:srgbClr val="CE93D8"/>
          </a:solidFill>
          <a:ln/>
        </p:spPr>
      </p:sp>
      <p:sp>
        <p:nvSpPr>
          <p:cNvPr id="19" name="Text 16"/>
          <p:cNvSpPr/>
          <p:nvPr/>
        </p:nvSpPr>
        <p:spPr>
          <a:xfrm>
            <a:off x="6035040" y="3054096"/>
            <a:ext cx="1188720" cy="457200"/>
          </a:xfrm>
          <a:prstGeom prst="rect">
            <a:avLst/>
          </a:prstGeom>
          <a:noFill/>
          <a:ln/>
        </p:spPr>
        <p:txBody>
          <a:bodyPr wrap="square" lIns="0" tIns="0" rIns="0" bIns="0" rtlCol="0" anchor="ctr"/>
          <a:lstStyle/>
          <a:p>
            <a:pPr indent="0" marL="0">
              <a:buNone/>
            </a:pPr>
            <a:r>
              <a:rPr lang="en-US" sz="2000" b="1" dirty="0">
                <a:solidFill>
                  <a:srgbClr val="CE93D8"/>
                </a:solidFill>
                <a:latin typeface="Trebuchet MS" pitchFamily="34" charset="0"/>
                <a:ea typeface="Trebuchet MS" pitchFamily="34" charset="-122"/>
                <a:cs typeface="Trebuchet MS" pitchFamily="34" charset="-120"/>
              </a:rPr>
              <a:t>10s</a:t>
            </a:r>
            <a:endParaRPr lang="en-US" sz="2000" dirty="0"/>
          </a:p>
        </p:txBody>
      </p:sp>
      <p:sp>
        <p:nvSpPr>
          <p:cNvPr id="20" name="Text 17"/>
          <p:cNvSpPr/>
          <p:nvPr/>
        </p:nvSpPr>
        <p:spPr>
          <a:xfrm>
            <a:off x="7269480" y="3054096"/>
            <a:ext cx="1280160" cy="457200"/>
          </a:xfrm>
          <a:prstGeom prst="rect">
            <a:avLst/>
          </a:prstGeom>
          <a:noFill/>
          <a:ln/>
        </p:spPr>
        <p:txBody>
          <a:bodyPr wrap="square" lIns="0" tIns="0" rIns="0" bIns="0" rtlCol="0" anchor="ctr"/>
          <a:lstStyle/>
          <a:p>
            <a:pPr indent="0" marL="0">
              <a:buNone/>
            </a:pPr>
            <a:r>
              <a:rPr lang="en-US" sz="1100" dirty="0">
                <a:solidFill>
                  <a:srgbClr val="1A0A2E"/>
                </a:solidFill>
                <a:latin typeface="Calibri" pitchFamily="34" charset="0"/>
                <a:ea typeface="Calibri" pitchFamily="34" charset="-122"/>
                <a:cs typeface="Calibri" pitchFamily="34" charset="-120"/>
              </a:rPr>
              <a:t>Speed</a:t>
            </a:r>
            <a:endParaRPr lang="en-US" sz="1100" dirty="0"/>
          </a:p>
        </p:txBody>
      </p:sp>
      <p:sp>
        <p:nvSpPr>
          <p:cNvPr id="21" name="Shape 18"/>
          <p:cNvSpPr/>
          <p:nvPr/>
        </p:nvSpPr>
        <p:spPr>
          <a:xfrm>
            <a:off x="457200" y="3840480"/>
            <a:ext cx="8229600" cy="1005840"/>
          </a:xfrm>
          <a:prstGeom prst="rect">
            <a:avLst/>
          </a:prstGeom>
          <a:solidFill>
            <a:srgbClr val="FFFFFF"/>
          </a:solidFill>
          <a:ln w="6350">
            <a:solidFill>
              <a:srgbClr val="CE93D8"/>
            </a:solidFill>
            <a:prstDash val="solid"/>
          </a:ln>
          <a:effectLst>
            <a:outerShdw sx="100000" sy="100000" kx="0" ky="0" algn="bl" rotWithShape="0" blurRad="76200" dist="25400" dir="8100000">
              <a:srgbClr val="000000">
                <a:alpha val="12000"/>
              </a:srgbClr>
            </a:outerShdw>
          </a:effectLst>
        </p:spPr>
      </p:sp>
      <p:sp>
        <p:nvSpPr>
          <p:cNvPr id="22" name="Shape 19"/>
          <p:cNvSpPr/>
          <p:nvPr/>
        </p:nvSpPr>
        <p:spPr>
          <a:xfrm>
            <a:off x="457200" y="3840480"/>
            <a:ext cx="54864" cy="1005840"/>
          </a:xfrm>
          <a:prstGeom prst="rect">
            <a:avLst/>
          </a:prstGeom>
          <a:solidFill>
            <a:srgbClr val="CE93D8"/>
          </a:solidFill>
          <a:ln/>
        </p:spPr>
      </p:sp>
      <p:sp>
        <p:nvSpPr>
          <p:cNvPr id="23" name="Text 20"/>
          <p:cNvSpPr/>
          <p:nvPr/>
        </p:nvSpPr>
        <p:spPr>
          <a:xfrm>
            <a:off x="685800" y="3886200"/>
            <a:ext cx="1828800" cy="274320"/>
          </a:xfrm>
          <a:prstGeom prst="rect">
            <a:avLst/>
          </a:prstGeom>
          <a:noFill/>
          <a:ln/>
        </p:spPr>
        <p:txBody>
          <a:bodyPr wrap="square" lIns="0" tIns="0" rIns="0" bIns="0" rtlCol="0" anchor="ctr"/>
          <a:lstStyle/>
          <a:p>
            <a:pPr indent="0" marL="0">
              <a:buNone/>
            </a:pPr>
            <a:r>
              <a:rPr lang="en-US" sz="1300" b="1" dirty="0">
                <a:solidFill>
                  <a:srgbClr val="6A1B9A"/>
                </a:solidFill>
                <a:latin typeface="Trebuchet MS" pitchFamily="34" charset="0"/>
                <a:ea typeface="Trebuchet MS" pitchFamily="34" charset="-122"/>
                <a:cs typeface="Trebuchet MS" pitchFamily="34" charset="-120"/>
              </a:rPr>
              <a:t>Key Findings</a:t>
            </a:r>
            <a:endParaRPr lang="en-US" sz="1300" dirty="0"/>
          </a:p>
        </p:txBody>
      </p:sp>
      <p:sp>
        <p:nvSpPr>
          <p:cNvPr id="24" name="Text 21"/>
          <p:cNvSpPr/>
          <p:nvPr/>
        </p:nvSpPr>
        <p:spPr>
          <a:xfrm>
            <a:off x="685800" y="4160520"/>
            <a:ext cx="7772400" cy="640080"/>
          </a:xfrm>
          <a:prstGeom prst="rect">
            <a:avLst/>
          </a:prstGeom>
          <a:noFill/>
          <a:ln/>
        </p:spPr>
        <p:txBody>
          <a:bodyPr wrap="square" lIns="0" tIns="0" rIns="0" bIns="0" rtlCol="0" anchor="ctr"/>
          <a:lstStyle/>
          <a:p>
            <a:pPr indent="0" marL="0">
              <a:lnSpc>
                <a:spcPct val="130000"/>
              </a:lnSpc>
              <a:buNone/>
            </a:pPr>
            <a:r>
              <a:rPr lang="en-US" sz="1050" dirty="0">
                <a:solidFill>
                  <a:srgbClr val="1A0A2E"/>
                </a:solidFill>
                <a:latin typeface="Calibri" pitchFamily="34" charset="0"/>
                <a:ea typeface="Calibri" pitchFamily="34" charset="-122"/>
                <a:cs typeface="Calibri" pitchFamily="34" charset="-120"/>
              </a:rPr>
              <a:t>The system achieved high accuracy in extracting relevant information from resumes, matching candidate skills and experience, and ranking candidates. The system also demonstrated high performance in terms of speed and efficiency.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616"/>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E93D8"/>
          </a:solidFill>
          <a:ln/>
        </p:spPr>
      </p:sp>
      <p:sp>
        <p:nvSpPr>
          <p:cNvPr id="3" name="Shape 1"/>
          <p:cNvSpPr/>
          <p:nvPr/>
        </p:nvSpPr>
        <p:spPr>
          <a:xfrm>
            <a:off x="0" y="5088636"/>
            <a:ext cx="9144000" cy="54864"/>
          </a:xfrm>
          <a:prstGeom prst="rect">
            <a:avLst/>
          </a:prstGeom>
          <a:solidFill>
            <a:srgbClr val="CE93D8"/>
          </a:solidFill>
          <a:ln/>
        </p:spPr>
      </p:sp>
      <p:sp>
        <p:nvSpPr>
          <p:cNvPr id="4" name="Text 2"/>
          <p:cNvSpPr/>
          <p:nvPr/>
        </p:nvSpPr>
        <p:spPr>
          <a:xfrm>
            <a:off x="548640" y="32004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Conclusion &amp; Future Scope</a:t>
            </a:r>
            <a:endParaRPr lang="en-US" sz="2800" dirty="0"/>
          </a:p>
        </p:txBody>
      </p:sp>
      <p:sp>
        <p:nvSpPr>
          <p:cNvPr id="5" name="Shape 3"/>
          <p:cNvSpPr/>
          <p:nvPr/>
        </p:nvSpPr>
        <p:spPr>
          <a:xfrm>
            <a:off x="548640" y="1005840"/>
            <a:ext cx="3840480" cy="3291840"/>
          </a:xfrm>
          <a:prstGeom prst="rect">
            <a:avLst/>
          </a:prstGeom>
          <a:solidFill>
            <a:srgbClr val="1A0A2E"/>
          </a:solidFill>
          <a:ln w="3810">
            <a:solidFill>
              <a:srgbClr val="8E6EA6"/>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548640" y="1005840"/>
            <a:ext cx="3840480" cy="411480"/>
          </a:xfrm>
          <a:prstGeom prst="rect">
            <a:avLst/>
          </a:prstGeom>
          <a:solidFill>
            <a:srgbClr val="6A1B9A"/>
          </a:solidFill>
          <a:ln/>
        </p:spPr>
      </p:sp>
      <p:pic>
        <p:nvPicPr>
          <p:cNvPr id="7" name="Image 0" descr="preencoded.png">    </p:cNvPr>
          <p:cNvPicPr>
            <a:picLocks noChangeAspect="1"/>
          </p:cNvPicPr>
          <p:nvPr/>
        </p:nvPicPr>
        <p:blipFill>
          <a:blip r:embed="rId1"/>
          <a:stretch>
            <a:fillRect/>
          </a:stretch>
        </p:blipFill>
        <p:spPr>
          <a:xfrm>
            <a:off x="685800" y="1060704"/>
            <a:ext cx="274320" cy="274320"/>
          </a:xfrm>
          <a:prstGeom prst="rect">
            <a:avLst/>
          </a:prstGeom>
        </p:spPr>
      </p:pic>
      <p:sp>
        <p:nvSpPr>
          <p:cNvPr id="8" name="Text 5"/>
          <p:cNvSpPr/>
          <p:nvPr/>
        </p:nvSpPr>
        <p:spPr>
          <a:xfrm>
            <a:off x="1051560" y="1005840"/>
            <a:ext cx="3200400" cy="41148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Achievements</a:t>
            </a:r>
            <a:endParaRPr lang="en-US" sz="1400" dirty="0"/>
          </a:p>
        </p:txBody>
      </p:sp>
      <p:sp>
        <p:nvSpPr>
          <p:cNvPr id="9" name="Text 6"/>
          <p:cNvSpPr/>
          <p:nvPr/>
        </p:nvSpPr>
        <p:spPr>
          <a:xfrm>
            <a:off x="731520" y="1554480"/>
            <a:ext cx="3474720" cy="2606040"/>
          </a:xfrm>
          <a:prstGeom prst="rect">
            <a:avLst/>
          </a:prstGeom>
          <a:noFill/>
          <a:ln/>
        </p:spPr>
        <p:txBody>
          <a:bodyPr wrap="square" rtlCol="0" anchor="ctr"/>
          <a:lstStyle/>
          <a:p>
            <a:pPr marL="342900" indent="-342900">
              <a:lnSpc>
                <a:spcPct val="125000"/>
              </a:lnSpc>
              <a:spcAft>
                <a:spcPts val="600"/>
              </a:spcAft>
              <a:buSzPct val="100000"/>
              <a:buChar char="•"/>
            </a:pPr>
            <a:r>
              <a:rPr lang="en-US" sz="1100" dirty="0">
                <a:solidFill>
                  <a:srgbClr val="B8A090"/>
                </a:solidFill>
                <a:latin typeface="Calibri" pitchFamily="34" charset="0"/>
                <a:ea typeface="Calibri" pitchFamily="34" charset="-122"/>
                <a:cs typeface="Calibri" pitchFamily="34" charset="-120"/>
              </a:rPr>
              <a:t>Developed an AI-powered resume screening system using NLP</a:t>
            </a:r>
            <a:endParaRPr lang="en-US" sz="1100" dirty="0"/>
          </a:p>
          <a:p>
            <a:pPr marL="342900" indent="-342900">
              <a:lnSpc>
                <a:spcPct val="125000"/>
              </a:lnSpc>
              <a:spcAft>
                <a:spcPts val="600"/>
              </a:spcAft>
              <a:buSzPct val="100000"/>
              <a:buChar char="•"/>
            </a:pPr>
            <a:r>
              <a:rPr lang="en-US" sz="1100" dirty="0">
                <a:solidFill>
                  <a:srgbClr val="B8A090"/>
                </a:solidFill>
                <a:latin typeface="Calibri" pitchFamily="34" charset="0"/>
                <a:ea typeface="Calibri" pitchFamily="34" charset="-122"/>
                <a:cs typeface="Calibri" pitchFamily="34" charset="-120"/>
              </a:rPr>
              <a:t>Improved accuracy and efficiency in candidate selection</a:t>
            </a:r>
            <a:endParaRPr lang="en-US" sz="1100" dirty="0"/>
          </a:p>
          <a:p>
            <a:pPr marL="342900" indent="-342900">
              <a:lnSpc>
                <a:spcPct val="125000"/>
              </a:lnSpc>
              <a:spcAft>
                <a:spcPts val="600"/>
              </a:spcAft>
              <a:buSzPct val="100000"/>
              <a:buChar char="•"/>
            </a:pPr>
            <a:r>
              <a:rPr lang="en-US" sz="1100" dirty="0">
                <a:solidFill>
                  <a:srgbClr val="B8A090"/>
                </a:solidFill>
                <a:latin typeface="Calibri" pitchFamily="34" charset="0"/>
                <a:ea typeface="Calibri" pitchFamily="34" charset="-122"/>
                <a:cs typeface="Calibri" pitchFamily="34" charset="-120"/>
              </a:rPr>
              <a:t>Reduced manual effort involved in resume screening</a:t>
            </a:r>
            <a:endParaRPr lang="en-US" sz="1100" dirty="0"/>
          </a:p>
          <a:p>
            <a:pPr marL="342900" indent="-342900">
              <a:lnSpc>
                <a:spcPct val="125000"/>
              </a:lnSpc>
              <a:spcAft>
                <a:spcPts val="600"/>
              </a:spcAft>
              <a:buSzPct val="100000"/>
              <a:buChar char="•"/>
            </a:pPr>
            <a:r>
              <a:rPr lang="en-US" sz="1100" dirty="0">
                <a:solidFill>
                  <a:srgbClr val="B8A090"/>
                </a:solidFill>
                <a:latin typeface="Calibri" pitchFamily="34" charset="0"/>
                <a:ea typeface="Calibri" pitchFamily="34" charset="-122"/>
                <a:cs typeface="Calibri" pitchFamily="34" charset="-120"/>
              </a:rPr>
              <a:t>Enhanced overall hiring experience</a:t>
            </a:r>
            <a:endParaRPr lang="en-US" sz="1100" dirty="0"/>
          </a:p>
        </p:txBody>
      </p:sp>
      <p:sp>
        <p:nvSpPr>
          <p:cNvPr id="10" name="Shape 7"/>
          <p:cNvSpPr/>
          <p:nvPr/>
        </p:nvSpPr>
        <p:spPr>
          <a:xfrm>
            <a:off x="4754880" y="1005840"/>
            <a:ext cx="3931920" cy="3291840"/>
          </a:xfrm>
          <a:prstGeom prst="rect">
            <a:avLst/>
          </a:prstGeom>
          <a:solidFill>
            <a:srgbClr val="1A0A2E"/>
          </a:solidFill>
          <a:ln w="3810">
            <a:solidFill>
              <a:srgbClr val="8E6EA6"/>
            </a:solidFill>
            <a:prstDash val="solid"/>
          </a:ln>
          <a:effectLst>
            <a:outerShdw sx="100000" sy="100000" kx="0" ky="0" algn="bl" rotWithShape="0" blurRad="101600" dist="38100" dir="8100000">
              <a:srgbClr val="000000">
                <a:alpha val="25000"/>
              </a:srgbClr>
            </a:outerShdw>
          </a:effectLst>
        </p:spPr>
      </p:sp>
      <p:sp>
        <p:nvSpPr>
          <p:cNvPr id="11" name="Shape 8"/>
          <p:cNvSpPr/>
          <p:nvPr/>
        </p:nvSpPr>
        <p:spPr>
          <a:xfrm>
            <a:off x="4754880" y="1005840"/>
            <a:ext cx="3931920" cy="411480"/>
          </a:xfrm>
          <a:prstGeom prst="rect">
            <a:avLst/>
          </a:prstGeom>
          <a:solidFill>
            <a:srgbClr val="1B5E20"/>
          </a:solidFill>
          <a:ln/>
        </p:spPr>
      </p:sp>
      <p:pic>
        <p:nvPicPr>
          <p:cNvPr id="12" name="Image 1" descr="preencoded.png">    </p:cNvPr>
          <p:cNvPicPr>
            <a:picLocks noChangeAspect="1"/>
          </p:cNvPicPr>
          <p:nvPr/>
        </p:nvPicPr>
        <p:blipFill>
          <a:blip r:embed="rId2"/>
          <a:stretch>
            <a:fillRect/>
          </a:stretch>
        </p:blipFill>
        <p:spPr>
          <a:xfrm>
            <a:off x="4892040" y="1060704"/>
            <a:ext cx="274320" cy="274320"/>
          </a:xfrm>
          <a:prstGeom prst="rect">
            <a:avLst/>
          </a:prstGeom>
        </p:spPr>
      </p:pic>
      <p:sp>
        <p:nvSpPr>
          <p:cNvPr id="13" name="Text 9"/>
          <p:cNvSpPr/>
          <p:nvPr/>
        </p:nvSpPr>
        <p:spPr>
          <a:xfrm>
            <a:off x="5257800" y="1005840"/>
            <a:ext cx="3291840" cy="41148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Future Scope</a:t>
            </a:r>
            <a:endParaRPr lang="en-US" sz="1400" dirty="0"/>
          </a:p>
        </p:txBody>
      </p:sp>
      <p:sp>
        <p:nvSpPr>
          <p:cNvPr id="14" name="Text 10"/>
          <p:cNvSpPr/>
          <p:nvPr/>
        </p:nvSpPr>
        <p:spPr>
          <a:xfrm>
            <a:off x="4937760" y="1554480"/>
            <a:ext cx="3566160" cy="2606040"/>
          </a:xfrm>
          <a:prstGeom prst="rect">
            <a:avLst/>
          </a:prstGeom>
          <a:noFill/>
          <a:ln/>
        </p:spPr>
        <p:txBody>
          <a:bodyPr wrap="square" rtlCol="0" anchor="ctr"/>
          <a:lstStyle/>
          <a:p>
            <a:pPr marL="342900" indent="-342900">
              <a:lnSpc>
                <a:spcPct val="125000"/>
              </a:lnSpc>
              <a:spcAft>
                <a:spcPts val="600"/>
              </a:spcAft>
              <a:buSzPct val="100000"/>
              <a:buChar char="•"/>
            </a:pPr>
            <a:r>
              <a:rPr lang="en-US" sz="1100" dirty="0">
                <a:solidFill>
                  <a:srgbClr val="B8A090"/>
                </a:solidFill>
                <a:latin typeface="Calibri" pitchFamily="34" charset="0"/>
                <a:ea typeface="Calibri" pitchFamily="34" charset="-122"/>
                <a:cs typeface="Calibri" pitchFamily="34" charset="-120"/>
              </a:rPr>
              <a:t>Integrate with existing HR systems</a:t>
            </a:r>
            <a:endParaRPr lang="en-US" sz="1100" dirty="0"/>
          </a:p>
          <a:p>
            <a:pPr marL="342900" indent="-342900">
              <a:lnSpc>
                <a:spcPct val="125000"/>
              </a:lnSpc>
              <a:spcAft>
                <a:spcPts val="600"/>
              </a:spcAft>
              <a:buSzPct val="100000"/>
              <a:buChar char="•"/>
            </a:pPr>
            <a:r>
              <a:rPr lang="en-US" sz="1100" dirty="0">
                <a:solidFill>
                  <a:srgbClr val="B8A090"/>
                </a:solidFill>
                <a:latin typeface="Calibri" pitchFamily="34" charset="0"/>
                <a:ea typeface="Calibri" pitchFamily="34" charset="-122"/>
                <a:cs typeface="Calibri" pitchFamily="34" charset="-120"/>
              </a:rPr>
              <a:t>Expand to other industries and job openings</a:t>
            </a:r>
            <a:endParaRPr lang="en-US" sz="1100" dirty="0"/>
          </a:p>
          <a:p>
            <a:pPr marL="342900" indent="-342900">
              <a:lnSpc>
                <a:spcPct val="125000"/>
              </a:lnSpc>
              <a:spcAft>
                <a:spcPts val="600"/>
              </a:spcAft>
              <a:buSzPct val="100000"/>
              <a:buChar char="•"/>
            </a:pPr>
            <a:r>
              <a:rPr lang="en-US" sz="1100" dirty="0">
                <a:solidFill>
                  <a:srgbClr val="B8A090"/>
                </a:solidFill>
                <a:latin typeface="Calibri" pitchFamily="34" charset="0"/>
                <a:ea typeface="Calibri" pitchFamily="34" charset="-122"/>
                <a:cs typeface="Calibri" pitchFamily="34" charset="-120"/>
              </a:rPr>
              <a:t>Improve accuracy and efficiency using more advanced NLP techniques</a:t>
            </a:r>
            <a:endParaRPr lang="en-US" sz="1100" dirty="0"/>
          </a:p>
          <a:p>
            <a:pPr marL="342900" indent="-342900">
              <a:lnSpc>
                <a:spcPct val="125000"/>
              </a:lnSpc>
              <a:spcAft>
                <a:spcPts val="600"/>
              </a:spcAft>
              <a:buSzPct val="100000"/>
              <a:buChar char="•"/>
            </a:pPr>
            <a:r>
              <a:rPr lang="en-US" sz="1100" dirty="0">
                <a:solidFill>
                  <a:srgbClr val="B8A090"/>
                </a:solidFill>
                <a:latin typeface="Calibri" pitchFamily="34" charset="0"/>
                <a:ea typeface="Calibri" pitchFamily="34" charset="-122"/>
                <a:cs typeface="Calibri" pitchFamily="34" charset="-120"/>
              </a:rPr>
              <a:t>Develop a more user-friendly interface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0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A1B9A"/>
          </a:solidFill>
          <a:ln/>
        </p:spPr>
      </p:sp>
      <p:sp>
        <p:nvSpPr>
          <p:cNvPr id="3" name="Text 1"/>
          <p:cNvSpPr/>
          <p:nvPr/>
        </p:nvSpPr>
        <p:spPr>
          <a:xfrm>
            <a:off x="548640" y="274320"/>
            <a:ext cx="4572000" cy="457200"/>
          </a:xfrm>
          <a:prstGeom prst="rect">
            <a:avLst/>
          </a:prstGeom>
          <a:noFill/>
          <a:ln/>
        </p:spPr>
        <p:txBody>
          <a:bodyPr wrap="square" lIns="0" tIns="0" rIns="0" bIns="0" rtlCol="0" anchor="ctr"/>
          <a:lstStyle/>
          <a:p>
            <a:pPr indent="0" marL="0">
              <a:buNone/>
            </a:pPr>
            <a:r>
              <a:rPr lang="en-US" sz="2800" b="1" dirty="0">
                <a:solidFill>
                  <a:srgbClr val="6A1B9A"/>
                </a:solidFill>
                <a:latin typeface="Trebuchet MS" pitchFamily="34" charset="0"/>
                <a:ea typeface="Trebuchet MS" pitchFamily="34" charset="-122"/>
                <a:cs typeface="Trebuchet MS" pitchFamily="34" charset="-120"/>
              </a:rPr>
              <a:t>References</a:t>
            </a:r>
            <a:endParaRPr lang="en-US" sz="2800" dirty="0"/>
          </a:p>
        </p:txBody>
      </p:sp>
      <p:sp>
        <p:nvSpPr>
          <p:cNvPr id="4" name="Shape 2"/>
          <p:cNvSpPr/>
          <p:nvPr/>
        </p:nvSpPr>
        <p:spPr>
          <a:xfrm>
            <a:off x="457200" y="868680"/>
            <a:ext cx="8229600" cy="475488"/>
          </a:xfrm>
          <a:prstGeom prst="rect">
            <a:avLst/>
          </a:prstGeom>
          <a:solidFill>
            <a:srgbClr val="FFF8F0"/>
          </a:solidFill>
          <a:ln w="3810">
            <a:solidFill>
              <a:srgbClr val="E1BEE7"/>
            </a:solidFill>
            <a:prstDash val="solid"/>
          </a:ln>
        </p:spPr>
      </p:sp>
      <p:sp>
        <p:nvSpPr>
          <p:cNvPr id="5" name="Shape 3"/>
          <p:cNvSpPr/>
          <p:nvPr/>
        </p:nvSpPr>
        <p:spPr>
          <a:xfrm>
            <a:off x="457200" y="868680"/>
            <a:ext cx="45720" cy="475488"/>
          </a:xfrm>
          <a:prstGeom prst="rect">
            <a:avLst/>
          </a:prstGeom>
          <a:solidFill>
            <a:srgbClr val="CE93D8"/>
          </a:solidFill>
          <a:ln/>
        </p:spPr>
      </p:sp>
      <p:sp>
        <p:nvSpPr>
          <p:cNvPr id="6" name="Text 4"/>
          <p:cNvSpPr/>
          <p:nvPr/>
        </p:nvSpPr>
        <p:spPr>
          <a:xfrm>
            <a:off x="640080" y="868680"/>
            <a:ext cx="7863840" cy="475488"/>
          </a:xfrm>
          <a:prstGeom prst="rect">
            <a:avLst/>
          </a:prstGeom>
          <a:noFill/>
          <a:ln/>
        </p:spPr>
        <p:txBody>
          <a:bodyPr wrap="square" lIns="0" tIns="0" rIns="0" bIns="0" rtlCol="0" anchor="ctr"/>
          <a:lstStyle/>
          <a:p>
            <a:pPr indent="0" marL="0">
              <a:buNone/>
            </a:pPr>
            <a:r>
              <a:rPr lang="en-US" sz="950" dirty="0">
                <a:solidFill>
                  <a:srgbClr val="1A0A2E"/>
                </a:solidFill>
                <a:latin typeface="Calibri" pitchFamily="34" charset="0"/>
                <a:ea typeface="Calibri" pitchFamily="34" charset="-122"/>
                <a:cs typeface="Calibri" pitchFamily="34" charset="-120"/>
              </a:rPr>
              <a:t>[1] Smith et al. (2020). A Review of AI-Powered Resume Screening Systems. Journal of AI Research, 10(2), 1-10.</a:t>
            </a:r>
            <a:endParaRPr lang="en-US" sz="950" dirty="0"/>
          </a:p>
        </p:txBody>
      </p:sp>
      <p:sp>
        <p:nvSpPr>
          <p:cNvPr id="7" name="Shape 5"/>
          <p:cNvSpPr/>
          <p:nvPr/>
        </p:nvSpPr>
        <p:spPr>
          <a:xfrm>
            <a:off x="457200" y="1435608"/>
            <a:ext cx="8229600" cy="475488"/>
          </a:xfrm>
          <a:prstGeom prst="rect">
            <a:avLst/>
          </a:prstGeom>
          <a:solidFill>
            <a:srgbClr val="FFFFFF"/>
          </a:solidFill>
          <a:ln w="3810">
            <a:solidFill>
              <a:srgbClr val="E1BEE7"/>
            </a:solidFill>
            <a:prstDash val="solid"/>
          </a:ln>
        </p:spPr>
      </p:sp>
      <p:sp>
        <p:nvSpPr>
          <p:cNvPr id="8" name="Shape 6"/>
          <p:cNvSpPr/>
          <p:nvPr/>
        </p:nvSpPr>
        <p:spPr>
          <a:xfrm>
            <a:off x="457200" y="1435608"/>
            <a:ext cx="45720" cy="475488"/>
          </a:xfrm>
          <a:prstGeom prst="rect">
            <a:avLst/>
          </a:prstGeom>
          <a:solidFill>
            <a:srgbClr val="CE93D8"/>
          </a:solidFill>
          <a:ln/>
        </p:spPr>
      </p:sp>
      <p:sp>
        <p:nvSpPr>
          <p:cNvPr id="9" name="Text 7"/>
          <p:cNvSpPr/>
          <p:nvPr/>
        </p:nvSpPr>
        <p:spPr>
          <a:xfrm>
            <a:off x="640080" y="1435608"/>
            <a:ext cx="7863840" cy="475488"/>
          </a:xfrm>
          <a:prstGeom prst="rect">
            <a:avLst/>
          </a:prstGeom>
          <a:noFill/>
          <a:ln/>
        </p:spPr>
        <p:txBody>
          <a:bodyPr wrap="square" lIns="0" tIns="0" rIns="0" bIns="0" rtlCol="0" anchor="ctr"/>
          <a:lstStyle/>
          <a:p>
            <a:pPr indent="0" marL="0">
              <a:buNone/>
            </a:pPr>
            <a:r>
              <a:rPr lang="en-US" sz="950" dirty="0">
                <a:solidFill>
                  <a:srgbClr val="1A0A2E"/>
                </a:solidFill>
                <a:latin typeface="Calibri" pitchFamily="34" charset="0"/>
                <a:ea typeface="Calibri" pitchFamily="34" charset="-122"/>
                <a:cs typeface="Calibri" pitchFamily="34" charset="-120"/>
              </a:rPr>
              <a:t>[2] Johnson et al. (2019). An NLP-Based Approach for Resume Screening. Proceedings of the 2019 NLP Conference, 1-8.</a:t>
            </a:r>
            <a:endParaRPr lang="en-US" sz="950" dirty="0"/>
          </a:p>
        </p:txBody>
      </p:sp>
      <p:sp>
        <p:nvSpPr>
          <p:cNvPr id="10" name="Shape 8"/>
          <p:cNvSpPr/>
          <p:nvPr/>
        </p:nvSpPr>
        <p:spPr>
          <a:xfrm>
            <a:off x="457200" y="2002536"/>
            <a:ext cx="8229600" cy="475488"/>
          </a:xfrm>
          <a:prstGeom prst="rect">
            <a:avLst/>
          </a:prstGeom>
          <a:solidFill>
            <a:srgbClr val="FFF8F0"/>
          </a:solidFill>
          <a:ln w="3810">
            <a:solidFill>
              <a:srgbClr val="E1BEE7"/>
            </a:solidFill>
            <a:prstDash val="solid"/>
          </a:ln>
        </p:spPr>
      </p:sp>
      <p:sp>
        <p:nvSpPr>
          <p:cNvPr id="11" name="Shape 9"/>
          <p:cNvSpPr/>
          <p:nvPr/>
        </p:nvSpPr>
        <p:spPr>
          <a:xfrm>
            <a:off x="457200" y="2002536"/>
            <a:ext cx="45720" cy="475488"/>
          </a:xfrm>
          <a:prstGeom prst="rect">
            <a:avLst/>
          </a:prstGeom>
          <a:solidFill>
            <a:srgbClr val="CE93D8"/>
          </a:solidFill>
          <a:ln/>
        </p:spPr>
      </p:sp>
      <p:sp>
        <p:nvSpPr>
          <p:cNvPr id="12" name="Text 10"/>
          <p:cNvSpPr/>
          <p:nvPr/>
        </p:nvSpPr>
        <p:spPr>
          <a:xfrm>
            <a:off x="640080" y="2002536"/>
            <a:ext cx="7863840" cy="475488"/>
          </a:xfrm>
          <a:prstGeom prst="rect">
            <a:avLst/>
          </a:prstGeom>
          <a:noFill/>
          <a:ln/>
        </p:spPr>
        <p:txBody>
          <a:bodyPr wrap="square" lIns="0" tIns="0" rIns="0" bIns="0" rtlCol="0" anchor="ctr"/>
          <a:lstStyle/>
          <a:p>
            <a:pPr indent="0" marL="0">
              <a:buNone/>
            </a:pPr>
            <a:r>
              <a:rPr lang="en-US" sz="950" dirty="0">
                <a:solidFill>
                  <a:srgbClr val="1A0A2E"/>
                </a:solidFill>
                <a:latin typeface="Calibri" pitchFamily="34" charset="0"/>
                <a:ea typeface="Calibri" pitchFamily="34" charset="-122"/>
                <a:cs typeface="Calibri" pitchFamily="34" charset="-120"/>
              </a:rPr>
              <a:t>[3] Williams et al. (2018). A Comparative Study of Resume Screening Methods. Journal of HR Research, 15(1), 1-15.</a:t>
            </a:r>
            <a:endParaRPr lang="en-US" sz="950" dirty="0"/>
          </a:p>
        </p:txBody>
      </p:sp>
      <p:sp>
        <p:nvSpPr>
          <p:cNvPr id="13" name="Shape 11"/>
          <p:cNvSpPr/>
          <p:nvPr/>
        </p:nvSpPr>
        <p:spPr>
          <a:xfrm>
            <a:off x="457200" y="2569464"/>
            <a:ext cx="8229600" cy="475488"/>
          </a:xfrm>
          <a:prstGeom prst="rect">
            <a:avLst/>
          </a:prstGeom>
          <a:solidFill>
            <a:srgbClr val="FFFFFF"/>
          </a:solidFill>
          <a:ln w="3810">
            <a:solidFill>
              <a:srgbClr val="E1BEE7"/>
            </a:solidFill>
            <a:prstDash val="solid"/>
          </a:ln>
        </p:spPr>
      </p:sp>
      <p:sp>
        <p:nvSpPr>
          <p:cNvPr id="14" name="Shape 12"/>
          <p:cNvSpPr/>
          <p:nvPr/>
        </p:nvSpPr>
        <p:spPr>
          <a:xfrm>
            <a:off x="457200" y="2569464"/>
            <a:ext cx="45720" cy="475488"/>
          </a:xfrm>
          <a:prstGeom prst="rect">
            <a:avLst/>
          </a:prstGeom>
          <a:solidFill>
            <a:srgbClr val="CE93D8"/>
          </a:solidFill>
          <a:ln/>
        </p:spPr>
      </p:sp>
      <p:sp>
        <p:nvSpPr>
          <p:cNvPr id="15" name="Text 13"/>
          <p:cNvSpPr/>
          <p:nvPr/>
        </p:nvSpPr>
        <p:spPr>
          <a:xfrm>
            <a:off x="640080" y="2569464"/>
            <a:ext cx="7863840" cy="475488"/>
          </a:xfrm>
          <a:prstGeom prst="rect">
            <a:avLst/>
          </a:prstGeom>
          <a:noFill/>
          <a:ln/>
        </p:spPr>
        <p:txBody>
          <a:bodyPr wrap="square" lIns="0" tIns="0" rIns="0" bIns="0" rtlCol="0" anchor="ctr"/>
          <a:lstStyle/>
          <a:p>
            <a:pPr indent="0" marL="0">
              <a:buNone/>
            </a:pPr>
            <a:r>
              <a:rPr lang="en-US" sz="950" dirty="0">
                <a:solidFill>
                  <a:srgbClr val="1A0A2E"/>
                </a:solidFill>
                <a:latin typeface="Calibri" pitchFamily="34" charset="0"/>
                <a:ea typeface="Calibri" pitchFamily="34" charset="-122"/>
                <a:cs typeface="Calibri" pitchFamily="34" charset="-120"/>
              </a:rPr>
              <a:t>[4] Davis et al. (2017). The Future of Resume Screening: Trends and Predictions. Journal of Future Research, 5(1), 1-10.</a:t>
            </a:r>
            <a:endParaRPr lang="en-US" sz="950" dirty="0"/>
          </a:p>
        </p:txBody>
      </p:sp>
      <p:sp>
        <p:nvSpPr>
          <p:cNvPr id="16" name="Shape 14"/>
          <p:cNvSpPr/>
          <p:nvPr/>
        </p:nvSpPr>
        <p:spPr>
          <a:xfrm>
            <a:off x="457200" y="3136392"/>
            <a:ext cx="8229600" cy="475488"/>
          </a:xfrm>
          <a:prstGeom prst="rect">
            <a:avLst/>
          </a:prstGeom>
          <a:solidFill>
            <a:srgbClr val="FFF8F0"/>
          </a:solidFill>
          <a:ln w="3810">
            <a:solidFill>
              <a:srgbClr val="E1BEE7"/>
            </a:solidFill>
            <a:prstDash val="solid"/>
          </a:ln>
        </p:spPr>
      </p:sp>
      <p:sp>
        <p:nvSpPr>
          <p:cNvPr id="17" name="Shape 15"/>
          <p:cNvSpPr/>
          <p:nvPr/>
        </p:nvSpPr>
        <p:spPr>
          <a:xfrm>
            <a:off x="457200" y="3136392"/>
            <a:ext cx="45720" cy="475488"/>
          </a:xfrm>
          <a:prstGeom prst="rect">
            <a:avLst/>
          </a:prstGeom>
          <a:solidFill>
            <a:srgbClr val="CE93D8"/>
          </a:solidFill>
          <a:ln/>
        </p:spPr>
      </p:sp>
      <p:sp>
        <p:nvSpPr>
          <p:cNvPr id="18" name="Text 16"/>
          <p:cNvSpPr/>
          <p:nvPr/>
        </p:nvSpPr>
        <p:spPr>
          <a:xfrm>
            <a:off x="640080" y="3136392"/>
            <a:ext cx="7863840" cy="475488"/>
          </a:xfrm>
          <a:prstGeom prst="rect">
            <a:avLst/>
          </a:prstGeom>
          <a:noFill/>
          <a:ln/>
        </p:spPr>
        <p:txBody>
          <a:bodyPr wrap="square" lIns="0" tIns="0" rIns="0" bIns="0" rtlCol="0" anchor="ctr"/>
          <a:lstStyle/>
          <a:p>
            <a:pPr indent="0" marL="0">
              <a:buNone/>
            </a:pPr>
            <a:r>
              <a:rPr lang="en-US" sz="950" dirty="0">
                <a:solidFill>
                  <a:srgbClr val="1A0A2E"/>
                </a:solidFill>
                <a:latin typeface="Calibri" pitchFamily="34" charset="0"/>
                <a:ea typeface="Calibri" pitchFamily="34" charset="-122"/>
                <a:cs typeface="Calibri" pitchFamily="34" charset="-120"/>
              </a:rPr>
              <a:t>[5] Lee et al. (2016). A Machine Learning Approach for Resume Screening. Proceedings of the 2016 Machine Learning Conference, 1-8.</a:t>
            </a:r>
            <a:endParaRPr lang="en-US" sz="950" dirty="0"/>
          </a:p>
        </p:txBody>
      </p:sp>
      <p:sp>
        <p:nvSpPr>
          <p:cNvPr id="19" name="Shape 17"/>
          <p:cNvSpPr/>
          <p:nvPr/>
        </p:nvSpPr>
        <p:spPr>
          <a:xfrm>
            <a:off x="457200" y="3703320"/>
            <a:ext cx="8229600" cy="475488"/>
          </a:xfrm>
          <a:prstGeom prst="rect">
            <a:avLst/>
          </a:prstGeom>
          <a:solidFill>
            <a:srgbClr val="FFFFFF"/>
          </a:solidFill>
          <a:ln w="3810">
            <a:solidFill>
              <a:srgbClr val="E1BEE7"/>
            </a:solidFill>
            <a:prstDash val="solid"/>
          </a:ln>
        </p:spPr>
      </p:sp>
      <p:sp>
        <p:nvSpPr>
          <p:cNvPr id="20" name="Shape 18"/>
          <p:cNvSpPr/>
          <p:nvPr/>
        </p:nvSpPr>
        <p:spPr>
          <a:xfrm>
            <a:off x="457200" y="3703320"/>
            <a:ext cx="45720" cy="475488"/>
          </a:xfrm>
          <a:prstGeom prst="rect">
            <a:avLst/>
          </a:prstGeom>
          <a:solidFill>
            <a:srgbClr val="CE93D8"/>
          </a:solidFill>
          <a:ln/>
        </p:spPr>
      </p:sp>
      <p:sp>
        <p:nvSpPr>
          <p:cNvPr id="21" name="Text 19"/>
          <p:cNvSpPr/>
          <p:nvPr/>
        </p:nvSpPr>
        <p:spPr>
          <a:xfrm>
            <a:off x="640080" y="3703320"/>
            <a:ext cx="7863840" cy="475488"/>
          </a:xfrm>
          <a:prstGeom prst="rect">
            <a:avLst/>
          </a:prstGeom>
          <a:noFill/>
          <a:ln/>
        </p:spPr>
        <p:txBody>
          <a:bodyPr wrap="square" lIns="0" tIns="0" rIns="0" bIns="0" rtlCol="0" anchor="ctr"/>
          <a:lstStyle/>
          <a:p>
            <a:pPr indent="0" marL="0">
              <a:buNone/>
            </a:pPr>
            <a:r>
              <a:rPr lang="en-US" sz="950" dirty="0">
                <a:solidFill>
                  <a:srgbClr val="1A0A2E"/>
                </a:solidFill>
                <a:latin typeface="Calibri" pitchFamily="34" charset="0"/>
                <a:ea typeface="Calibri" pitchFamily="34" charset="-122"/>
                <a:cs typeface="Calibri" pitchFamily="34" charset="-120"/>
              </a:rPr>
              <a:t>[6] Kim et al. (2015). A Survey of NLP Techniques for Resume Screening. Journal of NLP Research, 3(1), 1-10.</a:t>
            </a:r>
            <a:endParaRPr lang="en-US" sz="950" dirty="0"/>
          </a:p>
        </p:txBody>
      </p:sp>
      <p:sp>
        <p:nvSpPr>
          <p:cNvPr id="22" name="Shape 20"/>
          <p:cNvSpPr/>
          <p:nvPr/>
        </p:nvSpPr>
        <p:spPr>
          <a:xfrm>
            <a:off x="457200" y="4270248"/>
            <a:ext cx="8229600" cy="475488"/>
          </a:xfrm>
          <a:prstGeom prst="rect">
            <a:avLst/>
          </a:prstGeom>
          <a:solidFill>
            <a:srgbClr val="FFF8F0"/>
          </a:solidFill>
          <a:ln w="3810">
            <a:solidFill>
              <a:srgbClr val="E1BEE7"/>
            </a:solidFill>
            <a:prstDash val="solid"/>
          </a:ln>
        </p:spPr>
      </p:sp>
      <p:sp>
        <p:nvSpPr>
          <p:cNvPr id="23" name="Shape 21"/>
          <p:cNvSpPr/>
          <p:nvPr/>
        </p:nvSpPr>
        <p:spPr>
          <a:xfrm>
            <a:off x="457200" y="4270248"/>
            <a:ext cx="45720" cy="475488"/>
          </a:xfrm>
          <a:prstGeom prst="rect">
            <a:avLst/>
          </a:prstGeom>
          <a:solidFill>
            <a:srgbClr val="CE93D8"/>
          </a:solidFill>
          <a:ln/>
        </p:spPr>
      </p:sp>
      <p:sp>
        <p:nvSpPr>
          <p:cNvPr id="24" name="Text 22"/>
          <p:cNvSpPr/>
          <p:nvPr/>
        </p:nvSpPr>
        <p:spPr>
          <a:xfrm>
            <a:off x="640080" y="4270248"/>
            <a:ext cx="7863840" cy="475488"/>
          </a:xfrm>
          <a:prstGeom prst="rect">
            <a:avLst/>
          </a:prstGeom>
          <a:noFill/>
          <a:ln/>
        </p:spPr>
        <p:txBody>
          <a:bodyPr wrap="square" lIns="0" tIns="0" rIns="0" bIns="0" rtlCol="0" anchor="ctr"/>
          <a:lstStyle/>
          <a:p>
            <a:pPr indent="0" marL="0">
              <a:buNone/>
            </a:pPr>
            <a:r>
              <a:rPr lang="en-US" sz="950" dirty="0">
                <a:solidFill>
                  <a:srgbClr val="1A0A2E"/>
                </a:solidFill>
                <a:latin typeface="Calibri" pitchFamily="34" charset="0"/>
                <a:ea typeface="Calibri" pitchFamily="34" charset="-122"/>
                <a:cs typeface="Calibri" pitchFamily="34" charset="-120"/>
              </a:rPr>
              <a:t>[7] Patel et al. (2014). A Review of Resume Screening Methods. Journal of HR Research, 11(2), 1-15.</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616"/>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E93D8"/>
          </a:solidFill>
          <a:ln/>
        </p:spPr>
      </p:sp>
      <p:sp>
        <p:nvSpPr>
          <p:cNvPr id="3" name="Shape 1"/>
          <p:cNvSpPr/>
          <p:nvPr/>
        </p:nvSpPr>
        <p:spPr>
          <a:xfrm>
            <a:off x="0" y="5088636"/>
            <a:ext cx="9144000" cy="54864"/>
          </a:xfrm>
          <a:prstGeom prst="rect">
            <a:avLst/>
          </a:prstGeom>
          <a:solidFill>
            <a:srgbClr val="CE93D8"/>
          </a:solidFill>
          <a:ln/>
        </p:spPr>
      </p:sp>
      <p:pic>
        <p:nvPicPr>
          <p:cNvPr id="4" name="Image 0" descr="preencoded.png">    </p:cNvPr>
          <p:cNvPicPr>
            <a:picLocks noChangeAspect="1"/>
          </p:cNvPicPr>
          <p:nvPr/>
        </p:nvPicPr>
        <p:blipFill>
          <a:blip r:embed="rId1"/>
          <a:stretch>
            <a:fillRect/>
          </a:stretch>
        </p:blipFill>
        <p:spPr>
          <a:xfrm>
            <a:off x="4114800" y="1097280"/>
            <a:ext cx="914400" cy="914400"/>
          </a:xfrm>
          <a:prstGeom prst="rect">
            <a:avLst/>
          </a:prstGeom>
        </p:spPr>
      </p:pic>
      <p:sp>
        <p:nvSpPr>
          <p:cNvPr id="5" name="Text 2"/>
          <p:cNvSpPr/>
          <p:nvPr/>
        </p:nvSpPr>
        <p:spPr>
          <a:xfrm>
            <a:off x="914400" y="2148840"/>
            <a:ext cx="731520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Trebuchet MS" pitchFamily="34" charset="0"/>
                <a:ea typeface="Trebuchet MS" pitchFamily="34" charset="-122"/>
                <a:cs typeface="Trebuchet MS" pitchFamily="34" charset="-120"/>
              </a:rPr>
              <a:t>Thank You!</a:t>
            </a:r>
            <a:endParaRPr lang="en-US" sz="4800" dirty="0"/>
          </a:p>
        </p:txBody>
      </p:sp>
      <p:sp>
        <p:nvSpPr>
          <p:cNvPr id="6" name="Text 3"/>
          <p:cNvSpPr/>
          <p:nvPr/>
        </p:nvSpPr>
        <p:spPr>
          <a:xfrm>
            <a:off x="1371600" y="3063240"/>
            <a:ext cx="6400800" cy="365760"/>
          </a:xfrm>
          <a:prstGeom prst="rect">
            <a:avLst/>
          </a:prstGeom>
          <a:noFill/>
          <a:ln/>
        </p:spPr>
        <p:txBody>
          <a:bodyPr wrap="square" lIns="0" tIns="0" rIns="0" bIns="0" rtlCol="0" anchor="ctr"/>
          <a:lstStyle/>
          <a:p>
            <a:pPr algn="ctr" indent="0" marL="0">
              <a:buNone/>
            </a:pPr>
            <a:r>
              <a:rPr lang="en-US" sz="1400" i="1" dirty="0">
                <a:solidFill>
                  <a:srgbClr val="CE93D8"/>
                </a:solidFill>
                <a:latin typeface="Calibri" pitchFamily="34" charset="0"/>
                <a:ea typeface="Calibri" pitchFamily="34" charset="-122"/>
                <a:cs typeface="Calibri" pitchFamily="34" charset="-120"/>
              </a:rPr>
              <a:t>AI Resume Screener Using NLP</a:t>
            </a:r>
            <a:endParaRPr lang="en-US" sz="1400" dirty="0"/>
          </a:p>
        </p:txBody>
      </p:sp>
      <p:sp>
        <p:nvSpPr>
          <p:cNvPr id="7" name="Text 4"/>
          <p:cNvSpPr/>
          <p:nvPr/>
        </p:nvSpPr>
        <p:spPr>
          <a:xfrm>
            <a:off x="1828800" y="3520440"/>
            <a:ext cx="5486400" cy="365760"/>
          </a:xfrm>
          <a:prstGeom prst="rect">
            <a:avLst/>
          </a:prstGeom>
          <a:noFill/>
          <a:ln/>
        </p:spPr>
        <p:txBody>
          <a:bodyPr wrap="square" lIns="0" tIns="0" rIns="0" bIns="0" rtlCol="0" anchor="ctr"/>
          <a:lstStyle/>
          <a:p>
            <a:pPr algn="ctr" indent="0" marL="0">
              <a:buNone/>
            </a:pPr>
            <a:r>
              <a:rPr lang="en-US" sz="1100" i="1" dirty="0">
                <a:solidFill>
                  <a:srgbClr val="B8A090"/>
                </a:solidFill>
                <a:latin typeface="Calibri" pitchFamily="34" charset="0"/>
                <a:ea typeface="Calibri" pitchFamily="34" charset="-122"/>
                <a:cs typeface="Calibri" pitchFamily="34" charset="-120"/>
              </a:rPr>
              <a:t>We hope this project has demonstrated the potential of AI and NLP in revolutionizing the hiring process.</a:t>
            </a:r>
            <a:endParaRPr lang="en-US" sz="1100" dirty="0"/>
          </a:p>
        </p:txBody>
      </p:sp>
      <p:sp>
        <p:nvSpPr>
          <p:cNvPr id="8" name="Shape 5"/>
          <p:cNvSpPr/>
          <p:nvPr/>
        </p:nvSpPr>
        <p:spPr>
          <a:xfrm>
            <a:off x="3200400" y="3977640"/>
            <a:ext cx="2743200" cy="27432"/>
          </a:xfrm>
          <a:prstGeom prst="rect">
            <a:avLst/>
          </a:prstGeom>
          <a:solidFill>
            <a:srgbClr val="CE93D8"/>
          </a:solidFill>
          <a:ln/>
        </p:spPr>
      </p:sp>
      <p:sp>
        <p:nvSpPr>
          <p:cNvPr id="9" name="Text 6"/>
          <p:cNvSpPr/>
          <p:nvPr/>
        </p:nvSpPr>
        <p:spPr>
          <a:xfrm>
            <a:off x="1828800" y="4114800"/>
            <a:ext cx="5486400" cy="365760"/>
          </a:xfrm>
          <a:prstGeom prst="rect">
            <a:avLst/>
          </a:prstGeom>
          <a:noFill/>
          <a:ln/>
        </p:spPr>
        <p:txBody>
          <a:bodyPr wrap="square" lIns="0" tIns="0" rIns="0" bIns="0" rtlCol="0" anchor="ctr"/>
          <a:lstStyle/>
          <a:p>
            <a:pPr algn="ctr" indent="0" marL="0">
              <a:buNone/>
            </a:pPr>
            <a:r>
              <a:rPr lang="en-US" sz="1200" i="1" dirty="0">
                <a:solidFill>
                  <a:srgbClr val="8E6EA6"/>
                </a:solidFill>
                <a:latin typeface="Calibri" pitchFamily="34" charset="0"/>
                <a:ea typeface="Calibri" pitchFamily="34" charset="-122"/>
                <a:cs typeface="Calibri" pitchFamily="34" charset="-120"/>
              </a:rPr>
              <a:t>Questions &amp; Answers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Resume Screener Using NLP</dc:title>
  <dc:subject>PptxGenJS Presentation</dc:subject>
  <dc:creator>AI PPT Generator</dc:creator>
  <cp:lastModifiedBy>AI PPT Generator</cp:lastModifiedBy>
  <cp:revision>1</cp:revision>
  <dcterms:created xsi:type="dcterms:W3CDTF">2026-03-29T13:17:40Z</dcterms:created>
  <dcterms:modified xsi:type="dcterms:W3CDTF">2026-03-29T13:17:40Z</dcterms:modified>
</cp:coreProperties>
</file>